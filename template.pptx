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8" r:id="rId2"/>
  </p:sldMasterIdLst>
  <p:notesMasterIdLst>
    <p:notesMasterId r:id="rId18"/>
  </p:notesMasterIdLst>
  <p:sldIdLst>
    <p:sldId id="1463" r:id="rId3"/>
    <p:sldId id="1457" r:id="rId4"/>
    <p:sldId id="1480" r:id="rId5"/>
    <p:sldId id="1484" r:id="rId6"/>
    <p:sldId id="1461" r:id="rId7"/>
    <p:sldId id="1474" r:id="rId8"/>
    <p:sldId id="1482" r:id="rId9"/>
    <p:sldId id="1460" r:id="rId10"/>
    <p:sldId id="1483" r:id="rId11"/>
    <p:sldId id="1469" r:id="rId12"/>
    <p:sldId id="1471" r:id="rId13"/>
    <p:sldId id="1470" r:id="rId14"/>
    <p:sldId id="1479" r:id="rId15"/>
    <p:sldId id="1453" r:id="rId16"/>
    <p:sldId id="1451"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B459576-6F02-AF2F-1019-28214553D8B5}" name="Caitlin Twaddell" initials="CT" userId="S::Caitlin.Twaddell@brightview.com::bf33eb9c-5448-40f6-a6a5-ae68176ea07c" providerId="AD"/>
  <p188:author id="{830DA1D3-EFC2-88FA-0E54-D4EB146BB9D6}" name="Kelli Cannon" initials="KC" userId="S::Kelli.Cannon@brightview.com::52fca460-8203-402c-8549-12dbbc1695c9" providerId="AD"/>
  <p188:author id="{DE31A7D9-51D2-6142-4CCC-ED4EA6F3FBBF}" name="Michael Gillen" initials="MG" userId="S::Michael.Gillen@brightview.com::a93ecded-c49d-407d-b7bb-b3360533c802" providerId="AD"/>
  <p188:author id="{49B865FA-BF7B-9965-F84A-A66C733057B8}" name="Yumee Song" initials="YS" userId="Yumee Song"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000"/>
    <a:srgbClr val="FFFFCC"/>
    <a:srgbClr val="FFD700"/>
    <a:srgbClr val="FFC8C8"/>
    <a:srgbClr val="ADD8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333D13-8B25-413B-842D-9296AE47A98E}" v="5" dt="2026-05-20T15:51:46.2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189" autoAdjust="0"/>
  </p:normalViewPr>
  <p:slideViewPr>
    <p:cSldViewPr snapToGrid="0">
      <p:cViewPr varScale="1">
        <p:scale>
          <a:sx n="96" d="100"/>
          <a:sy n="96" d="100"/>
        </p:scale>
        <p:origin x="1368"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Gillen" userId="a93ecded-c49d-407d-b7bb-b3360533c802" providerId="ADAL" clId="{1EC213EA-974F-4ED2-8900-0E5B6E997B27}"/>
    <pc:docChg chg="custSel modSld">
      <pc:chgData name="Michael Gillen" userId="a93ecded-c49d-407d-b7bb-b3360533c802" providerId="ADAL" clId="{1EC213EA-974F-4ED2-8900-0E5B6E997B27}" dt="2026-05-20T15:51:46.220" v="9"/>
      <pc:docMkLst>
        <pc:docMk/>
      </pc:docMkLst>
      <pc:sldChg chg="addSp delSp modSp mod">
        <pc:chgData name="Michael Gillen" userId="a93ecded-c49d-407d-b7bb-b3360533c802" providerId="ADAL" clId="{1EC213EA-974F-4ED2-8900-0E5B6E997B27}" dt="2026-05-20T15:51:46.220" v="9"/>
        <pc:sldMkLst>
          <pc:docMk/>
          <pc:sldMk cId="0" sldId="1453"/>
        </pc:sldMkLst>
        <pc:spChg chg="add mod">
          <ac:chgData name="Michael Gillen" userId="a93ecded-c49d-407d-b7bb-b3360533c802" providerId="ADAL" clId="{1EC213EA-974F-4ED2-8900-0E5B6E997B27}" dt="2026-05-20T15:51:46.220" v="9"/>
          <ac:spMkLst>
            <pc:docMk/>
            <pc:sldMk cId="0" sldId="1453"/>
            <ac:spMk id="2" creationId="{7AF09FCE-97F1-0D46-3B36-CAC77BE3500D}"/>
          </ac:spMkLst>
        </pc:spChg>
        <pc:spChg chg="del">
          <ac:chgData name="Michael Gillen" userId="a93ecded-c49d-407d-b7bb-b3360533c802" providerId="ADAL" clId="{1EC213EA-974F-4ED2-8900-0E5B6E997B27}" dt="2026-05-20T15:51:46.112" v="8" actId="478"/>
          <ac:spMkLst>
            <pc:docMk/>
            <pc:sldMk cId="0" sldId="1453"/>
            <ac:spMk id="11" creationId="{AA5D9525-7374-48D7-933A-FECAD76646CD}"/>
          </ac:spMkLst>
        </pc:spChg>
      </pc:sldChg>
      <pc:sldChg chg="modSp mod">
        <pc:chgData name="Michael Gillen" userId="a93ecded-c49d-407d-b7bb-b3360533c802" providerId="ADAL" clId="{1EC213EA-974F-4ED2-8900-0E5B6E997B27}" dt="2026-05-20T15:51:27.737" v="1" actId="404"/>
        <pc:sldMkLst>
          <pc:docMk/>
          <pc:sldMk cId="1090765879" sldId="1469"/>
        </pc:sldMkLst>
        <pc:spChg chg="mod">
          <ac:chgData name="Michael Gillen" userId="a93ecded-c49d-407d-b7bb-b3360533c802" providerId="ADAL" clId="{1EC213EA-974F-4ED2-8900-0E5B6E997B27}" dt="2026-05-20T15:51:27.737" v="1" actId="404"/>
          <ac:spMkLst>
            <pc:docMk/>
            <pc:sldMk cId="1090765879" sldId="1469"/>
            <ac:spMk id="8" creationId="{B1C56257-4D23-2B82-5EDA-CBB4F4B1ABA6}"/>
          </ac:spMkLst>
        </pc:spChg>
      </pc:sldChg>
      <pc:sldChg chg="addSp delSp modSp mod">
        <pc:chgData name="Michael Gillen" userId="a93ecded-c49d-407d-b7bb-b3360533c802" providerId="ADAL" clId="{1EC213EA-974F-4ED2-8900-0E5B6E997B27}" dt="2026-05-20T15:51:38.837" v="5"/>
        <pc:sldMkLst>
          <pc:docMk/>
          <pc:sldMk cId="3489178956" sldId="1470"/>
        </pc:sldMkLst>
        <pc:spChg chg="del">
          <ac:chgData name="Michael Gillen" userId="a93ecded-c49d-407d-b7bb-b3360533c802" providerId="ADAL" clId="{1EC213EA-974F-4ED2-8900-0E5B6E997B27}" dt="2026-05-20T15:51:38.716" v="4" actId="478"/>
          <ac:spMkLst>
            <pc:docMk/>
            <pc:sldMk cId="3489178956" sldId="1470"/>
            <ac:spMk id="4" creationId="{33D2A48C-058A-48D0-8F21-B1B9A567D6A1}"/>
          </ac:spMkLst>
        </pc:spChg>
        <pc:spChg chg="add mod">
          <ac:chgData name="Michael Gillen" userId="a93ecded-c49d-407d-b7bb-b3360533c802" providerId="ADAL" clId="{1EC213EA-974F-4ED2-8900-0E5B6E997B27}" dt="2026-05-20T15:51:38.837" v="5"/>
          <ac:spMkLst>
            <pc:docMk/>
            <pc:sldMk cId="3489178956" sldId="1470"/>
            <ac:spMk id="9" creationId="{46BCB926-2135-883D-6D99-20FE7BC135E7}"/>
          </ac:spMkLst>
        </pc:spChg>
      </pc:sldChg>
      <pc:sldChg chg="modSp mod">
        <pc:chgData name="Michael Gillen" userId="a93ecded-c49d-407d-b7bb-b3360533c802" providerId="ADAL" clId="{1EC213EA-974F-4ED2-8900-0E5B6E997B27}" dt="2026-05-20T15:51:33.641" v="3" actId="404"/>
        <pc:sldMkLst>
          <pc:docMk/>
          <pc:sldMk cId="3594727794" sldId="1471"/>
        </pc:sldMkLst>
        <pc:spChg chg="mod">
          <ac:chgData name="Michael Gillen" userId="a93ecded-c49d-407d-b7bb-b3360533c802" providerId="ADAL" clId="{1EC213EA-974F-4ED2-8900-0E5B6E997B27}" dt="2026-05-20T15:51:33.641" v="3" actId="404"/>
          <ac:spMkLst>
            <pc:docMk/>
            <pc:sldMk cId="3594727794" sldId="1471"/>
            <ac:spMk id="4" creationId="{D4944ED0-D21A-A438-8585-0CD79377B44A}"/>
          </ac:spMkLst>
        </pc:spChg>
      </pc:sldChg>
      <pc:sldChg chg="addSp delSp modSp mod">
        <pc:chgData name="Michael Gillen" userId="a93ecded-c49d-407d-b7bb-b3360533c802" providerId="ADAL" clId="{1EC213EA-974F-4ED2-8900-0E5B6E997B27}" dt="2026-05-20T15:51:42.930" v="7"/>
        <pc:sldMkLst>
          <pc:docMk/>
          <pc:sldMk cId="3744466470" sldId="1479"/>
        </pc:sldMkLst>
        <pc:spChg chg="del">
          <ac:chgData name="Michael Gillen" userId="a93ecded-c49d-407d-b7bb-b3360533c802" providerId="ADAL" clId="{1EC213EA-974F-4ED2-8900-0E5B6E997B27}" dt="2026-05-20T15:51:42.842" v="6" actId="478"/>
          <ac:spMkLst>
            <pc:docMk/>
            <pc:sldMk cId="3744466470" sldId="1479"/>
            <ac:spMk id="4" creationId="{C5B91241-7944-D982-41AF-AF0B93F89238}"/>
          </ac:spMkLst>
        </pc:spChg>
        <pc:spChg chg="add mod">
          <ac:chgData name="Michael Gillen" userId="a93ecded-c49d-407d-b7bb-b3360533c802" providerId="ADAL" clId="{1EC213EA-974F-4ED2-8900-0E5B6E997B27}" dt="2026-05-20T15:51:42.930" v="7"/>
          <ac:spMkLst>
            <pc:docMk/>
            <pc:sldMk cId="3744466470" sldId="1479"/>
            <ac:spMk id="9" creationId="{D03BB86A-EE95-9EDC-F439-0DC74E80872F}"/>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4.8003475844789804E-2"/>
          <c:y val="5.5479627306710598E-2"/>
          <c:w val="0.51599056311259717"/>
          <c:h val="0.82563545703605234"/>
        </c:manualLayout>
      </c:layout>
      <c:pieChart>
        <c:varyColors val="1"/>
        <c:ser>
          <c:idx val="0"/>
          <c:order val="0"/>
          <c:explosion val="6"/>
          <c:dPt>
            <c:idx val="0"/>
            <c:bubble3D val="0"/>
            <c:spPr>
              <a:solidFill>
                <a:schemeClr val="accent5"/>
              </a:solidFill>
              <a:ln w="19050">
                <a:solidFill>
                  <a:schemeClr val="lt1"/>
                </a:solidFill>
              </a:ln>
              <a:effectLst/>
            </c:spPr>
            <c:extLst>
              <c:ext xmlns:c16="http://schemas.microsoft.com/office/drawing/2014/chart" uri="{C3380CC4-5D6E-409C-BE32-E72D297353CC}">
                <c16:uniqueId val="{00000001-7836-4FB2-A51E-B7433D6503B6}"/>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7836-4FB2-A51E-B7433D6503B6}"/>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836-4FB2-A51E-B7433D6503B6}"/>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836-4FB2-A51E-B7433D6503B6}"/>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FINISH!$B$4:$B$7</c:f>
              <c:strCache>
                <c:ptCount val="4"/>
                <c:pt idx="0">
                  <c:v>Financial</c:v>
                </c:pt>
                <c:pt idx="1">
                  <c:v>Operational</c:v>
                </c:pt>
                <c:pt idx="2">
                  <c:v>Compliance</c:v>
                </c:pt>
                <c:pt idx="3">
                  <c:v>Safety / HR</c:v>
                </c:pt>
              </c:strCache>
            </c:strRef>
          </c:cat>
          <c:val>
            <c:numRef>
              <c:f>FINISH!$C$4:$C$7</c:f>
              <c:numCache>
                <c:formatCode>0%</c:formatCode>
                <c:ptCount val="4"/>
                <c:pt idx="0">
                  <c:v>0.24912368552829245</c:v>
                </c:pt>
                <c:pt idx="1">
                  <c:v>0.25037556334501754</c:v>
                </c:pt>
                <c:pt idx="2">
                  <c:v>0.25037556334501754</c:v>
                </c:pt>
                <c:pt idx="3">
                  <c:v>0.25012518778167253</c:v>
                </c:pt>
              </c:numCache>
            </c:numRef>
          </c:val>
          <c:extLst>
            <c:ext xmlns:c16="http://schemas.microsoft.com/office/drawing/2014/chart" uri="{C3380CC4-5D6E-409C-BE32-E72D297353CC}">
              <c16:uniqueId val="{00000008-7836-4FB2-A51E-B7433D6503B6}"/>
            </c:ext>
          </c:extLst>
        </c:ser>
        <c:dLbls>
          <c:dLblPos val="ctr"/>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A0F718-79F0-4A92-8773-23E62D80A37E}" type="datetimeFigureOut">
              <a:rPr lang="en-US" smtClean="0"/>
              <a:t>5/20/2026</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C95EEE0-6E20-4097-AF54-64EE318FF83C}" type="slidenum">
              <a:rPr lang="en-US" smtClean="0"/>
              <a:t>‹#›</a:t>
            </a:fld>
            <a:endParaRPr lang="en-US" dirty="0"/>
          </a:p>
        </p:txBody>
      </p:sp>
    </p:spTree>
    <p:extLst>
      <p:ext uri="{BB962C8B-B14F-4D97-AF65-F5344CB8AC3E}">
        <p14:creationId xmlns:p14="http://schemas.microsoft.com/office/powerpoint/2010/main" val="24087417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Exceeds Expectations: </a:t>
            </a:r>
            <a:r>
              <a:rPr lang="en-US" sz="1200" kern="0" dirty="0">
                <a:solidFill>
                  <a:sysClr val="windowText" lastClr="000000"/>
                </a:solidFill>
                <a:latin typeface="Calibri"/>
                <a:cs typeface="Arial" panose="020B0604020202020204" pitchFamily="34" charset="0"/>
              </a:rPr>
              <a:t>Minimal areas of non-compliance were identified across risk areas. Overall, procedures confirmed the branch adhered to the majority of the Company’s processes and procedures, which is highly commendable.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0" dirty="0">
              <a:solidFill>
                <a:sysClr val="windowText" lastClr="000000"/>
              </a:solidFill>
              <a:latin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sysClr val="windowText" lastClr="000000"/>
                </a:solidFill>
                <a:latin typeface="Calibri"/>
                <a:cs typeface="Arial" panose="020B0604020202020204" pitchFamily="34" charset="0"/>
              </a:rPr>
              <a:t>Satisfactory: </a:t>
            </a:r>
            <a:r>
              <a:rPr lang="en-US" sz="1200" dirty="0">
                <a:cs typeface="Arial"/>
              </a:rPr>
              <a:t>The branch generally adhered to the Company’s processes and procedures, with only minor areas of non-compliance identified across risk areas, which is commendable.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Arial"/>
              </a:rPr>
              <a:t>Needs Improvement: </a:t>
            </a:r>
            <a:r>
              <a:rPr lang="en-US" sz="1200" kern="0" dirty="0">
                <a:solidFill>
                  <a:sysClr val="windowText" lastClr="000000"/>
                </a:solidFill>
                <a:latin typeface="Calibri"/>
                <a:cs typeface="Arial" panose="020B0604020202020204" pitchFamily="34" charset="0"/>
              </a:rPr>
              <a:t>Non-compliance has been identified across risk areas. Management attention is required to effectively manage risks related to the areas where exceptions were noted.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Arial"/>
              </a:rPr>
              <a:t>Unsatisfactory: </a:t>
            </a:r>
            <a:r>
              <a:rPr lang="en-US" sz="1200" dirty="0"/>
              <a:t>Multiple areas of non-compliance were identified across risk areas, indicating a significant deviation from the Company’s policies and procedures. Given the volume of exceptions found, immediate attention is required to help the branch comply with the Company's operational policies and procedures. </a:t>
            </a:r>
            <a:endParaRPr lang="en-US" sz="1200" kern="0" dirty="0">
              <a:solidFill>
                <a:sysClr val="windowText" lastClr="000000"/>
              </a:solidFill>
              <a:highlight>
                <a:srgbClr val="FFFF00"/>
              </a:highlight>
              <a:latin typeface="Calibri"/>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cs typeface="Arial"/>
            </a:endParaRPr>
          </a:p>
          <a:p>
            <a:endParaRPr lang="en-US" dirty="0"/>
          </a:p>
        </p:txBody>
      </p:sp>
      <p:sp>
        <p:nvSpPr>
          <p:cNvPr id="4" name="Slide Number Placeholder 3"/>
          <p:cNvSpPr>
            <a:spLocks noGrp="1"/>
          </p:cNvSpPr>
          <p:nvPr>
            <p:ph type="sldNum" sz="quarter" idx="5"/>
          </p:nvPr>
        </p:nvSpPr>
        <p:spPr/>
        <p:txBody>
          <a:bodyPr/>
          <a:lstStyle/>
          <a:p>
            <a:pPr defTabSz="966612">
              <a:defRPr/>
            </a:pPr>
            <a:fld id="{8F25413E-F920-42F8-B9AA-48765E88BA8A}" type="slidenum">
              <a:rPr lang="en-US" kern="0">
                <a:solidFill>
                  <a:sysClr val="windowText" lastClr="000000"/>
                </a:solidFill>
              </a:rPr>
              <a:pPr defTabSz="966612">
                <a:defRPr/>
              </a:pPr>
              <a:t>1</a:t>
            </a:fld>
            <a:endParaRPr lang="en-US" kern="0" dirty="0">
              <a:solidFill>
                <a:sysClr val="windowText" lastClr="000000"/>
              </a:solidFill>
            </a:endParaRPr>
          </a:p>
        </p:txBody>
      </p:sp>
    </p:spTree>
    <p:extLst>
      <p:ext uri="{BB962C8B-B14F-4D97-AF65-F5344CB8AC3E}">
        <p14:creationId xmlns:p14="http://schemas.microsoft.com/office/powerpoint/2010/main" val="39064664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9832311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91C21-7053-219E-3105-A7C9522C01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000B4B-7596-46BB-FDD3-0EE35CC62188}"/>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B526CE3B-A248-6E93-088A-5A29D7DE881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7B19BD-DCFE-0B49-125E-5C8AB9FDFB07}"/>
              </a:ext>
            </a:extLst>
          </p:cNvPr>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205706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7981F-DBDC-FE73-E2DF-E8742CBF49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3F80E6-499B-0E78-B7C6-C1B2F2B8877C}"/>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0F91A983-4FBC-B06B-B95F-175F0D20E0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E8E7EF-BAC6-9EA7-6776-18CEE1C16216}"/>
              </a:ext>
            </a:extLst>
          </p:cNvPr>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24666212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9103639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B91B5-E56B-9FFB-8419-0D7A736A3B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B2F0A-1DC1-8247-0ADE-F0F6457CC9D2}"/>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C53FA484-2A42-077D-6589-BF53EF0C7A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2B13BE-7348-10F5-89AC-7C4AAC9173DF}"/>
              </a:ext>
            </a:extLst>
          </p:cNvPr>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97218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0F14-96F4-16FD-9659-222FFBAE04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0F92A1-3E3A-9227-7B72-42DCC682C65C}"/>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1BCFE221-7CB5-7F26-0E22-050F1A3558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CBE2C1-ECFC-42DB-1093-600480A5CE9D}"/>
              </a:ext>
            </a:extLst>
          </p:cNvPr>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3689978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18923245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53298-164D-02EE-F70A-AD0A17D4FA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5461AF-5DAF-83D0-CC6D-E73C417882E9}"/>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55C0DCA7-506C-6432-7B4C-849A3C9303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DE23673-FA31-E12B-5D5F-2FE133B804C6}"/>
              </a:ext>
            </a:extLst>
          </p:cNvPr>
          <p:cNvSpPr>
            <a:spLocks noGrp="1"/>
          </p:cNvSpPr>
          <p:nvPr>
            <p:ph type="sldNum" sz="quarter" idx="5"/>
          </p:nvPr>
        </p:nvSpPr>
        <p:spPr/>
        <p:txBody>
          <a:bodyPr/>
          <a:lstStyle/>
          <a:p>
            <a:pPr marL="0" marR="0" lvl="0" indent="0" algn="r" defTabSz="875172" rtl="0" eaLnBrk="0" fontAlgn="base" latinLnBrk="0" hangingPunct="0">
              <a:lnSpc>
                <a:spcPct val="100000"/>
              </a:lnSpc>
              <a:spcBef>
                <a:spcPct val="0"/>
              </a:spcBef>
              <a:spcAft>
                <a:spcPct val="0"/>
              </a:spcAft>
              <a:buClrTx/>
              <a:buSzTx/>
              <a:buFontTx/>
              <a:buNone/>
              <a:tabLst/>
              <a:defRPr/>
            </a:pPr>
            <a:fld id="{EA7C97D6-105F-C84C-A3C6-C936D20643A4}" type="slidenum">
              <a:rPr kumimoji="0" lang="en-US" sz="1200" b="0" i="0" u="none" strike="noStrike" kern="1200" cap="none" spc="0" normalizeH="0" baseline="0" noProof="0">
                <a:ln>
                  <a:noFill/>
                </a:ln>
                <a:solidFill>
                  <a:prstClr val="black"/>
                </a:solidFill>
                <a:effectLst/>
                <a:uLnTx/>
                <a:uFillTx/>
                <a:latin typeface="Arial" charset="0"/>
                <a:ea typeface="ＭＳ Ｐゴシック" charset="0"/>
                <a:cs typeface="+mn-cs"/>
              </a:rPr>
              <a:pPr marL="0" marR="0" lvl="0" indent="0" algn="r" defTabSz="875172" rtl="0" eaLnBrk="0" fontAlgn="base" latinLnBrk="0" hangingPunct="0">
                <a:lnSpc>
                  <a:spcPct val="100000"/>
                </a:lnSpc>
                <a:spcBef>
                  <a:spcPct val="0"/>
                </a:spcBef>
                <a:spcAft>
                  <a:spcPct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charset="0"/>
              <a:cs typeface="+mn-cs"/>
            </a:endParaRPr>
          </a:p>
        </p:txBody>
      </p:sp>
    </p:spTree>
    <p:extLst>
      <p:ext uri="{BB962C8B-B14F-4D97-AF65-F5344CB8AC3E}">
        <p14:creationId xmlns:p14="http://schemas.microsoft.com/office/powerpoint/2010/main" val="39815195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Back cover">
    <p:spTree>
      <p:nvGrpSpPr>
        <p:cNvPr id="1" name=""/>
        <p:cNvGrpSpPr/>
        <p:nvPr/>
      </p:nvGrpSpPr>
      <p:grpSpPr>
        <a:xfrm>
          <a:off x="0" y="0"/>
          <a:ext cx="0" cy="0"/>
          <a:chOff x="0" y="0"/>
          <a:chExt cx="0" cy="0"/>
        </a:xfrm>
      </p:grpSpPr>
      <p:pic>
        <p:nvPicPr>
          <p:cNvPr id="5" name="Picture 4" descr="Brightview_tm_rgb.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2834640" y="2791239"/>
            <a:ext cx="3474720" cy="1275529"/>
          </a:xfrm>
          <a:prstGeom prst="rect">
            <a:avLst/>
          </a:prstGeom>
        </p:spPr>
      </p:pic>
    </p:spTree>
    <p:extLst>
      <p:ext uri="{BB962C8B-B14F-4D97-AF65-F5344CB8AC3E}">
        <p14:creationId xmlns:p14="http://schemas.microsoft.com/office/powerpoint/2010/main" val="14217417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1 - Tree Photo">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294" y="-2"/>
            <a:ext cx="9148293" cy="6814469"/>
          </a:xfrm>
          <a:prstGeom prst="rect">
            <a:avLst/>
          </a:prstGeom>
        </p:spPr>
      </p:pic>
      <p:sp>
        <p:nvSpPr>
          <p:cNvPr id="23" name="Text Placeholder 20"/>
          <p:cNvSpPr>
            <a:spLocks noGrp="1"/>
          </p:cNvSpPr>
          <p:nvPr>
            <p:ph type="body" sz="quarter" idx="10" hasCustomPrompt="1"/>
          </p:nvPr>
        </p:nvSpPr>
        <p:spPr>
          <a:xfrm>
            <a:off x="506727" y="4172300"/>
            <a:ext cx="8130551" cy="1341535"/>
          </a:xfrm>
        </p:spPr>
        <p:txBody>
          <a:bodyPr>
            <a:noAutofit/>
          </a:bodyPr>
          <a:lstStyle>
            <a:lvl1pPr marL="0" indent="0">
              <a:buFontTx/>
              <a:buNone/>
              <a:defRPr sz="3300" b="1" i="0" baseline="0">
                <a:solidFill>
                  <a:schemeClr val="accent1"/>
                </a:solidFill>
                <a:latin typeface="Arial Bold" charset="0"/>
                <a:ea typeface="Museo Sans 700" charset="0"/>
                <a:cs typeface="Museo Sans 700" charset="0"/>
              </a:defRPr>
            </a:lvl1pPr>
          </a:lstStyle>
          <a:p>
            <a:pPr lvl="0"/>
            <a:r>
              <a:rPr lang="en-US" dirty="0"/>
              <a:t>Presentation Title</a:t>
            </a:r>
          </a:p>
        </p:txBody>
      </p:sp>
      <p:sp>
        <p:nvSpPr>
          <p:cNvPr id="24" name="Text Placeholder 24"/>
          <p:cNvSpPr>
            <a:spLocks noGrp="1"/>
          </p:cNvSpPr>
          <p:nvPr>
            <p:ph type="body" sz="quarter" idx="12" hasCustomPrompt="1"/>
          </p:nvPr>
        </p:nvSpPr>
        <p:spPr>
          <a:xfrm>
            <a:off x="506727" y="6014494"/>
            <a:ext cx="5454131" cy="355213"/>
          </a:xfrm>
        </p:spPr>
        <p:txBody>
          <a:bodyPr>
            <a:normAutofit/>
          </a:bodyPr>
          <a:lstStyle>
            <a:lvl1pPr marL="0" indent="0">
              <a:buFontTx/>
              <a:buNone/>
              <a:defRPr sz="1800" b="0" i="0" baseline="0">
                <a:solidFill>
                  <a:schemeClr val="tx1">
                    <a:lumMod val="90000"/>
                    <a:lumOff val="10000"/>
                  </a:schemeClr>
                </a:solidFill>
                <a:latin typeface="Arial" charset="0"/>
                <a:ea typeface="Museo Sans 500" charset="0"/>
                <a:cs typeface="Museo Sans 500" charset="0"/>
              </a:defRPr>
            </a:lvl1pPr>
            <a:lvl2pPr marL="168270" indent="0">
              <a:buFontTx/>
              <a:buNone/>
              <a:defRPr/>
            </a:lvl2pPr>
            <a:lvl3pPr marL="342891" indent="0">
              <a:buFontTx/>
              <a:buNone/>
              <a:defRPr/>
            </a:lvl3pPr>
            <a:lvl4pPr marL="511162" indent="0">
              <a:buFontTx/>
              <a:buNone/>
              <a:defRPr/>
            </a:lvl4pPr>
            <a:lvl5pPr marL="687371" indent="0">
              <a:buFontTx/>
              <a:buNone/>
              <a:defRPr/>
            </a:lvl5pPr>
          </a:lstStyle>
          <a:p>
            <a:pPr lvl="0"/>
            <a:r>
              <a:rPr lang="en-US" dirty="0"/>
              <a:t>Presenter and/or date</a:t>
            </a:r>
          </a:p>
        </p:txBody>
      </p:sp>
      <p:sp>
        <p:nvSpPr>
          <p:cNvPr id="25" name="Text Placeholder 24"/>
          <p:cNvSpPr>
            <a:spLocks noGrp="1"/>
          </p:cNvSpPr>
          <p:nvPr>
            <p:ph type="body" sz="quarter" idx="14" hasCustomPrompt="1"/>
          </p:nvPr>
        </p:nvSpPr>
        <p:spPr>
          <a:xfrm>
            <a:off x="506732" y="5614049"/>
            <a:ext cx="5454131" cy="355213"/>
          </a:xfrm>
        </p:spPr>
        <p:txBody>
          <a:bodyPr>
            <a:normAutofit/>
          </a:bodyPr>
          <a:lstStyle>
            <a:lvl1pPr marL="0" indent="0">
              <a:buFontTx/>
              <a:buNone/>
              <a:defRPr sz="1800" b="1" i="0" baseline="0">
                <a:solidFill>
                  <a:schemeClr val="bg2"/>
                </a:solidFill>
                <a:latin typeface="Arial" charset="0"/>
                <a:ea typeface="Museo Sans 500" charset="0"/>
                <a:cs typeface="Museo Sans 500" charset="0"/>
              </a:defRPr>
            </a:lvl1pPr>
            <a:lvl2pPr marL="168270" indent="0">
              <a:buFontTx/>
              <a:buNone/>
              <a:defRPr/>
            </a:lvl2pPr>
            <a:lvl3pPr marL="342891" indent="0">
              <a:buFontTx/>
              <a:buNone/>
              <a:defRPr/>
            </a:lvl3pPr>
            <a:lvl4pPr marL="511162" indent="0">
              <a:buFontTx/>
              <a:buNone/>
              <a:defRPr/>
            </a:lvl4pPr>
            <a:lvl5pPr marL="687371" indent="0">
              <a:buFontTx/>
              <a:buNone/>
              <a:defRPr/>
            </a:lvl5pPr>
          </a:lstStyle>
          <a:p>
            <a:pPr lvl="0"/>
            <a:r>
              <a:rPr lang="en-US" dirty="0"/>
              <a:t>Subhead here if applicable</a:t>
            </a:r>
          </a:p>
        </p:txBody>
      </p:sp>
      <p:grpSp>
        <p:nvGrpSpPr>
          <p:cNvPr id="13" name="Group 12"/>
          <p:cNvGrpSpPr/>
          <p:nvPr userDrawn="1"/>
        </p:nvGrpSpPr>
        <p:grpSpPr>
          <a:xfrm rot="10800000">
            <a:off x="-1" y="3363028"/>
            <a:ext cx="9182638" cy="609625"/>
            <a:chOff x="-1362476" y="1611267"/>
            <a:chExt cx="9144031" cy="543874"/>
          </a:xfrm>
        </p:grpSpPr>
        <p:sp>
          <p:nvSpPr>
            <p:cNvPr id="14" name="Rectangle 13"/>
            <p:cNvSpPr>
              <a:spLocks/>
            </p:cNvSpPr>
            <p:nvPr userDrawn="1"/>
          </p:nvSpPr>
          <p:spPr>
            <a:xfrm rot="16200000" flipV="1">
              <a:off x="3118114" y="-2508301"/>
              <a:ext cx="182880" cy="9144003"/>
            </a:xfrm>
            <a:prstGeom prst="rect">
              <a:avLst/>
            </a:prstGeom>
            <a:solidFill>
              <a:schemeClr val="bg1">
                <a:alpha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noFill/>
                <a:latin typeface="Arial Bold" charset="0"/>
              </a:endParaRPr>
            </a:p>
          </p:txBody>
        </p:sp>
        <p:sp>
          <p:nvSpPr>
            <p:cNvPr id="18" name="Rectangle 17"/>
            <p:cNvSpPr>
              <a:spLocks/>
            </p:cNvSpPr>
            <p:nvPr userDrawn="1"/>
          </p:nvSpPr>
          <p:spPr>
            <a:xfrm rot="16200000" flipV="1">
              <a:off x="3118101" y="-2689698"/>
              <a:ext cx="182880" cy="9144010"/>
            </a:xfrm>
            <a:prstGeom prst="rect">
              <a:avLst/>
            </a:prstGeom>
            <a:solidFill>
              <a:schemeClr val="bg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sp>
          <p:nvSpPr>
            <p:cNvPr id="19" name="Rectangle 18"/>
            <p:cNvSpPr>
              <a:spLocks/>
            </p:cNvSpPr>
            <p:nvPr userDrawn="1"/>
          </p:nvSpPr>
          <p:spPr>
            <a:xfrm rot="16200000" flipV="1">
              <a:off x="3118096" y="-2869305"/>
              <a:ext cx="182880" cy="9144023"/>
            </a:xfrm>
            <a:prstGeom prst="rect">
              <a:avLst/>
            </a:prstGeom>
            <a:solidFill>
              <a:schemeClr val="bg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gr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6265" y="545397"/>
            <a:ext cx="2334646" cy="822314"/>
          </a:xfrm>
          <a:prstGeom prst="rect">
            <a:avLst/>
          </a:prstGeom>
        </p:spPr>
      </p:pic>
      <p:sp>
        <p:nvSpPr>
          <p:cNvPr id="6" name="TextBox 5"/>
          <p:cNvSpPr txBox="1"/>
          <p:nvPr userDrawn="1"/>
        </p:nvSpPr>
        <p:spPr>
          <a:xfrm>
            <a:off x="5104327" y="1549107"/>
            <a:ext cx="3575813" cy="307777"/>
          </a:xfrm>
          <a:prstGeom prst="rect">
            <a:avLst/>
          </a:prstGeom>
          <a:noFill/>
        </p:spPr>
        <p:txBody>
          <a:bodyPr wrap="square" rtlCol="0">
            <a:spAutoFit/>
          </a:bodyPr>
          <a:lstStyle/>
          <a:p>
            <a:pPr algn="r"/>
            <a:r>
              <a:rPr lang="en-US" sz="1400" dirty="0">
                <a:solidFill>
                  <a:schemeClr val="bg1"/>
                </a:solidFill>
                <a:latin typeface="Museo Sans 500" panose="02000000000000000000" pitchFamily="50" charset="0"/>
              </a:rPr>
              <a:t>Inspiring</a:t>
            </a:r>
            <a:r>
              <a:rPr lang="en-US" sz="1400" baseline="0" dirty="0">
                <a:solidFill>
                  <a:schemeClr val="bg1"/>
                </a:solidFill>
                <a:latin typeface="Museo Sans 500" panose="02000000000000000000" pitchFamily="50" charset="0"/>
              </a:rPr>
              <a:t> People. Nurturing Landscapes.</a:t>
            </a:r>
            <a:endParaRPr lang="en-US" sz="1400" dirty="0">
              <a:solidFill>
                <a:schemeClr val="bg1"/>
              </a:solidFill>
              <a:latin typeface="Museo Sans 500" panose="02000000000000000000" pitchFamily="50" charset="0"/>
            </a:endParaRPr>
          </a:p>
        </p:txBody>
      </p:sp>
      <p:sp>
        <p:nvSpPr>
          <p:cNvPr id="15" name="Picture Placeholder 7"/>
          <p:cNvSpPr>
            <a:spLocks noGrp="1"/>
          </p:cNvSpPr>
          <p:nvPr>
            <p:ph type="pic" sz="quarter" idx="18" hasCustomPrompt="1"/>
          </p:nvPr>
        </p:nvSpPr>
        <p:spPr>
          <a:xfrm>
            <a:off x="7243026" y="6012057"/>
            <a:ext cx="1394251" cy="410959"/>
          </a:xfrm>
          <a:prstGeom prst="rect">
            <a:avLst/>
          </a:prstGeom>
          <a:noFill/>
        </p:spPr>
        <p:txBody>
          <a:bodyPr lIns="0" tIns="0" rIns="0" bIns="0" anchor="ctr">
            <a:normAutofit/>
          </a:bodyPr>
          <a:lstStyle>
            <a:lvl1pPr marL="0" indent="0" algn="ctr">
              <a:buNone/>
              <a:defRPr sz="1000" baseline="0">
                <a:solidFill>
                  <a:srgbClr val="7F7F7F"/>
                </a:solidFill>
                <a:latin typeface="Helvetica Light"/>
                <a:cs typeface="Helvetica Light"/>
              </a:defRPr>
            </a:lvl1pPr>
          </a:lstStyle>
          <a:p>
            <a:r>
              <a:rPr lang="en-US" dirty="0"/>
              <a:t>Click to insert Property Logo</a:t>
            </a:r>
          </a:p>
        </p:txBody>
      </p:sp>
    </p:spTree>
    <p:extLst>
      <p:ext uri="{BB962C8B-B14F-4D97-AF65-F5344CB8AC3E}">
        <p14:creationId xmlns:p14="http://schemas.microsoft.com/office/powerpoint/2010/main" val="21682580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20443" y="251491"/>
            <a:ext cx="8001000" cy="922791"/>
          </a:xfrm>
        </p:spPr>
        <p:txBody>
          <a:bodyPr/>
          <a:lstStyle/>
          <a:p>
            <a:r>
              <a:rPr lang="en-US"/>
              <a:t>Click to edit Master title style</a:t>
            </a:r>
          </a:p>
        </p:txBody>
      </p:sp>
    </p:spTree>
    <p:extLst>
      <p:ext uri="{BB962C8B-B14F-4D97-AF65-F5344CB8AC3E}">
        <p14:creationId xmlns:p14="http://schemas.microsoft.com/office/powerpoint/2010/main" val="4167395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Internal Slide - Blue 2 Column">
    <p:spTree>
      <p:nvGrpSpPr>
        <p:cNvPr id="1" name=""/>
        <p:cNvGrpSpPr/>
        <p:nvPr/>
      </p:nvGrpSpPr>
      <p:grpSpPr>
        <a:xfrm>
          <a:off x="0" y="0"/>
          <a:ext cx="0" cy="0"/>
          <a:chOff x="0" y="0"/>
          <a:chExt cx="0" cy="0"/>
        </a:xfrm>
      </p:grpSpPr>
      <p:sp>
        <p:nvSpPr>
          <p:cNvPr id="9" name="Rectangle 8"/>
          <p:cNvSpPr/>
          <p:nvPr userDrawn="1"/>
        </p:nvSpPr>
        <p:spPr>
          <a:xfrm>
            <a:off x="1" y="-1"/>
            <a:ext cx="9144000" cy="8814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7" name="Text Placeholder 3"/>
          <p:cNvSpPr>
            <a:spLocks noGrp="1"/>
          </p:cNvSpPr>
          <p:nvPr>
            <p:ph type="body" sz="quarter" idx="24" hasCustomPrompt="1"/>
          </p:nvPr>
        </p:nvSpPr>
        <p:spPr>
          <a:xfrm>
            <a:off x="457207" y="1921545"/>
            <a:ext cx="3768349" cy="3904296"/>
          </a:xfrm>
        </p:spPr>
        <p:txBody>
          <a:bodyPr/>
          <a:lstStyle>
            <a:lvl1pPr marL="0" indent="0">
              <a:buClr>
                <a:srgbClr val="9ACA3C"/>
              </a:buClr>
              <a:buFontTx/>
              <a:buNone/>
              <a:defRPr sz="2000" b="0" baseline="0">
                <a:solidFill>
                  <a:schemeClr val="tx1"/>
                </a:solidFill>
                <a:latin typeface="Arial" charset="0"/>
                <a:ea typeface="Arial" charset="0"/>
                <a:cs typeface="Arial" charset="0"/>
              </a:defRPr>
            </a:lvl1pPr>
            <a:lvl2pPr marL="628635" indent="-285744">
              <a:buClr>
                <a:srgbClr val="9ACA3C"/>
              </a:buClr>
              <a:buFont typeface="Arial" panose="020B0604020202020204" pitchFamily="34" charset="0"/>
              <a:buChar char="•"/>
              <a:defRPr baseline="0">
                <a:latin typeface="Arial" charset="0"/>
                <a:ea typeface="Arial" charset="0"/>
                <a:cs typeface="Arial" charset="0"/>
              </a:defRPr>
            </a:lvl2pPr>
            <a:lvl3pPr marL="971526" indent="-285744">
              <a:buClr>
                <a:srgbClr val="9ACA3C"/>
              </a:buClr>
              <a:buFont typeface="Arial" panose="020B0604020202020204" pitchFamily="34" charset="0"/>
              <a:buChar char="•"/>
              <a:defRPr sz="1600" baseline="0">
                <a:latin typeface="Arial" charset="0"/>
                <a:ea typeface="Arial" charset="0"/>
                <a:cs typeface="Arial" charset="0"/>
              </a:defRPr>
            </a:lvl3pPr>
          </a:lstStyle>
          <a:p>
            <a:pPr lvl="0"/>
            <a:r>
              <a:rPr lang="en-US" dirty="0"/>
              <a:t>Body copy goes here. </a:t>
            </a:r>
          </a:p>
          <a:p>
            <a:pPr lvl="1"/>
            <a:r>
              <a:rPr lang="en-US" dirty="0"/>
              <a:t>Bullet point</a:t>
            </a:r>
          </a:p>
          <a:p>
            <a:pPr lvl="2"/>
            <a:r>
              <a:rPr lang="en-US" dirty="0"/>
              <a:t>Smaller point</a:t>
            </a:r>
          </a:p>
          <a:p>
            <a:pPr lvl="2"/>
            <a:endParaRPr lang="en-US" dirty="0"/>
          </a:p>
        </p:txBody>
      </p:sp>
      <p:sp>
        <p:nvSpPr>
          <p:cNvPr id="14" name="Text Placeholder 3"/>
          <p:cNvSpPr>
            <a:spLocks noGrp="1"/>
          </p:cNvSpPr>
          <p:nvPr>
            <p:ph type="body" sz="quarter" idx="26" hasCustomPrompt="1"/>
          </p:nvPr>
        </p:nvSpPr>
        <p:spPr>
          <a:xfrm>
            <a:off x="457207" y="1168751"/>
            <a:ext cx="8219105" cy="465514"/>
          </a:xfrm>
        </p:spPr>
        <p:txBody>
          <a:bodyPr>
            <a:normAutofit/>
          </a:bodyPr>
          <a:lstStyle>
            <a:lvl1pPr marL="0" indent="0">
              <a:buNone/>
              <a:defRPr sz="2000" b="1" baseline="0">
                <a:solidFill>
                  <a:schemeClr val="tx2"/>
                </a:solidFill>
                <a:latin typeface="Arial" charset="0"/>
              </a:defRPr>
            </a:lvl1pPr>
            <a:lvl2pPr marL="111123" indent="0">
              <a:buNone/>
              <a:defRPr/>
            </a:lvl2pPr>
            <a:lvl3pPr marL="225420" indent="0">
              <a:buNone/>
              <a:defRPr/>
            </a:lvl3pPr>
            <a:lvl4pPr marL="346066" indent="0">
              <a:buNone/>
              <a:defRPr/>
            </a:lvl4pPr>
            <a:lvl5pPr marL="458775" indent="0">
              <a:buNone/>
              <a:defRPr/>
            </a:lvl5pPr>
          </a:lstStyle>
          <a:p>
            <a:pPr lvl="0"/>
            <a:r>
              <a:rPr lang="en-US" dirty="0"/>
              <a:t>Subhead</a:t>
            </a:r>
          </a:p>
        </p:txBody>
      </p:sp>
      <p:sp>
        <p:nvSpPr>
          <p:cNvPr id="18" name="Text Placeholder 20"/>
          <p:cNvSpPr>
            <a:spLocks noGrp="1"/>
          </p:cNvSpPr>
          <p:nvPr>
            <p:ph type="body" sz="quarter" idx="10" hasCustomPrompt="1"/>
          </p:nvPr>
        </p:nvSpPr>
        <p:spPr>
          <a:xfrm>
            <a:off x="457205" y="218670"/>
            <a:ext cx="8280452" cy="662813"/>
          </a:xfrm>
        </p:spPr>
        <p:txBody>
          <a:bodyPr anchor="t">
            <a:noAutofit/>
          </a:bodyPr>
          <a:lstStyle>
            <a:lvl1pPr marL="0" indent="0">
              <a:buFontTx/>
              <a:buNone/>
              <a:defRPr sz="3300" b="1" i="0" baseline="0">
                <a:solidFill>
                  <a:schemeClr val="bg1"/>
                </a:solidFill>
                <a:latin typeface="Arial Bold" charset="0"/>
                <a:ea typeface="Museo Sans 700" charset="0"/>
                <a:cs typeface="Museo Sans 700" charset="0"/>
              </a:defRPr>
            </a:lvl1pPr>
          </a:lstStyle>
          <a:p>
            <a:pPr lvl="0"/>
            <a:r>
              <a:rPr lang="en-US" dirty="0"/>
              <a:t>Headline</a:t>
            </a:r>
          </a:p>
        </p:txBody>
      </p:sp>
      <p:grpSp>
        <p:nvGrpSpPr>
          <p:cNvPr id="19" name="Group 18"/>
          <p:cNvGrpSpPr/>
          <p:nvPr userDrawn="1"/>
        </p:nvGrpSpPr>
        <p:grpSpPr>
          <a:xfrm rot="5400000">
            <a:off x="8150735" y="173524"/>
            <a:ext cx="1342649" cy="647810"/>
            <a:chOff x="-1362476" y="1611267"/>
            <a:chExt cx="9144031" cy="543874"/>
          </a:xfrm>
        </p:grpSpPr>
        <p:sp>
          <p:nvSpPr>
            <p:cNvPr id="20" name="Rectangle 19"/>
            <p:cNvSpPr>
              <a:spLocks/>
            </p:cNvSpPr>
            <p:nvPr userDrawn="1"/>
          </p:nvSpPr>
          <p:spPr>
            <a:xfrm rot="16200000" flipV="1">
              <a:off x="3118114" y="-2508301"/>
              <a:ext cx="182880" cy="9144003"/>
            </a:xfrm>
            <a:prstGeom prst="rect">
              <a:avLst/>
            </a:prstGeom>
            <a:solidFill>
              <a:schemeClr val="bg1">
                <a:alpha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noFill/>
                <a:latin typeface="Arial Bold" charset="0"/>
              </a:endParaRPr>
            </a:p>
          </p:txBody>
        </p:sp>
        <p:sp>
          <p:nvSpPr>
            <p:cNvPr id="21" name="Rectangle 20"/>
            <p:cNvSpPr>
              <a:spLocks/>
            </p:cNvSpPr>
            <p:nvPr userDrawn="1"/>
          </p:nvSpPr>
          <p:spPr>
            <a:xfrm rot="16200000" flipV="1">
              <a:off x="3118101" y="-2689698"/>
              <a:ext cx="182880" cy="9144010"/>
            </a:xfrm>
            <a:prstGeom prst="rect">
              <a:avLst/>
            </a:prstGeom>
            <a:solidFill>
              <a:schemeClr val="bg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sp>
          <p:nvSpPr>
            <p:cNvPr id="22" name="Rectangle 21"/>
            <p:cNvSpPr>
              <a:spLocks/>
            </p:cNvSpPr>
            <p:nvPr userDrawn="1"/>
          </p:nvSpPr>
          <p:spPr>
            <a:xfrm rot="16200000" flipV="1">
              <a:off x="3118096" y="-2869305"/>
              <a:ext cx="182880" cy="9144023"/>
            </a:xfrm>
            <a:prstGeom prst="rect">
              <a:avLst/>
            </a:prstGeom>
            <a:solidFill>
              <a:schemeClr val="bg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grpSp>
      <p:sp>
        <p:nvSpPr>
          <p:cNvPr id="13" name="Text Placeholder 3"/>
          <p:cNvSpPr>
            <a:spLocks noGrp="1"/>
          </p:cNvSpPr>
          <p:nvPr>
            <p:ph type="body" sz="quarter" idx="27" hasCustomPrompt="1"/>
          </p:nvPr>
        </p:nvSpPr>
        <p:spPr>
          <a:xfrm>
            <a:off x="4907963" y="1921545"/>
            <a:ext cx="3768349" cy="3904296"/>
          </a:xfrm>
        </p:spPr>
        <p:txBody>
          <a:bodyPr/>
          <a:lstStyle>
            <a:lvl1pPr marL="0" indent="0">
              <a:buClr>
                <a:srgbClr val="9ACA3C"/>
              </a:buClr>
              <a:buFontTx/>
              <a:buNone/>
              <a:defRPr sz="2000" b="0" baseline="0">
                <a:solidFill>
                  <a:schemeClr val="tx1"/>
                </a:solidFill>
                <a:latin typeface="Arial" charset="0"/>
                <a:ea typeface="Arial" charset="0"/>
                <a:cs typeface="Arial" charset="0"/>
              </a:defRPr>
            </a:lvl1pPr>
            <a:lvl2pPr marL="628635" indent="-285744">
              <a:buClr>
                <a:srgbClr val="9ACA3C"/>
              </a:buClr>
              <a:buFont typeface="Arial" panose="020B0604020202020204" pitchFamily="34" charset="0"/>
              <a:buChar char="•"/>
              <a:defRPr baseline="0">
                <a:latin typeface="Arial" charset="0"/>
                <a:ea typeface="Arial" charset="0"/>
                <a:cs typeface="Arial" charset="0"/>
              </a:defRPr>
            </a:lvl2pPr>
            <a:lvl3pPr marL="971526" indent="-285744">
              <a:buClr>
                <a:srgbClr val="9ACA3C"/>
              </a:buClr>
              <a:buFont typeface="Arial" panose="020B0604020202020204" pitchFamily="34" charset="0"/>
              <a:buChar char="•"/>
              <a:defRPr sz="1600" baseline="0">
                <a:latin typeface="Arial" charset="0"/>
                <a:ea typeface="Arial" charset="0"/>
                <a:cs typeface="Arial" charset="0"/>
              </a:defRPr>
            </a:lvl3pPr>
          </a:lstStyle>
          <a:p>
            <a:pPr lvl="0"/>
            <a:r>
              <a:rPr lang="en-US" dirty="0"/>
              <a:t>Body copy goes here. </a:t>
            </a:r>
          </a:p>
          <a:p>
            <a:pPr lvl="1"/>
            <a:r>
              <a:rPr lang="en-US" dirty="0"/>
              <a:t>Bullet point</a:t>
            </a:r>
          </a:p>
          <a:p>
            <a:pPr lvl="2"/>
            <a:r>
              <a:rPr lang="en-US" dirty="0"/>
              <a:t>Smaller point</a:t>
            </a:r>
          </a:p>
          <a:p>
            <a:pPr lvl="2"/>
            <a:endParaRPr lang="en-US" dirty="0"/>
          </a:p>
        </p:txBody>
      </p:sp>
    </p:spTree>
    <p:extLst>
      <p:ext uri="{BB962C8B-B14F-4D97-AF65-F5344CB8AC3E}">
        <p14:creationId xmlns:p14="http://schemas.microsoft.com/office/powerpoint/2010/main" val="3779639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7512" y="6227064"/>
            <a:ext cx="1142999" cy="419099"/>
          </a:xfrm>
          <a:prstGeom prst="rect">
            <a:avLst/>
          </a:prstGeom>
        </p:spPr>
      </p:pic>
      <p:sp>
        <p:nvSpPr>
          <p:cNvPr id="17" name="bg object 17"/>
          <p:cNvSpPr/>
          <p:nvPr/>
        </p:nvSpPr>
        <p:spPr>
          <a:xfrm>
            <a:off x="316991" y="220979"/>
            <a:ext cx="5928360" cy="367665"/>
          </a:xfrm>
          <a:custGeom>
            <a:avLst/>
            <a:gdLst/>
            <a:ahLst/>
            <a:cxnLst/>
            <a:rect l="l" t="t" r="r" b="b"/>
            <a:pathLst>
              <a:path w="5928360" h="367665">
                <a:moveTo>
                  <a:pt x="5744718" y="0"/>
                </a:moveTo>
                <a:lnTo>
                  <a:pt x="0" y="0"/>
                </a:lnTo>
                <a:lnTo>
                  <a:pt x="0" y="367284"/>
                </a:lnTo>
                <a:lnTo>
                  <a:pt x="5744718" y="367284"/>
                </a:lnTo>
                <a:lnTo>
                  <a:pt x="5928360" y="183642"/>
                </a:lnTo>
                <a:lnTo>
                  <a:pt x="5744718" y="0"/>
                </a:lnTo>
                <a:close/>
              </a:path>
            </a:pathLst>
          </a:custGeom>
          <a:solidFill>
            <a:srgbClr val="006FC0"/>
          </a:solidFill>
        </p:spPr>
        <p:txBody>
          <a:bodyPr wrap="square" lIns="0" tIns="0" rIns="0" bIns="0" rtlCol="0"/>
          <a:lstStyle/>
          <a:p>
            <a:endParaRPr dirty="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4" name="Holder 4"/>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72408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2650" b="0" i="0">
                <a:solidFill>
                  <a:srgbClr val="0071CE"/>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86958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81380"/>
          </a:xfrm>
          <a:custGeom>
            <a:avLst/>
            <a:gdLst/>
            <a:ahLst/>
            <a:cxnLst/>
            <a:rect l="l" t="t" r="r" b="b"/>
            <a:pathLst>
              <a:path w="9144000" h="881380">
                <a:moveTo>
                  <a:pt x="9144000" y="0"/>
                </a:moveTo>
                <a:lnTo>
                  <a:pt x="0" y="0"/>
                </a:lnTo>
                <a:lnTo>
                  <a:pt x="0" y="880872"/>
                </a:lnTo>
                <a:lnTo>
                  <a:pt x="9144000" y="880872"/>
                </a:lnTo>
                <a:lnTo>
                  <a:pt x="9144000" y="0"/>
                </a:lnTo>
                <a:close/>
              </a:path>
            </a:pathLst>
          </a:custGeom>
          <a:solidFill>
            <a:srgbClr val="4471C4"/>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650" b="0" i="0">
                <a:solidFill>
                  <a:srgbClr val="0071CE"/>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34558736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81380"/>
          </a:xfrm>
          <a:custGeom>
            <a:avLst/>
            <a:gdLst/>
            <a:ahLst/>
            <a:cxnLst/>
            <a:rect l="l" t="t" r="r" b="b"/>
            <a:pathLst>
              <a:path w="9144000" h="881380">
                <a:moveTo>
                  <a:pt x="9144000" y="0"/>
                </a:moveTo>
                <a:lnTo>
                  <a:pt x="0" y="0"/>
                </a:lnTo>
                <a:lnTo>
                  <a:pt x="0" y="880872"/>
                </a:lnTo>
                <a:lnTo>
                  <a:pt x="9144000" y="880872"/>
                </a:lnTo>
                <a:lnTo>
                  <a:pt x="9144000" y="0"/>
                </a:lnTo>
                <a:close/>
              </a:path>
            </a:pathLst>
          </a:custGeom>
          <a:solidFill>
            <a:srgbClr val="4471C4"/>
          </a:solidFill>
        </p:spPr>
        <p:txBody>
          <a:bodyPr wrap="square" lIns="0" tIns="0" rIns="0" bIns="0" rtlCol="0"/>
          <a:lstStyle/>
          <a:p>
            <a:endParaRPr dirty="0"/>
          </a:p>
        </p:txBody>
      </p:sp>
      <p:sp>
        <p:nvSpPr>
          <p:cNvPr id="2" name="Holder 2"/>
          <p:cNvSpPr>
            <a:spLocks noGrp="1"/>
          </p:cNvSpPr>
          <p:nvPr>
            <p:ph type="title"/>
          </p:nvPr>
        </p:nvSpPr>
        <p:spPr/>
        <p:txBody>
          <a:bodyPr lIns="0" tIns="0" rIns="0" bIns="0"/>
          <a:lstStyle>
            <a:lvl1pPr>
              <a:defRPr sz="2650" b="0" i="0">
                <a:solidFill>
                  <a:srgbClr val="0071CE"/>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284989" y="1474930"/>
            <a:ext cx="3486150" cy="4293870"/>
          </a:xfrm>
          <a:prstGeom prst="rect">
            <a:avLst/>
          </a:prstGeom>
        </p:spPr>
        <p:txBody>
          <a:bodyPr wrap="square" lIns="0" tIns="0" rIns="0" bIns="0">
            <a:spAutoFit/>
          </a:bodyPr>
          <a:lstStyle>
            <a:lvl1pPr>
              <a:defRPr sz="1400" b="1" i="0">
                <a:solidFill>
                  <a:srgbClr val="374151"/>
                </a:solidFill>
                <a:latin typeface="Calibri"/>
                <a:cs typeface="Calibri"/>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7" name="Holder 7"/>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1440067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9144000" cy="6857999"/>
          </a:xfrm>
          <a:prstGeom prst="rect">
            <a:avLst/>
          </a:prstGeom>
        </p:spPr>
      </p:pic>
      <p:sp>
        <p:nvSpPr>
          <p:cNvPr id="2" name="Holder 2"/>
          <p:cNvSpPr>
            <a:spLocks noGrp="1"/>
          </p:cNvSpPr>
          <p:nvPr>
            <p:ph type="title"/>
          </p:nvPr>
        </p:nvSpPr>
        <p:spPr/>
        <p:txBody>
          <a:bodyPr lIns="0" tIns="0" rIns="0" bIns="0"/>
          <a:lstStyle>
            <a:lvl1pPr>
              <a:defRPr sz="2650" b="0" i="0">
                <a:solidFill>
                  <a:srgbClr val="0071CE"/>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5" name="Holder 5"/>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26474272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667512" y="6227064"/>
            <a:ext cx="1142999" cy="419099"/>
          </a:xfrm>
          <a:prstGeom prst="rect">
            <a:avLst/>
          </a:prstGeom>
        </p:spPr>
      </p:pic>
      <p:sp>
        <p:nvSpPr>
          <p:cNvPr id="17" name="bg object 17"/>
          <p:cNvSpPr/>
          <p:nvPr/>
        </p:nvSpPr>
        <p:spPr>
          <a:xfrm>
            <a:off x="316991" y="220979"/>
            <a:ext cx="5928360" cy="367665"/>
          </a:xfrm>
          <a:custGeom>
            <a:avLst/>
            <a:gdLst/>
            <a:ahLst/>
            <a:cxnLst/>
            <a:rect l="l" t="t" r="r" b="b"/>
            <a:pathLst>
              <a:path w="5928360" h="367665">
                <a:moveTo>
                  <a:pt x="5744718" y="0"/>
                </a:moveTo>
                <a:lnTo>
                  <a:pt x="0" y="0"/>
                </a:lnTo>
                <a:lnTo>
                  <a:pt x="0" y="367284"/>
                </a:lnTo>
                <a:lnTo>
                  <a:pt x="5744718" y="367284"/>
                </a:lnTo>
                <a:lnTo>
                  <a:pt x="5928360" y="183642"/>
                </a:lnTo>
                <a:lnTo>
                  <a:pt x="5744718" y="0"/>
                </a:lnTo>
                <a:close/>
              </a:path>
            </a:pathLst>
          </a:custGeom>
          <a:solidFill>
            <a:srgbClr val="006FC0"/>
          </a:solidFill>
        </p:spPr>
        <p:txBody>
          <a:bodyPr wrap="square" lIns="0" tIns="0" rIns="0" bIns="0" rtlCol="0"/>
          <a:lstStyle/>
          <a:p>
            <a:endParaRPr dirty="0"/>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4" name="Holder 4"/>
          <p:cNvSpPr>
            <a:spLocks noGrp="1"/>
          </p:cNvSpPr>
          <p:nvPr>
            <p:ph type="sldNum" sz="quarter" idx="7"/>
          </p:nvPr>
        </p:nvSpPr>
        <p:spPr/>
        <p:txBody>
          <a:bodyPr lIns="0" tIns="0" rIns="0" bIns="0"/>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72892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Internal Slide - Blue Blank">
    <p:spTree>
      <p:nvGrpSpPr>
        <p:cNvPr id="1" name=""/>
        <p:cNvGrpSpPr/>
        <p:nvPr/>
      </p:nvGrpSpPr>
      <p:grpSpPr>
        <a:xfrm>
          <a:off x="0" y="0"/>
          <a:ext cx="0" cy="0"/>
          <a:chOff x="0" y="0"/>
          <a:chExt cx="0" cy="0"/>
        </a:xfrm>
      </p:grpSpPr>
      <p:sp>
        <p:nvSpPr>
          <p:cNvPr id="9" name="Rectangle 8"/>
          <p:cNvSpPr/>
          <p:nvPr userDrawn="1"/>
        </p:nvSpPr>
        <p:spPr>
          <a:xfrm>
            <a:off x="1" y="-1"/>
            <a:ext cx="9144000" cy="88147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grpSp>
        <p:nvGrpSpPr>
          <p:cNvPr id="19" name="Group 18"/>
          <p:cNvGrpSpPr/>
          <p:nvPr userDrawn="1"/>
        </p:nvGrpSpPr>
        <p:grpSpPr>
          <a:xfrm rot="5400000">
            <a:off x="8150734" y="173524"/>
            <a:ext cx="1342649" cy="647810"/>
            <a:chOff x="-1362476" y="1611267"/>
            <a:chExt cx="9144031" cy="543874"/>
          </a:xfrm>
        </p:grpSpPr>
        <p:sp>
          <p:nvSpPr>
            <p:cNvPr id="20" name="Rectangle 19"/>
            <p:cNvSpPr>
              <a:spLocks/>
            </p:cNvSpPr>
            <p:nvPr userDrawn="1"/>
          </p:nvSpPr>
          <p:spPr>
            <a:xfrm rot="16200000" flipV="1">
              <a:off x="3118114" y="-2508301"/>
              <a:ext cx="182880" cy="9144003"/>
            </a:xfrm>
            <a:prstGeom prst="rect">
              <a:avLst/>
            </a:prstGeom>
            <a:solidFill>
              <a:schemeClr val="bg1">
                <a:alpha val="3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noFill/>
                <a:latin typeface="Arial Bold" charset="0"/>
              </a:endParaRPr>
            </a:p>
          </p:txBody>
        </p:sp>
        <p:sp>
          <p:nvSpPr>
            <p:cNvPr id="21" name="Rectangle 20"/>
            <p:cNvSpPr>
              <a:spLocks/>
            </p:cNvSpPr>
            <p:nvPr userDrawn="1"/>
          </p:nvSpPr>
          <p:spPr>
            <a:xfrm rot="16200000" flipV="1">
              <a:off x="3118101" y="-2689698"/>
              <a:ext cx="182880" cy="9144010"/>
            </a:xfrm>
            <a:prstGeom prst="rect">
              <a:avLst/>
            </a:prstGeom>
            <a:solidFill>
              <a:schemeClr val="bg1">
                <a:alpha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sp>
          <p:nvSpPr>
            <p:cNvPr id="22" name="Rectangle 21"/>
            <p:cNvSpPr>
              <a:spLocks/>
            </p:cNvSpPr>
            <p:nvPr userDrawn="1"/>
          </p:nvSpPr>
          <p:spPr>
            <a:xfrm rot="16200000" flipV="1">
              <a:off x="3118096" y="-2869305"/>
              <a:ext cx="182880" cy="9144023"/>
            </a:xfrm>
            <a:prstGeom prst="rect">
              <a:avLst/>
            </a:prstGeom>
            <a:solidFill>
              <a:schemeClr val="bg1">
                <a:alpha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latin typeface="Arial Bold" charset="0"/>
              </a:endParaRPr>
            </a:p>
          </p:txBody>
        </p:sp>
      </p:grpSp>
      <p:sp>
        <p:nvSpPr>
          <p:cNvPr id="11" name="TextBox 10"/>
          <p:cNvSpPr txBox="1"/>
          <p:nvPr userDrawn="1"/>
        </p:nvSpPr>
        <p:spPr>
          <a:xfrm>
            <a:off x="8429908" y="6446802"/>
            <a:ext cx="344822" cy="230832"/>
          </a:xfrm>
          <a:prstGeom prst="rect">
            <a:avLst/>
          </a:prstGeom>
          <a:noFill/>
        </p:spPr>
        <p:txBody>
          <a:bodyPr wrap="square" rtlCol="0">
            <a:spAutoFit/>
          </a:bodyPr>
          <a:lstStyle/>
          <a:p>
            <a:pPr marL="0" marR="0" indent="0" algn="r" defTabSz="914377" rtl="0" eaLnBrk="1" fontAlgn="auto" latinLnBrk="0" hangingPunct="1">
              <a:lnSpc>
                <a:spcPct val="100000"/>
              </a:lnSpc>
              <a:spcBef>
                <a:spcPts val="0"/>
              </a:spcBef>
              <a:spcAft>
                <a:spcPts val="0"/>
              </a:spcAft>
              <a:buClrTx/>
              <a:buSzTx/>
              <a:buFontTx/>
              <a:buNone/>
              <a:tabLst/>
              <a:defRPr/>
            </a:pPr>
            <a:fld id="{E0599B59-93F4-EF40-A493-12136D87E34B}" type="slidenum">
              <a:rPr lang="en-US" sz="900" smtClean="0">
                <a:solidFill>
                  <a:schemeClr val="tx1">
                    <a:lumMod val="50000"/>
                    <a:lumOff val="50000"/>
                  </a:schemeClr>
                </a:solidFill>
              </a:rPr>
              <a:pPr marL="0" marR="0" indent="0" algn="r" defTabSz="914377" rtl="0" eaLnBrk="1" fontAlgn="auto" latinLnBrk="0" hangingPunct="1">
                <a:lnSpc>
                  <a:spcPct val="100000"/>
                </a:lnSpc>
                <a:spcBef>
                  <a:spcPts val="0"/>
                </a:spcBef>
                <a:spcAft>
                  <a:spcPts val="0"/>
                </a:spcAft>
                <a:buClrTx/>
                <a:buSzTx/>
                <a:buFontTx/>
                <a:buNone/>
                <a:tabLst/>
                <a:defRPr/>
              </a:pPr>
              <a:t>‹#›</a:t>
            </a:fld>
            <a:endParaRPr lang="en-US" sz="900" dirty="0">
              <a:solidFill>
                <a:schemeClr val="tx1">
                  <a:lumMod val="50000"/>
                  <a:lumOff val="50000"/>
                </a:schemeClr>
              </a:solidFill>
            </a:endParaRPr>
          </a:p>
        </p:txBody>
      </p:sp>
    </p:spTree>
    <p:extLst>
      <p:ext uri="{BB962C8B-B14F-4D97-AF65-F5344CB8AC3E}">
        <p14:creationId xmlns:p14="http://schemas.microsoft.com/office/powerpoint/2010/main" val="20221495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7"/>
            </p:custDataLst>
            <p:extLst>
              <p:ext uri="{D42A27DB-BD31-4B8C-83A1-F6EECF244321}">
                <p14:modId xmlns:p14="http://schemas.microsoft.com/office/powerpoint/2010/main" val="1444307155"/>
              </p:ext>
            </p:extLst>
          </p:nvPr>
        </p:nvGraphicFramePr>
        <p:xfrm>
          <a:off x="1525" y="1594"/>
          <a:ext cx="1511"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6" name="Object 5" hidden="1"/>
                      <p:cNvPicPr/>
                      <p:nvPr/>
                    </p:nvPicPr>
                    <p:blipFill>
                      <a:blip r:embed="rId9"/>
                      <a:stretch>
                        <a:fillRect/>
                      </a:stretch>
                    </p:blipFill>
                    <p:spPr>
                      <a:xfrm>
                        <a:off x="1525" y="1594"/>
                        <a:ext cx="1511" cy="1587"/>
                      </a:xfrm>
                      <a:prstGeom prst="rect">
                        <a:avLst/>
                      </a:prstGeom>
                    </p:spPr>
                  </p:pic>
                </p:oleObj>
              </mc:Fallback>
            </mc:AlternateContent>
          </a:graphicData>
        </a:graphic>
      </p:graphicFrame>
      <p:sp>
        <p:nvSpPr>
          <p:cNvPr id="4" name="TextBox 3"/>
          <p:cNvSpPr txBox="1"/>
          <p:nvPr userDrawn="1"/>
        </p:nvSpPr>
        <p:spPr>
          <a:xfrm>
            <a:off x="8383038" y="6492415"/>
            <a:ext cx="303762" cy="206300"/>
          </a:xfrm>
          <a:prstGeom prst="rect">
            <a:avLst/>
          </a:prstGeom>
        </p:spPr>
        <p:txBody>
          <a:bodyPr vert="horz" lIns="0" tIns="0" rIns="0" bIns="0" rtlCol="0" anchor="t"/>
          <a:lstStyle>
            <a:defPPr>
              <a:defRPr lang="en-US"/>
            </a:defPPr>
            <a:lvl1pPr algn="r">
              <a:defRPr sz="800">
                <a:solidFill>
                  <a:srgbClr val="000000"/>
                </a:solidFill>
                <a:latin typeface="Arial"/>
                <a:cs typeface="Arial"/>
              </a:defRPr>
            </a:lvl1pPr>
          </a:lstStyle>
          <a:p>
            <a:fld id="{F0C43F30-722C-E84E-91CE-8605F00C1CC0}" type="slidenum">
              <a:rPr lang="en-US" sz="800" smtClean="0">
                <a:solidFill>
                  <a:prstClr val="black"/>
                </a:solidFill>
              </a:rPr>
              <a:pPr/>
              <a:t>‹#›</a:t>
            </a:fld>
            <a:endParaRPr lang="en-US" sz="800" dirty="0">
              <a:solidFill>
                <a:prstClr val="black"/>
              </a:solidFill>
            </a:endParaRPr>
          </a:p>
        </p:txBody>
      </p:sp>
      <p:sp>
        <p:nvSpPr>
          <p:cNvPr id="2" name="Title Placeholder 1"/>
          <p:cNvSpPr>
            <a:spLocks noGrp="1"/>
          </p:cNvSpPr>
          <p:nvPr>
            <p:ph type="title"/>
          </p:nvPr>
        </p:nvSpPr>
        <p:spPr>
          <a:xfrm>
            <a:off x="520443" y="251491"/>
            <a:ext cx="8001000" cy="922791"/>
          </a:xfrm>
          <a:prstGeom prst="rect">
            <a:avLst/>
          </a:prstGeom>
        </p:spPr>
        <p:txBody>
          <a:bodyPr vert="horz" lIns="0" tIns="0" rIns="0" bIns="0" rtlCol="0" anchor="t">
            <a:noAutofit/>
          </a:bodyPr>
          <a:lstStyle/>
          <a:p>
            <a:r>
              <a:rPr lang="en-US" dirty="0"/>
              <a:t>Click to edit Master </a:t>
            </a:r>
            <a:br>
              <a:rPr lang="en-US" dirty="0"/>
            </a:br>
            <a:r>
              <a:rPr lang="en-US" dirty="0"/>
              <a:t>title style</a:t>
            </a:r>
          </a:p>
        </p:txBody>
      </p:sp>
      <p:sp>
        <p:nvSpPr>
          <p:cNvPr id="3" name="Text Placeholder 2"/>
          <p:cNvSpPr>
            <a:spLocks noGrp="1"/>
          </p:cNvSpPr>
          <p:nvPr>
            <p:ph type="body" idx="1"/>
          </p:nvPr>
        </p:nvSpPr>
        <p:spPr>
          <a:xfrm>
            <a:off x="520443" y="1292207"/>
            <a:ext cx="8001000" cy="481080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7" name="Picture 6" descr="Brightview_tm_rgb.png"/>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667658" y="6227009"/>
            <a:ext cx="1143000" cy="419582"/>
          </a:xfrm>
          <a:prstGeom prst="rect">
            <a:avLst/>
          </a:prstGeom>
        </p:spPr>
      </p:pic>
    </p:spTree>
    <p:extLst>
      <p:ext uri="{BB962C8B-B14F-4D97-AF65-F5344CB8AC3E}">
        <p14:creationId xmlns:p14="http://schemas.microsoft.com/office/powerpoint/2010/main" val="288919141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75" r:id="rId5"/>
  </p:sldLayoutIdLst>
  <p:hf sldNum="0" hdr="0" dt="0"/>
  <p:txStyles>
    <p:titleStyle>
      <a:lvl1pPr algn="l" defTabSz="457200" rtl="0" eaLnBrk="1" latinLnBrk="0" hangingPunct="1">
        <a:spcBef>
          <a:spcPct val="0"/>
        </a:spcBef>
        <a:buNone/>
        <a:defRPr sz="2800" kern="1200">
          <a:solidFill>
            <a:schemeClr val="tx2"/>
          </a:solidFill>
          <a:latin typeface="Arial"/>
          <a:ea typeface="+mj-ea"/>
          <a:cs typeface="Arial"/>
        </a:defRPr>
      </a:lvl1pPr>
    </p:titleStyle>
    <p:bodyStyle>
      <a:lvl1pPr marL="228600" indent="-228600" algn="l" defTabSz="457200" rtl="0" eaLnBrk="1" latinLnBrk="0" hangingPunct="1">
        <a:spcBef>
          <a:spcPct val="20000"/>
        </a:spcBef>
        <a:buClr>
          <a:schemeClr val="bg2"/>
        </a:buClr>
        <a:buFont typeface="Arial"/>
        <a:buChar char="•"/>
        <a:defRPr sz="1800" b="1" kern="1200">
          <a:solidFill>
            <a:schemeClr val="tx1"/>
          </a:solidFill>
          <a:latin typeface="Arial"/>
          <a:ea typeface="+mn-ea"/>
          <a:cs typeface="Arial"/>
        </a:defRPr>
      </a:lvl1pPr>
      <a:lvl2pPr marL="342900" indent="-231775" algn="l" defTabSz="457200" rtl="0" eaLnBrk="1" latinLnBrk="0" hangingPunct="1">
        <a:spcBef>
          <a:spcPct val="20000"/>
        </a:spcBef>
        <a:buClr>
          <a:schemeClr val="bg2"/>
        </a:buClr>
        <a:buFont typeface="Wingdings" panose="05000000000000000000" pitchFamily="2" charset="2"/>
        <a:buChar char="Ø"/>
        <a:defRPr sz="1400" kern="1200">
          <a:solidFill>
            <a:schemeClr val="tx1"/>
          </a:solidFill>
          <a:latin typeface="Arial"/>
          <a:ea typeface="+mn-ea"/>
          <a:cs typeface="Arial"/>
        </a:defRPr>
      </a:lvl2pPr>
      <a:lvl3pPr marL="457200" indent="-231775" algn="l" defTabSz="457200" rtl="0" eaLnBrk="1" latinLnBrk="0" hangingPunct="1">
        <a:spcBef>
          <a:spcPct val="20000"/>
        </a:spcBef>
        <a:buClr>
          <a:schemeClr val="bg2"/>
        </a:buClr>
        <a:buFont typeface="Arial"/>
        <a:buChar char="•"/>
        <a:defRPr sz="1400" kern="1200">
          <a:solidFill>
            <a:schemeClr val="tx1"/>
          </a:solidFill>
          <a:latin typeface="Arial"/>
          <a:ea typeface="+mn-ea"/>
          <a:cs typeface="Arial"/>
        </a:defRPr>
      </a:lvl3pPr>
      <a:lvl4pPr marL="454025" indent="-107950" algn="l" defTabSz="457200" rtl="0" eaLnBrk="1" latinLnBrk="0" hangingPunct="1">
        <a:spcBef>
          <a:spcPct val="20000"/>
        </a:spcBef>
        <a:buClr>
          <a:schemeClr val="bg2"/>
        </a:buClr>
        <a:buFont typeface="Arial"/>
        <a:buChar char="•"/>
        <a:defRPr sz="1400" kern="1200">
          <a:solidFill>
            <a:schemeClr val="tx1"/>
          </a:solidFill>
          <a:latin typeface="Arial"/>
          <a:ea typeface="+mn-ea"/>
          <a:cs typeface="Arial"/>
        </a:defRPr>
      </a:lvl4pPr>
      <a:lvl5pPr marL="571500" indent="-112713" algn="l" defTabSz="457200" rtl="0" eaLnBrk="1" latinLnBrk="0" hangingPunct="1">
        <a:spcBef>
          <a:spcPct val="20000"/>
        </a:spcBef>
        <a:buClr>
          <a:schemeClr val="bg2"/>
        </a:buClr>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57643" y="189001"/>
            <a:ext cx="7362360" cy="515442"/>
          </a:xfrm>
          <a:prstGeom prst="rect">
            <a:avLst/>
          </a:prstGeom>
        </p:spPr>
        <p:txBody>
          <a:bodyPr wrap="square" lIns="0" tIns="0" rIns="0" bIns="0">
            <a:spAutoFit/>
          </a:bodyPr>
          <a:lstStyle>
            <a:lvl1pPr>
              <a:defRPr sz="2650" b="0" i="0">
                <a:solidFill>
                  <a:srgbClr val="0071CE"/>
                </a:solidFill>
                <a:latin typeface="Arial"/>
                <a:cs typeface="Arial"/>
              </a:defRPr>
            </a:lvl1pPr>
          </a:lstStyle>
          <a:p>
            <a:endParaRPr/>
          </a:p>
        </p:txBody>
      </p:sp>
      <p:sp>
        <p:nvSpPr>
          <p:cNvPr id="3" name="Holder 3"/>
          <p:cNvSpPr>
            <a:spLocks noGrp="1"/>
          </p:cNvSpPr>
          <p:nvPr>
            <p:ph type="body" idx="1"/>
          </p:nvPr>
        </p:nvSpPr>
        <p:spPr>
          <a:xfrm>
            <a:off x="257529" y="1244911"/>
            <a:ext cx="5440680" cy="430784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5/20/2026</a:t>
            </a:fld>
            <a:endParaRPr lang="en-US" dirty="0"/>
          </a:p>
        </p:txBody>
      </p:sp>
      <p:sp>
        <p:nvSpPr>
          <p:cNvPr id="6" name="Holder 6"/>
          <p:cNvSpPr>
            <a:spLocks noGrp="1"/>
          </p:cNvSpPr>
          <p:nvPr>
            <p:ph type="sldNum" sz="quarter" idx="7"/>
          </p:nvPr>
        </p:nvSpPr>
        <p:spPr>
          <a:xfrm>
            <a:off x="8535437" y="6485905"/>
            <a:ext cx="201929" cy="140132"/>
          </a:xfrm>
          <a:prstGeom prst="rect">
            <a:avLst/>
          </a:prstGeom>
        </p:spPr>
        <p:txBody>
          <a:bodyPr wrap="square" lIns="0" tIns="0" rIns="0" bIns="0">
            <a:spAutoFit/>
          </a:bodyPr>
          <a:lstStyle>
            <a:lvl1pPr>
              <a:defRPr sz="750" b="0" i="0">
                <a:solidFill>
                  <a:schemeClr val="tx1"/>
                </a:solidFill>
                <a:latin typeface="Arial"/>
                <a:cs typeface="Arial"/>
              </a:defRPr>
            </a:lvl1pPr>
          </a:lstStyle>
          <a:p>
            <a:pPr marL="104775">
              <a:lnSpc>
                <a:spcPts val="735"/>
              </a:lnSpc>
            </a:pPr>
            <a:fld id="{81D60167-4931-47E6-BA6A-407CBD079E47}" type="slidenum">
              <a:rPr sz="650" spc="10" dirty="0">
                <a:solidFill>
                  <a:srgbClr val="7E7E7E"/>
                </a:solidFill>
                <a:latin typeface="Calibri"/>
                <a:cs typeface="Calibri"/>
              </a:rPr>
              <a:t>‹#›</a:t>
            </a:fld>
            <a:endParaRPr sz="650" dirty="0">
              <a:latin typeface="Calibri"/>
              <a:cs typeface="Calibri"/>
            </a:endParaRPr>
          </a:p>
        </p:txBody>
      </p:sp>
    </p:spTree>
    <p:extLst>
      <p:ext uri="{BB962C8B-B14F-4D97-AF65-F5344CB8AC3E}">
        <p14:creationId xmlns:p14="http://schemas.microsoft.com/office/powerpoint/2010/main" val="1024541522"/>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chart" Target="../charts/chart1.xml"/></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 name="object 23">
            <a:extLst>
              <a:ext uri="{FF2B5EF4-FFF2-40B4-BE49-F238E27FC236}">
                <a16:creationId xmlns:a16="http://schemas.microsoft.com/office/drawing/2014/main" id="{BE719D7D-52F9-B4AB-181C-7212AB4EF2A0}"/>
              </a:ext>
            </a:extLst>
          </p:cNvPr>
          <p:cNvGraphicFramePr>
            <a:graphicFrameLocks noGrp="1"/>
          </p:cNvGraphicFramePr>
          <p:nvPr>
            <p:extLst>
              <p:ext uri="{D42A27DB-BD31-4B8C-83A1-F6EECF244321}">
                <p14:modId xmlns:p14="http://schemas.microsoft.com/office/powerpoint/2010/main" val="2448284762"/>
              </p:ext>
            </p:extLst>
          </p:nvPr>
        </p:nvGraphicFramePr>
        <p:xfrm>
          <a:off x="316595" y="970393"/>
          <a:ext cx="5279094" cy="5321537"/>
        </p:xfrm>
        <a:graphic>
          <a:graphicData uri="http://schemas.openxmlformats.org/drawingml/2006/table">
            <a:tbl>
              <a:tblPr firstRow="1" bandRow="1">
                <a:tableStyleId>{2D5ABB26-0587-4C30-8999-92F81FD0307C}</a:tableStyleId>
              </a:tblPr>
              <a:tblGrid>
                <a:gridCol w="1025854">
                  <a:extLst>
                    <a:ext uri="{9D8B030D-6E8A-4147-A177-3AD203B41FA5}">
                      <a16:colId xmlns:a16="http://schemas.microsoft.com/office/drawing/2014/main" val="20000"/>
                    </a:ext>
                  </a:extLst>
                </a:gridCol>
                <a:gridCol w="3095845">
                  <a:extLst>
                    <a:ext uri="{9D8B030D-6E8A-4147-A177-3AD203B41FA5}">
                      <a16:colId xmlns:a16="http://schemas.microsoft.com/office/drawing/2014/main" val="1318938551"/>
                    </a:ext>
                  </a:extLst>
                </a:gridCol>
                <a:gridCol w="1157395">
                  <a:extLst>
                    <a:ext uri="{9D8B030D-6E8A-4147-A177-3AD203B41FA5}">
                      <a16:colId xmlns:a16="http://schemas.microsoft.com/office/drawing/2014/main" val="20001"/>
                    </a:ext>
                  </a:extLst>
                </a:gridCol>
              </a:tblGrid>
              <a:tr h="183638">
                <a:tc gridSpan="2">
                  <a:txBody>
                    <a:bodyPr/>
                    <a:lstStyle/>
                    <a:p>
                      <a:pPr marL="119380">
                        <a:lnSpc>
                          <a:spcPct val="100000"/>
                        </a:lnSpc>
                        <a:spcBef>
                          <a:spcPts val="365"/>
                        </a:spcBef>
                      </a:pPr>
                      <a:r>
                        <a:rPr lang="en-US" sz="1100" b="1" dirty="0">
                          <a:latin typeface="+mj-lt"/>
                          <a:cs typeface="Arial"/>
                        </a:rPr>
                        <a:t>Overall Rating:</a:t>
                      </a:r>
                      <a:endParaRPr sz="1100" dirty="0">
                        <a:latin typeface="+mj-lt"/>
                        <a:cs typeface="Arial"/>
                      </a:endParaRPr>
                    </a:p>
                  </a:txBody>
                  <a:tcPr marL="0" marR="0" marT="46355"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1F1"/>
                    </a:solidFill>
                  </a:tcPr>
                </a:tc>
                <a:tc hMerge="1">
                  <a:txBody>
                    <a:bodyPr/>
                    <a:lstStyle/>
                    <a:p>
                      <a:endParaRPr lang="en-US"/>
                    </a:p>
                  </a:txBody>
                  <a:tcPr/>
                </a:tc>
                <a:tc>
                  <a:txBody>
                    <a:bodyPr/>
                    <a:lstStyle/>
                    <a:p>
                      <a:pPr marL="86995">
                        <a:lnSpc>
                          <a:spcPct val="100000"/>
                        </a:lnSpc>
                        <a:spcBef>
                          <a:spcPts val="330"/>
                        </a:spcBef>
                      </a:pPr>
                      <a:r>
                        <a:rPr lang="en-US" sz="950" b="1" spc="-10" dirty="0">
                          <a:latin typeface="Arial"/>
                          <a:cs typeface="Arial"/>
                        </a:rPr>
                        <a:t>Root Cause(s)</a:t>
                      </a:r>
                      <a:r>
                        <a:rPr sz="950" b="1" spc="-10" dirty="0">
                          <a:latin typeface="Arial"/>
                          <a:cs typeface="Arial"/>
                        </a:rPr>
                        <a:t>:</a:t>
                      </a:r>
                      <a:endParaRPr sz="950" dirty="0">
                        <a:latin typeface="Arial"/>
                        <a:cs typeface="Arial"/>
                      </a:endParaRPr>
                    </a:p>
                  </a:txBody>
                  <a:tcPr marL="0" marR="0" marT="41910"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1F1"/>
                    </a:solidFill>
                  </a:tcPr>
                </a:tc>
                <a:extLst>
                  <a:ext uri="{0D108BD9-81ED-4DB2-BD59-A6C34878D82A}">
                    <a16:rowId xmlns:a16="http://schemas.microsoft.com/office/drawing/2014/main" val="10000"/>
                  </a:ext>
                </a:extLst>
              </a:tr>
              <a:tr h="346569">
                <a:tc rowSpan="5" gridSpan="2">
                  <a:txBody>
                    <a:bodyPr/>
                    <a:lstStyle/>
                    <a:p>
                      <a:endParaRPr dirty="0"/>
                    </a:p>
                  </a:txBody>
                  <a:tcPr marL="0" marR="0" marT="635" marB="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rowSpan="5" hMerge="1">
                  <a:txBody>
                    <a:bodyPr/>
                    <a:lstStyle/>
                    <a:p>
                      <a:endParaRPr lang="en-US"/>
                    </a:p>
                  </a:txBody>
                  <a:tcPr/>
                </a:tc>
                <a:tc>
                  <a:txBody>
                    <a:bodyPr/>
                    <a:lstStyle/>
                    <a:p>
                      <a:pPr algn="ctr">
                        <a:lnSpc>
                          <a:spcPct val="100000"/>
                        </a:lnSpc>
                        <a:spcBef>
                          <a:spcPts val="335"/>
                        </a:spcBef>
                      </a:pPr>
                      <a:r>
                        <a:rPr lang="en-US" sz="900" dirty="0">
                          <a:latin typeface="Arial"/>
                          <a:cs typeface="Arial"/>
                        </a:rPr>
                        <a:t>Non-compliance</a:t>
                      </a:r>
                    </a:p>
                    <a:p>
                      <a:pPr algn="ctr">
                        <a:lnSpc>
                          <a:spcPct val="100000"/>
                        </a:lnSpc>
                        <a:spcBef>
                          <a:spcPts val="335"/>
                        </a:spcBef>
                      </a:pPr>
                      <a:r>
                        <a:rPr lang="en-US" sz="900" dirty="0">
                          <a:latin typeface="Arial"/>
                          <a:cs typeface="Arial"/>
                        </a:rPr>
                        <a:t>Turnover</a:t>
                      </a:r>
                    </a:p>
                  </a:txBody>
                  <a:tcPr marL="45720" marR="4572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02710">
                <a:tc gridSpan="2" vMerge="1">
                  <a:txBody>
                    <a:bodyPr/>
                    <a:lstStyle/>
                    <a:p>
                      <a:endParaRPr/>
                    </a:p>
                  </a:txBody>
                  <a:tcPr marL="0" marR="0" marT="635" marB="0">
                    <a:lnL w="9525">
                      <a:solidFill>
                        <a:srgbClr val="D9D9D9"/>
                      </a:solidFill>
                      <a:prstDash val="solid"/>
                    </a:lnL>
                    <a:lnR w="19050"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a:solidFill>
                        <a:srgbClr val="D9D9D9"/>
                      </a:solidFill>
                      <a:prstDash val="solid"/>
                    </a:lnB>
                  </a:tcPr>
                </a:tc>
                <a:tc hMerge="1" vMerge="1">
                  <a:txBody>
                    <a:bodyPr/>
                    <a:lstStyle/>
                    <a:p>
                      <a:endParaRPr lang="en-US"/>
                    </a:p>
                  </a:txBody>
                  <a:tcPr/>
                </a:tc>
                <a:tc>
                  <a:txBody>
                    <a:bodyPr/>
                    <a:lstStyle/>
                    <a:p>
                      <a:pPr marL="136525" algn="l">
                        <a:lnSpc>
                          <a:spcPct val="100000"/>
                        </a:lnSpc>
                        <a:spcBef>
                          <a:spcPts val="330"/>
                        </a:spcBef>
                      </a:pPr>
                      <a:r>
                        <a:rPr lang="en-US" sz="950" b="1" dirty="0">
                          <a:latin typeface="Arial"/>
                          <a:cs typeface="Arial"/>
                        </a:rPr>
                        <a:t>Action Plan(s):</a:t>
                      </a:r>
                      <a:endParaRPr sz="950" dirty="0">
                        <a:latin typeface="Arial"/>
                        <a:cs typeface="Arial"/>
                      </a:endParaRP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1F1F1"/>
                    </a:solidFill>
                  </a:tcPr>
                </a:tc>
                <a:extLst>
                  <a:ext uri="{0D108BD9-81ED-4DB2-BD59-A6C34878D82A}">
                    <a16:rowId xmlns:a16="http://schemas.microsoft.com/office/drawing/2014/main" val="10005"/>
                  </a:ext>
                </a:extLst>
              </a:tr>
              <a:tr h="196171">
                <a:tc gridSpan="2" vMerge="1">
                  <a:txBody>
                    <a:bodyPr/>
                    <a:lstStyle/>
                    <a:p>
                      <a:endParaRPr/>
                    </a:p>
                  </a:txBody>
                  <a:tcPr marL="0" marR="0" marT="635" marB="0">
                    <a:lnL w="9525">
                      <a:solidFill>
                        <a:srgbClr val="D9D9D9"/>
                      </a:solidFill>
                      <a:prstDash val="solid"/>
                    </a:lnL>
                    <a:lnR w="19050"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a:solidFill>
                        <a:srgbClr val="D9D9D9"/>
                      </a:solidFill>
                      <a:prstDash val="solid"/>
                    </a:lnB>
                  </a:tcPr>
                </a:tc>
                <a:tc hMerge="1" vMerge="1">
                  <a:txBody>
                    <a:bodyPr/>
                    <a:lstStyle/>
                    <a:p>
                      <a:endParaRPr lang="en-US"/>
                    </a:p>
                  </a:txBody>
                  <a:tcPr/>
                </a:tc>
                <a:tc>
                  <a:txBody>
                    <a:bodyPr/>
                    <a:lstStyle/>
                    <a:p>
                      <a:pPr marL="0" marR="0" lvl="0" indent="0" algn="ctr" defTabSz="914400" eaLnBrk="1" fontAlgn="auto" latinLnBrk="0" hangingPunct="1">
                        <a:lnSpc>
                          <a:spcPct val="100000"/>
                        </a:lnSpc>
                        <a:spcBef>
                          <a:spcPts val="55"/>
                        </a:spcBef>
                        <a:spcAft>
                          <a:spcPts val="0"/>
                        </a:spcAft>
                        <a:buClrTx/>
                        <a:buSzTx/>
                        <a:buFont typeface="Arial" panose="020B0604020202020204" pitchFamily="34" charset="0"/>
                        <a:buNone/>
                        <a:tabLst/>
                        <a:defRPr/>
                      </a:pPr>
                      <a:r>
                        <a:rPr lang="en-US" sz="900" dirty="0">
                          <a:latin typeface="Arial"/>
                          <a:cs typeface="Arial"/>
                        </a:rPr>
                        <a:t>Branch led training</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196171">
                <a:tc gridSpan="2" vMerge="1">
                  <a:txBody>
                    <a:bodyPr/>
                    <a:lstStyle/>
                    <a:p>
                      <a:endParaRPr lang="en-US"/>
                    </a:p>
                  </a:txBody>
                  <a:tcPr/>
                </a:tc>
                <a:tc hMerge="1" vMerge="1">
                  <a:txBody>
                    <a:bodyPr/>
                    <a:lstStyle/>
                    <a:p>
                      <a:endParaRPr lang="en-US"/>
                    </a:p>
                  </a:txBody>
                  <a:tcPr/>
                </a:tc>
                <a:tc>
                  <a:txBody>
                    <a:bodyPr/>
                    <a:lstStyle/>
                    <a:p>
                      <a:pPr marL="136525" algn="ctr">
                        <a:lnSpc>
                          <a:spcPct val="100000"/>
                        </a:lnSpc>
                        <a:spcBef>
                          <a:spcPts val="330"/>
                        </a:spcBef>
                      </a:pPr>
                      <a:r>
                        <a:rPr lang="en-US" sz="900" b="1" dirty="0">
                          <a:latin typeface="Arial"/>
                          <a:cs typeface="Arial"/>
                        </a:rPr>
                        <a:t>Auditor(s):</a:t>
                      </a:r>
                      <a:endParaRPr lang="en-US" sz="900" dirty="0">
                        <a:latin typeface="Arial"/>
                        <a:cs typeface="Arial"/>
                      </a:endParaRP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159105029"/>
                  </a:ext>
                </a:extLst>
              </a:tr>
              <a:tr h="252960">
                <a:tc gridSpan="2" vMerge="1">
                  <a:txBody>
                    <a:bodyPr/>
                    <a:lstStyle/>
                    <a:p>
                      <a:endParaRPr lang="en-US"/>
                    </a:p>
                  </a:txBody>
                  <a:tcPr/>
                </a:tc>
                <a:tc hMerge="1" vMerge="1">
                  <a:txBody>
                    <a:bodyPr/>
                    <a:lstStyle/>
                    <a:p>
                      <a:endParaRPr lang="en-US"/>
                    </a:p>
                  </a:txBody>
                  <a:tcPr/>
                </a:tc>
                <a:tc>
                  <a:txBody>
                    <a:bodyPr/>
                    <a:lstStyle/>
                    <a:p>
                      <a:pPr marL="0" indent="0" algn="ctr">
                        <a:lnSpc>
                          <a:spcPct val="100000"/>
                        </a:lnSpc>
                        <a:spcBef>
                          <a:spcPts val="55"/>
                        </a:spcBef>
                        <a:buFont typeface="Arial" panose="020B0604020202020204" pitchFamily="34" charset="0"/>
                        <a:buNone/>
                      </a:pPr>
                      <a:r>
                        <a:rPr lang="en-US" sz="900" dirty="0">
                          <a:latin typeface="Arial"/>
                          <a:cs typeface="Arial"/>
                        </a:rPr>
                        <a:t>Yumee Song</a:t>
                      </a: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288721611"/>
                  </a:ext>
                </a:extLst>
              </a:tr>
              <a:tr h="131326">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mn-lt"/>
                          <a:ea typeface="+mn-ea"/>
                          <a:cs typeface="Arial"/>
                        </a:rPr>
                        <a:t>Risk Area</a:t>
                      </a:r>
                      <a:endParaRPr lang="en-US" sz="1800" b="1" dirty="0">
                        <a:solidFill>
                          <a:schemeClr val="tx1"/>
                        </a:solidFill>
                        <a:latin typeface="+mn-lt"/>
                        <a:ea typeface="+mn-ea"/>
                        <a:cs typeface="Arial"/>
                      </a:endParaRP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00" b="1" dirty="0">
                          <a:solidFill>
                            <a:schemeClr val="tx1"/>
                          </a:solidFill>
                          <a:latin typeface="+mn-lt"/>
                          <a:ea typeface="+mn-ea"/>
                          <a:cs typeface="Arial"/>
                        </a:rPr>
                        <a:t>Summary of Observations</a:t>
                      </a: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pPr marL="0" indent="0" algn="ctr">
                        <a:lnSpc>
                          <a:spcPct val="100000"/>
                        </a:lnSpc>
                        <a:spcBef>
                          <a:spcPts val="55"/>
                        </a:spcBef>
                        <a:buFont typeface="Arial" panose="020B0604020202020204" pitchFamily="34" charset="0"/>
                        <a:buNone/>
                      </a:pPr>
                      <a:endParaRPr lang="en-US" sz="900" dirty="0">
                        <a:latin typeface="Arial"/>
                        <a:cs typeface="Arial"/>
                      </a:endParaRPr>
                    </a:p>
                  </a:txBody>
                  <a:tcPr marL="45720" marR="4572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2533993281"/>
                  </a:ext>
                </a:extLst>
              </a:tr>
              <a:tr h="1177573">
                <a:tc>
                  <a:txBody>
                    <a:bodyPr/>
                    <a:lstStyle/>
                    <a:p>
                      <a:pPr algn="ctr">
                        <a:lnSpc>
                          <a:spcPct val="100000"/>
                        </a:lnSpc>
                      </a:pPr>
                      <a:r>
                        <a:rPr sz="1050" b="1" spc="-10" dirty="0">
                          <a:latin typeface="+mj-lt"/>
                          <a:cs typeface="Arial"/>
                        </a:rPr>
                        <a:t>Financial</a:t>
                      </a:r>
                      <a:endParaRPr sz="1050" dirty="0">
                        <a:latin typeface="+mj-lt"/>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TCPV review to make corrections to billing schedules and service plans timely.</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Failure to cancel Service Plan in BVE1 in a timely manner </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PO approvals due to bypassing workflow</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T&amp;E policy due to insufficient receipt support and incorrect GL coding.</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AR policy (‘AR Collection, Notes, Unapplied, Statements’) to update E1 notes for invoices aged over 60 days.</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Failure to bill ancillary work timely.</a:t>
                      </a:r>
                    </a:p>
                    <a:p>
                      <a:pPr marL="262255" marR="260985"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Incorrect sales taxability assessment.</a:t>
                      </a: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dirty="0"/>
                    </a:p>
                  </a:txBody>
                  <a:tcPr/>
                </a:tc>
                <a:extLst>
                  <a:ext uri="{0D108BD9-81ED-4DB2-BD59-A6C34878D82A}">
                    <a16:rowId xmlns:a16="http://schemas.microsoft.com/office/drawing/2014/main" val="3980683581"/>
                  </a:ext>
                </a:extLst>
              </a:tr>
              <a:tr h="471356">
                <a:tc>
                  <a:txBody>
                    <a:bodyPr/>
                    <a:lstStyle/>
                    <a:p>
                      <a:pPr algn="ctr">
                        <a:lnSpc>
                          <a:spcPct val="100000"/>
                        </a:lnSpc>
                      </a:pPr>
                      <a:r>
                        <a:rPr lang="en-US" sz="1050" b="1" spc="-10" dirty="0">
                          <a:latin typeface="+mj-lt"/>
                          <a:cs typeface="Arial"/>
                        </a:rPr>
                        <a:t>Operational</a:t>
                      </a:r>
                      <a:endParaRPr sz="1050" dirty="0">
                        <a:latin typeface="+mj-lt"/>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Failure of approval of the Time and Pay report by the Branch Manager</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Non-compliance with Operations Manager Training guide to document employee and supervisor approvals for changes in hours.</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Failure to refresh overdue Estimates.</a:t>
                      </a: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4067910546"/>
                  </a:ext>
                </a:extLst>
              </a:tr>
              <a:tr h="706762">
                <a:tc>
                  <a:txBody>
                    <a:bodyPr/>
                    <a:lstStyle/>
                    <a:p>
                      <a:pPr algn="ctr">
                        <a:lnSpc>
                          <a:spcPct val="100000"/>
                        </a:lnSpc>
                      </a:pPr>
                      <a:r>
                        <a:rPr lang="en-US" sz="1050" b="1" spc="-10" dirty="0">
                          <a:latin typeface="+mj-lt"/>
                          <a:cs typeface="Arial"/>
                        </a:rPr>
                        <a:t>Compliance</a:t>
                      </a:r>
                      <a:endParaRPr sz="1050" dirty="0">
                        <a:latin typeface="+mj-lt"/>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‘Fixed Asset Disposal’ and ‘Barcode’ Policy</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Failure to adhere to IT Account Disable policy</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Personnel File Policy.</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the Company Vehicle Policy to renew expired registrations</a:t>
                      </a: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412339178"/>
                  </a:ext>
                </a:extLst>
              </a:tr>
              <a:tr h="706762">
                <a:tc>
                  <a:txBody>
                    <a:bodyPr/>
                    <a:lstStyle/>
                    <a:p>
                      <a:pPr algn="ctr">
                        <a:lnSpc>
                          <a:spcPct val="100000"/>
                        </a:lnSpc>
                      </a:pPr>
                      <a:r>
                        <a:rPr lang="en-US" sz="1050" b="1" spc="-10" dirty="0">
                          <a:latin typeface="+mj-lt"/>
                          <a:cs typeface="Arial"/>
                        </a:rPr>
                        <a:t>Safety/HR</a:t>
                      </a:r>
                      <a:endParaRPr sz="1050" dirty="0">
                        <a:latin typeface="+mj-lt"/>
                        <a:cs typeface="Arial"/>
                      </a:endParaRPr>
                    </a:p>
                  </a:txBody>
                  <a:tcPr marL="0" marR="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gridSpan="2">
                  <a:txBody>
                    <a:bodyPr/>
                    <a:lstStyle/>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Non-compliance with BEHSP-054 Accident Reporting Policy to report incidents promptly in Riskonnect.</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Non-compliance with BrightPath Safety Policies. </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Non-compliance with posting of mandatory internal and regulatory posters at the branch. </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Times New Roman"/>
                        </a:rPr>
                        <a:t>Non-compliance with DVIR requirements </a:t>
                      </a:r>
                    </a:p>
                    <a:p>
                      <a:pPr marL="262255" marR="499109"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900" dirty="0">
                          <a:solidFill>
                            <a:schemeClr val="tx1"/>
                          </a:solidFill>
                          <a:latin typeface="+mn-lt"/>
                          <a:ea typeface="+mn-ea"/>
                          <a:cs typeface="Arial"/>
                        </a:rPr>
                        <a:t>Non-compliance with required driver qualification documentation.</a:t>
                      </a:r>
                    </a:p>
                  </a:txBody>
                  <a:tcPr marL="0" marR="0" marT="63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1135488596"/>
                  </a:ext>
                </a:extLst>
              </a:tr>
            </a:tbl>
          </a:graphicData>
        </a:graphic>
      </p:graphicFrame>
      <p:graphicFrame>
        <p:nvGraphicFramePr>
          <p:cNvPr id="12" name="Table 11">
            <a:extLst>
              <a:ext uri="{FF2B5EF4-FFF2-40B4-BE49-F238E27FC236}">
                <a16:creationId xmlns:a16="http://schemas.microsoft.com/office/drawing/2014/main" id="{DFD583F1-2640-E4DD-8966-C0F2AF183CA2}"/>
              </a:ext>
            </a:extLst>
          </p:cNvPr>
          <p:cNvGraphicFramePr>
            <a:graphicFrameLocks noGrp="1"/>
          </p:cNvGraphicFramePr>
          <p:nvPr>
            <p:extLst>
              <p:ext uri="{D42A27DB-BD31-4B8C-83A1-F6EECF244321}">
                <p14:modId xmlns:p14="http://schemas.microsoft.com/office/powerpoint/2010/main" val="816987573"/>
              </p:ext>
            </p:extLst>
          </p:nvPr>
        </p:nvGraphicFramePr>
        <p:xfrm>
          <a:off x="5643631" y="1022734"/>
          <a:ext cx="3192459" cy="4571999"/>
        </p:xfrm>
        <a:graphic>
          <a:graphicData uri="http://schemas.openxmlformats.org/drawingml/2006/table">
            <a:tbl>
              <a:tblPr firstRow="1" bandRow="1">
                <a:tableStyleId>{5C22544A-7EE6-4342-B048-85BDC9FD1C3A}</a:tableStyleId>
              </a:tblPr>
              <a:tblGrid>
                <a:gridCol w="1065157">
                  <a:extLst>
                    <a:ext uri="{9D8B030D-6E8A-4147-A177-3AD203B41FA5}">
                      <a16:colId xmlns:a16="http://schemas.microsoft.com/office/drawing/2014/main" val="787633203"/>
                    </a:ext>
                  </a:extLst>
                </a:gridCol>
                <a:gridCol w="1065157">
                  <a:extLst>
                    <a:ext uri="{9D8B030D-6E8A-4147-A177-3AD203B41FA5}">
                      <a16:colId xmlns:a16="http://schemas.microsoft.com/office/drawing/2014/main" val="4231023191"/>
                    </a:ext>
                  </a:extLst>
                </a:gridCol>
                <a:gridCol w="1062145">
                  <a:extLst>
                    <a:ext uri="{9D8B030D-6E8A-4147-A177-3AD203B41FA5}">
                      <a16:colId xmlns:a16="http://schemas.microsoft.com/office/drawing/2014/main" val="1394620428"/>
                    </a:ext>
                  </a:extLst>
                </a:gridCol>
              </a:tblGrid>
              <a:tr h="401143">
                <a:tc gridSpan="3">
                  <a:txBody>
                    <a:bodyPr/>
                    <a:lstStyle/>
                    <a:p>
                      <a:pPr algn="ctr"/>
                      <a:r>
                        <a:rPr lang="en-US" sz="1100" dirty="0">
                          <a:solidFill>
                            <a:schemeClr val="tx1"/>
                          </a:solidFill>
                          <a:latin typeface="+mj-lt"/>
                        </a:rPr>
                        <a:t>Weight by Risk Areas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1543331667"/>
                  </a:ext>
                </a:extLst>
              </a:tr>
              <a:tr h="1488629">
                <a:tc gridSpan="3">
                  <a:txBody>
                    <a:bodyPr/>
                    <a:lstStyle/>
                    <a:p>
                      <a:endParaRPr lang="en-US" sz="1100" dirty="0">
                        <a:latin typeface="+mj-lt"/>
                      </a:endParaRP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594930655"/>
                  </a:ext>
                </a:extLst>
              </a:tr>
              <a:tr h="264236">
                <a:tc gridSpan="3">
                  <a:txBody>
                    <a:bodyPr/>
                    <a:lstStyle/>
                    <a:p>
                      <a:pPr algn="ctr"/>
                      <a:r>
                        <a:rPr lang="en-US" sz="1100" b="1" dirty="0">
                          <a:latin typeface="+mj-lt"/>
                        </a:rPr>
                        <a:t>Audit Results by Risk Area</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850898666"/>
                  </a:ext>
                </a:extLst>
              </a:tr>
              <a:tr h="265344">
                <a:tc>
                  <a:txBody>
                    <a:bodyPr/>
                    <a:lstStyle/>
                    <a:p>
                      <a:pPr algn="ctr"/>
                      <a:r>
                        <a:rPr lang="en-US" sz="1050" b="1" dirty="0">
                          <a:latin typeface="+mj-lt"/>
                        </a:rPr>
                        <a:t>Area</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050" b="1" dirty="0">
                          <a:latin typeface="+mj-lt"/>
                        </a:rPr>
                        <a:t>Score</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r>
                        <a:rPr lang="en-US" sz="1050" b="1" dirty="0">
                          <a:latin typeface="+mj-lt"/>
                        </a:rPr>
                        <a:t>Rating</a:t>
                      </a:r>
                    </a:p>
                  </a:txBody>
                  <a:tcP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3587769"/>
                  </a:ext>
                </a:extLst>
              </a:tr>
              <a:tr h="483519">
                <a:tc>
                  <a:txBody>
                    <a:bodyPr/>
                    <a:lstStyle/>
                    <a:p>
                      <a:pPr algn="ctr"/>
                      <a:r>
                        <a:rPr lang="en-US" sz="1050" dirty="0">
                          <a:latin typeface="+mj-lt"/>
                        </a:rPr>
                        <a:t>Financial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1100" b="1" i="0" u="none" strike="noStrike">
                          <a:solidFill>
                            <a:schemeClr val="tx1"/>
                          </a:solidFill>
                          <a:effectLst/>
                          <a:latin typeface="+mn-lt"/>
                          <a:ea typeface="+mn-ea"/>
                          <a:cs typeface="+mn-cs"/>
                        </a:rPr>
                        <a:t>68%</a:t>
                      </a:r>
                      <a:endParaRPr lang="en-US" sz="1100" b="1" i="0" u="none" strike="noStrike" baseline="30000" dirty="0">
                        <a:solidFill>
                          <a:schemeClr val="tx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050" b="1" dirty="0">
                          <a:solidFill>
                            <a:schemeClr val="bg1"/>
                          </a:solidFill>
                          <a:latin typeface="+mn-lt"/>
                          <a:ea typeface="+mn-ea"/>
                          <a:cs typeface="+mn-cs"/>
                        </a:rPr>
                        <a:t>Needs Improvement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027766021"/>
                  </a:ext>
                </a:extLst>
              </a:tr>
              <a:tr h="556376">
                <a:tc>
                  <a:txBody>
                    <a:bodyPr/>
                    <a:lstStyle/>
                    <a:p>
                      <a:pPr algn="ctr"/>
                      <a:r>
                        <a:rPr lang="en-US" sz="1050" dirty="0">
                          <a:latin typeface="+mj-lt"/>
                        </a:rPr>
                        <a:t>Operational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1100" b="1" i="0" u="none" strike="noStrike">
                          <a:solidFill>
                            <a:schemeClr val="tx1"/>
                          </a:solidFill>
                          <a:effectLst/>
                          <a:latin typeface="+mn-lt"/>
                          <a:ea typeface="+mn-ea"/>
                          <a:cs typeface="+mn-cs"/>
                        </a:rPr>
                        <a:t>76%</a:t>
                      </a:r>
                      <a:endParaRPr lang="en-US" sz="1100" b="1" i="0" u="none" strike="noStrike" baseline="30000" dirty="0">
                        <a:solidFill>
                          <a:schemeClr val="tx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050" b="1" dirty="0">
                          <a:solidFill>
                            <a:schemeClr val="bg1"/>
                          </a:solidFill>
                          <a:latin typeface="+mn-lt"/>
                          <a:ea typeface="+mn-ea"/>
                          <a:cs typeface="+mn-cs"/>
                        </a:rPr>
                        <a:t>Needs Improvement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948247621"/>
                  </a:ext>
                </a:extLst>
              </a:tr>
              <a:tr h="556376">
                <a:tc>
                  <a:txBody>
                    <a:bodyPr/>
                    <a:lstStyle/>
                    <a:p>
                      <a:pPr algn="ctr"/>
                      <a:r>
                        <a:rPr lang="en-US" sz="1050" dirty="0">
                          <a:solidFill>
                            <a:schemeClr val="dk1"/>
                          </a:solidFill>
                          <a:latin typeface="+mn-lt"/>
                          <a:ea typeface="+mn-ea"/>
                          <a:cs typeface="+mn-cs"/>
                        </a:rPr>
                        <a:t>Compliance</a:t>
                      </a:r>
                      <a:endParaRPr lang="en-US" sz="1050" dirty="0">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1100" b="1" i="0" u="none" strike="noStrike">
                          <a:solidFill>
                            <a:schemeClr val="tx1"/>
                          </a:solidFill>
                          <a:effectLst/>
                          <a:latin typeface="+mn-lt"/>
                          <a:ea typeface="+mn-ea"/>
                          <a:cs typeface="+mn-cs"/>
                        </a:rPr>
                        <a:t>55%</a:t>
                      </a:r>
                      <a:endParaRPr lang="en-US" sz="1100" b="1" i="0" u="none" strike="noStrike" baseline="30000" dirty="0">
                        <a:solidFill>
                          <a:schemeClr val="tx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050" b="1" dirty="0">
                          <a:solidFill>
                            <a:schemeClr val="bg1"/>
                          </a:solidFill>
                          <a:latin typeface="+mn-lt"/>
                          <a:ea typeface="+mn-ea"/>
                          <a:cs typeface="+mn-cs"/>
                        </a:rPr>
                        <a:t>Unsatisfactory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307886330"/>
                  </a:ext>
                </a:extLst>
              </a:tr>
              <a:tr h="556376">
                <a:tc>
                  <a:txBody>
                    <a:bodyPr/>
                    <a:lstStyle/>
                    <a:p>
                      <a:pPr algn="ctr"/>
                      <a:r>
                        <a:rPr lang="en-US" sz="1050" dirty="0">
                          <a:latin typeface="+mj-lt"/>
                        </a:rPr>
                        <a:t>Safety / HR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fontAlgn="ctr"/>
                      <a:r>
                        <a:rPr lang="en-US" sz="1100" b="1" i="0" u="none" strike="noStrike" dirty="0">
                          <a:solidFill>
                            <a:schemeClr val="tx1"/>
                          </a:solidFill>
                          <a:effectLst/>
                          <a:latin typeface="+mn-lt"/>
                          <a:ea typeface="+mn-ea"/>
                          <a:cs typeface="+mn-cs"/>
                        </a:rPr>
                        <a:t>41%</a:t>
                      </a:r>
                      <a:endParaRPr lang="en-US" sz="1100" b="1" i="0" u="none" strike="noStrike" baseline="30000" dirty="0">
                        <a:solidFill>
                          <a:schemeClr val="tx1"/>
                        </a:solidFill>
                        <a:effectLst/>
                        <a:latin typeface="+mn-lt"/>
                        <a:ea typeface="+mn-ea"/>
                        <a:cs typeface="+mn-cs"/>
                      </a:endParaRPr>
                    </a:p>
                  </a:txBody>
                  <a:tcPr marL="6350" marR="6350" marT="635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algn="ctr"/>
                      <a:r>
                        <a:rPr lang="en-US" sz="1050" b="1" dirty="0">
                          <a:solidFill>
                            <a:schemeClr val="bg1"/>
                          </a:solidFill>
                          <a:latin typeface="+mn-lt"/>
                          <a:ea typeface="+mn-ea"/>
                          <a:cs typeface="+mn-cs"/>
                        </a:rPr>
                        <a:t>Unsatisfactory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769654298"/>
                  </a:ext>
                </a:extLst>
              </a:tr>
            </a:tbl>
          </a:graphicData>
        </a:graphic>
      </p:graphicFrame>
      <p:pic>
        <p:nvPicPr>
          <p:cNvPr id="3" name="object 3"/>
          <p:cNvPicPr/>
          <p:nvPr/>
        </p:nvPicPr>
        <p:blipFill>
          <a:blip r:embed="rId3" cstate="print"/>
          <a:stretch>
            <a:fillRect/>
          </a:stretch>
        </p:blipFill>
        <p:spPr>
          <a:xfrm>
            <a:off x="667512" y="6227064"/>
            <a:ext cx="1142999" cy="419099"/>
          </a:xfrm>
          <a:prstGeom prst="rect">
            <a:avLst/>
          </a:prstGeom>
        </p:spPr>
      </p:pic>
      <p:sp>
        <p:nvSpPr>
          <p:cNvPr id="4" name="object 4"/>
          <p:cNvSpPr/>
          <p:nvPr/>
        </p:nvSpPr>
        <p:spPr>
          <a:xfrm>
            <a:off x="316991" y="607136"/>
            <a:ext cx="8510270" cy="367665"/>
          </a:xfrm>
          <a:custGeom>
            <a:avLst/>
            <a:gdLst/>
            <a:ahLst/>
            <a:cxnLst/>
            <a:rect l="l" t="t" r="r" b="b"/>
            <a:pathLst>
              <a:path w="8510270" h="463550">
                <a:moveTo>
                  <a:pt x="1645920" y="232410"/>
                </a:moveTo>
                <a:lnTo>
                  <a:pt x="1415034" y="1524"/>
                </a:lnTo>
                <a:lnTo>
                  <a:pt x="0" y="1524"/>
                </a:lnTo>
                <a:lnTo>
                  <a:pt x="0" y="463296"/>
                </a:lnTo>
                <a:lnTo>
                  <a:pt x="1415034" y="463296"/>
                </a:lnTo>
                <a:lnTo>
                  <a:pt x="1645920" y="232410"/>
                </a:lnTo>
                <a:close/>
              </a:path>
              <a:path w="8510270" h="463550">
                <a:moveTo>
                  <a:pt x="8510016" y="0"/>
                </a:moveTo>
                <a:lnTo>
                  <a:pt x="1473708" y="0"/>
                </a:lnTo>
                <a:lnTo>
                  <a:pt x="1710245" y="230886"/>
                </a:lnTo>
                <a:lnTo>
                  <a:pt x="1473708" y="461772"/>
                </a:lnTo>
                <a:lnTo>
                  <a:pt x="8510016" y="461772"/>
                </a:lnTo>
                <a:lnTo>
                  <a:pt x="8510016" y="0"/>
                </a:lnTo>
                <a:close/>
              </a:path>
            </a:pathLst>
          </a:custGeom>
          <a:solidFill>
            <a:srgbClr val="D9D9D9"/>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5" name="object 5"/>
          <p:cNvSpPr/>
          <p:nvPr/>
        </p:nvSpPr>
        <p:spPr>
          <a:xfrm>
            <a:off x="316595" y="240302"/>
            <a:ext cx="5928360" cy="318902"/>
          </a:xfrm>
          <a:custGeom>
            <a:avLst/>
            <a:gdLst/>
            <a:ahLst/>
            <a:cxnLst/>
            <a:rect l="l" t="t" r="r" b="b"/>
            <a:pathLst>
              <a:path w="5928360" h="367665">
                <a:moveTo>
                  <a:pt x="5744718" y="0"/>
                </a:moveTo>
                <a:lnTo>
                  <a:pt x="0" y="0"/>
                </a:lnTo>
                <a:lnTo>
                  <a:pt x="0" y="367284"/>
                </a:lnTo>
                <a:lnTo>
                  <a:pt x="5744718" y="367284"/>
                </a:lnTo>
                <a:lnTo>
                  <a:pt x="5928360" y="183642"/>
                </a:lnTo>
                <a:lnTo>
                  <a:pt x="5744718" y="0"/>
                </a:lnTo>
                <a:close/>
              </a:path>
            </a:pathLst>
          </a:custGeom>
          <a:solidFill>
            <a:srgbClr val="006FC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473862" y="295569"/>
            <a:ext cx="6175033" cy="197490"/>
          </a:xfrm>
          <a:prstGeom prst="rect">
            <a:avLst/>
          </a:prstGeom>
        </p:spPr>
        <p:txBody>
          <a:bodyPr vert="horz" wrap="square" lIns="0" tIns="1270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kumimoji="0" lang="en-US" sz="12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Branch Audit – Report – February 2026</a:t>
            </a:r>
          </a:p>
        </p:txBody>
      </p:sp>
      <p:sp>
        <p:nvSpPr>
          <p:cNvPr id="7" name="object 7"/>
          <p:cNvSpPr txBox="1"/>
          <p:nvPr/>
        </p:nvSpPr>
        <p:spPr>
          <a:xfrm>
            <a:off x="396374" y="762114"/>
            <a:ext cx="1142365" cy="208279"/>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ysClr val="windowText" lastClr="000000"/>
                </a:solidFill>
                <a:effectLst/>
                <a:uLnTx/>
                <a:uFillTx/>
                <a:latin typeface="Arial"/>
                <a:cs typeface="Arial"/>
              </a:rPr>
              <a:t>Audit</a:t>
            </a:r>
            <a:r>
              <a:rPr kumimoji="0" sz="1200" b="1" i="0" u="none" strike="noStrike" kern="0" cap="none" spc="-5" normalizeH="0" baseline="0" noProof="0" dirty="0">
                <a:ln>
                  <a:noFill/>
                </a:ln>
                <a:solidFill>
                  <a:sysClr val="windowText" lastClr="000000"/>
                </a:solidFill>
                <a:effectLst/>
                <a:uLnTx/>
                <a:uFillTx/>
                <a:latin typeface="Arial"/>
                <a:cs typeface="Arial"/>
              </a:rPr>
              <a:t> </a:t>
            </a:r>
            <a:r>
              <a:rPr kumimoji="0" sz="1200" b="1" i="0" u="none" strike="noStrike" kern="0" cap="none" spc="-10" normalizeH="0" baseline="0" noProof="0" dirty="0">
                <a:ln>
                  <a:noFill/>
                </a:ln>
                <a:solidFill>
                  <a:sysClr val="windowText" lastClr="000000"/>
                </a:solidFill>
                <a:effectLst/>
                <a:uLnTx/>
                <a:uFillTx/>
                <a:latin typeface="Arial"/>
                <a:cs typeface="Arial"/>
              </a:rPr>
              <a:t>Objective</a:t>
            </a:r>
            <a:endParaRPr kumimoji="0" sz="1200" b="0" i="0" u="none" strike="noStrike" kern="0" cap="none" spc="0" normalizeH="0" baseline="0" noProof="0" dirty="0">
              <a:ln>
                <a:noFill/>
              </a:ln>
              <a:solidFill>
                <a:sysClr val="windowText" lastClr="000000"/>
              </a:solidFill>
              <a:effectLst/>
              <a:uLnTx/>
              <a:uFillTx/>
              <a:latin typeface="Arial"/>
              <a:cs typeface="Arial"/>
            </a:endParaRPr>
          </a:p>
        </p:txBody>
      </p:sp>
      <p:sp>
        <p:nvSpPr>
          <p:cNvPr id="8" name="object 8"/>
          <p:cNvSpPr txBox="1"/>
          <p:nvPr/>
        </p:nvSpPr>
        <p:spPr>
          <a:xfrm>
            <a:off x="2147579" y="610602"/>
            <a:ext cx="6506845" cy="351378"/>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100" b="0" i="0" u="none" strike="noStrike" kern="0" cap="none" spc="-50" normalizeH="0" baseline="0" noProof="0" dirty="0">
                <a:ln>
                  <a:noFill/>
                </a:ln>
                <a:solidFill>
                  <a:sysClr val="windowText" lastClr="000000"/>
                </a:solidFill>
                <a:effectLst/>
                <a:uLnTx/>
                <a:uFillTx/>
                <a:latin typeface="Calibri"/>
                <a:cs typeface="Arial"/>
              </a:rPr>
              <a:t>To</a:t>
            </a:r>
            <a:r>
              <a:rPr kumimoji="0" sz="1100" b="0" i="0" u="none" strike="noStrike" kern="0" cap="none" spc="-3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verify</a:t>
            </a:r>
            <a:r>
              <a:rPr kumimoji="0" sz="1100" b="0" i="0" u="none" strike="noStrike" kern="0" cap="none" spc="-2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the</a:t>
            </a:r>
            <a:r>
              <a:rPr kumimoji="0" sz="1100" b="0" i="0" u="none" strike="noStrike" kern="0" cap="none" spc="-20"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proper</a:t>
            </a:r>
            <a:r>
              <a:rPr kumimoji="0" sz="1100" b="0" i="0" u="none" strike="noStrike" kern="0" cap="none" spc="-4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execution</a:t>
            </a:r>
            <a:r>
              <a:rPr kumimoji="0" sz="1100" b="0" i="0" u="none" strike="noStrike" kern="0" cap="none" spc="-4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of</a:t>
            </a:r>
            <a:r>
              <a:rPr kumimoji="0" sz="1100" b="0" i="0" u="none" strike="noStrike" kern="0" cap="none" spc="-2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essential</a:t>
            </a:r>
            <a:r>
              <a:rPr kumimoji="0" sz="1100" b="0" i="0" u="none" strike="noStrike" kern="0" cap="none" spc="-5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branch</a:t>
            </a:r>
            <a:r>
              <a:rPr kumimoji="0" sz="1100" b="0" i="0" u="none" strike="noStrike" kern="0" cap="none" spc="-4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activities,</a:t>
            </a:r>
            <a:r>
              <a:rPr kumimoji="0" sz="1100" b="0" i="0" u="none" strike="noStrike" kern="0" cap="none" spc="-10"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while</a:t>
            </a:r>
            <a:r>
              <a:rPr kumimoji="0" sz="1100" b="0" i="0" u="none" strike="noStrike" kern="0" cap="none" spc="-2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reinforcing</a:t>
            </a:r>
            <a:r>
              <a:rPr kumimoji="0" sz="1100" b="0" i="0" u="none" strike="noStrike" kern="0" cap="none" spc="-60"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expected</a:t>
            </a:r>
            <a:r>
              <a:rPr kumimoji="0" sz="1100" b="0" i="0" u="none" strike="noStrike" kern="0" cap="none" spc="-40" normalizeH="0" baseline="0" noProof="0" dirty="0">
                <a:ln>
                  <a:noFill/>
                </a:ln>
                <a:solidFill>
                  <a:sysClr val="windowText" lastClr="000000"/>
                </a:solidFill>
                <a:effectLst/>
                <a:uLnTx/>
                <a:uFillTx/>
                <a:latin typeface="Calibri"/>
                <a:cs typeface="Arial"/>
              </a:rPr>
              <a:t> </a:t>
            </a:r>
            <a:r>
              <a:rPr kumimoji="0" sz="1100" b="0" i="0" u="none" strike="noStrike" kern="0" cap="none" spc="-10" normalizeH="0" baseline="0" noProof="0" dirty="0">
                <a:ln>
                  <a:noFill/>
                </a:ln>
                <a:solidFill>
                  <a:sysClr val="windowText" lastClr="000000"/>
                </a:solidFill>
                <a:effectLst/>
                <a:uLnTx/>
                <a:uFillTx/>
                <a:latin typeface="Calibri"/>
                <a:cs typeface="Arial"/>
              </a:rPr>
              <a:t>behaviors </a:t>
            </a:r>
            <a:r>
              <a:rPr kumimoji="0" sz="1100" b="0" i="0" u="none" strike="noStrike" kern="0" cap="none" spc="0" normalizeH="0" baseline="0" noProof="0" dirty="0">
                <a:ln>
                  <a:noFill/>
                </a:ln>
                <a:solidFill>
                  <a:sysClr val="windowText" lastClr="000000"/>
                </a:solidFill>
                <a:effectLst/>
                <a:uLnTx/>
                <a:uFillTx/>
                <a:latin typeface="Calibri"/>
                <a:cs typeface="Arial"/>
              </a:rPr>
              <a:t>and</a:t>
            </a:r>
            <a:r>
              <a:rPr kumimoji="0" sz="1100" b="0" i="0" u="none" strike="noStrike" kern="0" cap="none" spc="-35" normalizeH="0" baseline="0" noProof="0" dirty="0">
                <a:ln>
                  <a:noFill/>
                </a:ln>
                <a:solidFill>
                  <a:sysClr val="windowText" lastClr="000000"/>
                </a:solidFill>
                <a:effectLst/>
                <a:uLnTx/>
                <a:uFillTx/>
                <a:latin typeface="Calibri"/>
                <a:cs typeface="Arial"/>
              </a:rPr>
              <a:t> </a:t>
            </a:r>
            <a:r>
              <a:rPr kumimoji="0" sz="1100" b="0" i="0" u="none" strike="noStrike" kern="0" cap="none" spc="0" normalizeH="0" baseline="0" noProof="0" dirty="0">
                <a:ln>
                  <a:noFill/>
                </a:ln>
                <a:solidFill>
                  <a:sysClr val="windowText" lastClr="000000"/>
                </a:solidFill>
                <a:effectLst/>
                <a:uLnTx/>
                <a:uFillTx/>
                <a:latin typeface="Calibri"/>
                <a:cs typeface="Arial"/>
              </a:rPr>
              <a:t>recognizing</a:t>
            </a:r>
            <a:r>
              <a:rPr kumimoji="0" sz="1100" b="0" i="0" u="none" strike="noStrike" kern="0" cap="none" spc="-40" normalizeH="0" baseline="0" noProof="0" dirty="0">
                <a:ln>
                  <a:noFill/>
                </a:ln>
                <a:solidFill>
                  <a:sysClr val="windowText" lastClr="000000"/>
                </a:solidFill>
                <a:effectLst/>
                <a:uLnTx/>
                <a:uFillTx/>
                <a:latin typeface="Calibri"/>
                <a:cs typeface="Arial"/>
              </a:rPr>
              <a:t> </a:t>
            </a:r>
            <a:r>
              <a:rPr kumimoji="0" sz="1100" b="0" i="0" u="none" strike="noStrike" kern="0" cap="none" spc="-10" normalizeH="0" baseline="0" noProof="0" dirty="0">
                <a:ln>
                  <a:noFill/>
                </a:ln>
                <a:solidFill>
                  <a:sysClr val="windowText" lastClr="000000"/>
                </a:solidFill>
                <a:effectLst/>
                <a:uLnTx/>
                <a:uFillTx/>
                <a:latin typeface="Calibri"/>
                <a:cs typeface="Arial"/>
              </a:rPr>
              <a:t>high-</a:t>
            </a:r>
            <a:r>
              <a:rPr kumimoji="0" sz="1100" b="0" i="0" u="none" strike="noStrike" kern="0" cap="none" spc="0" normalizeH="0" baseline="0" noProof="0" dirty="0">
                <a:ln>
                  <a:noFill/>
                </a:ln>
                <a:solidFill>
                  <a:sysClr val="windowText" lastClr="000000"/>
                </a:solidFill>
                <a:effectLst/>
                <a:uLnTx/>
                <a:uFillTx/>
                <a:latin typeface="Calibri"/>
                <a:cs typeface="Arial"/>
              </a:rPr>
              <a:t>performing</a:t>
            </a:r>
            <a:r>
              <a:rPr kumimoji="0" sz="1100" b="0" i="0" u="none" strike="noStrike" kern="0" cap="none" spc="-55" normalizeH="0" baseline="0" noProof="0" dirty="0">
                <a:ln>
                  <a:noFill/>
                </a:ln>
                <a:solidFill>
                  <a:sysClr val="windowText" lastClr="000000"/>
                </a:solidFill>
                <a:effectLst/>
                <a:uLnTx/>
                <a:uFillTx/>
                <a:latin typeface="Calibri"/>
                <a:cs typeface="Arial"/>
              </a:rPr>
              <a:t> </a:t>
            </a:r>
            <a:r>
              <a:rPr kumimoji="0" sz="1100" b="0" i="0" u="none" strike="noStrike" kern="0" cap="none" spc="-10" normalizeH="0" baseline="0" noProof="0" dirty="0">
                <a:ln>
                  <a:noFill/>
                </a:ln>
                <a:solidFill>
                  <a:sysClr val="windowText" lastClr="000000"/>
                </a:solidFill>
                <a:effectLst/>
                <a:uLnTx/>
                <a:uFillTx/>
                <a:latin typeface="Calibri"/>
                <a:cs typeface="Arial"/>
              </a:rPr>
              <a:t>branches.</a:t>
            </a:r>
            <a:endParaRPr kumimoji="0" sz="1100" b="0" i="0" u="none" strike="noStrike" kern="0" cap="none" spc="0" normalizeH="0" baseline="0" noProof="0" dirty="0">
              <a:ln>
                <a:noFill/>
              </a:ln>
              <a:solidFill>
                <a:sysClr val="windowText" lastClr="000000"/>
              </a:solidFill>
              <a:effectLst/>
              <a:uLnTx/>
              <a:uFillTx/>
              <a:latin typeface="Calibri"/>
              <a:cs typeface="Arial"/>
            </a:endParaRPr>
          </a:p>
        </p:txBody>
      </p:sp>
      <p:graphicFrame>
        <p:nvGraphicFramePr>
          <p:cNvPr id="18" name="object 18"/>
          <p:cNvGraphicFramePr>
            <a:graphicFrameLocks noGrp="1"/>
          </p:cNvGraphicFramePr>
          <p:nvPr>
            <p:extLst>
              <p:ext uri="{D42A27DB-BD31-4B8C-83A1-F6EECF244321}">
                <p14:modId xmlns:p14="http://schemas.microsoft.com/office/powerpoint/2010/main" val="3982328736"/>
              </p:ext>
            </p:extLst>
          </p:nvPr>
        </p:nvGraphicFramePr>
        <p:xfrm>
          <a:off x="2283264" y="6273596"/>
          <a:ext cx="6552826" cy="419099"/>
        </p:xfrm>
        <a:graphic>
          <a:graphicData uri="http://schemas.openxmlformats.org/drawingml/2006/table">
            <a:tbl>
              <a:tblPr firstRow="1" bandRow="1">
                <a:tableStyleId>{2D5ABB26-0587-4C30-8999-92F81FD0307C}</a:tableStyleId>
              </a:tblPr>
              <a:tblGrid>
                <a:gridCol w="564082">
                  <a:extLst>
                    <a:ext uri="{9D8B030D-6E8A-4147-A177-3AD203B41FA5}">
                      <a16:colId xmlns:a16="http://schemas.microsoft.com/office/drawing/2014/main" val="20000"/>
                    </a:ext>
                  </a:extLst>
                </a:gridCol>
                <a:gridCol w="5988744">
                  <a:extLst>
                    <a:ext uri="{9D8B030D-6E8A-4147-A177-3AD203B41FA5}">
                      <a16:colId xmlns:a16="http://schemas.microsoft.com/office/drawing/2014/main" val="20001"/>
                    </a:ext>
                  </a:extLst>
                </a:gridCol>
              </a:tblGrid>
              <a:tr h="419099">
                <a:tc>
                  <a:txBody>
                    <a:bodyPr/>
                    <a:lstStyle/>
                    <a:p>
                      <a:pPr marL="91440">
                        <a:lnSpc>
                          <a:spcPct val="100000"/>
                        </a:lnSpc>
                        <a:spcBef>
                          <a:spcPts val="335"/>
                        </a:spcBef>
                      </a:pPr>
                      <a:r>
                        <a:rPr sz="1100" dirty="0">
                          <a:latin typeface="+mj-lt"/>
                          <a:cs typeface="Arial"/>
                        </a:rPr>
                        <a:t>Next</a:t>
                      </a:r>
                      <a:r>
                        <a:rPr sz="1100" spc="-10" dirty="0">
                          <a:latin typeface="+mj-lt"/>
                          <a:cs typeface="Arial"/>
                        </a:rPr>
                        <a:t> </a:t>
                      </a:r>
                      <a:r>
                        <a:rPr sz="1100" spc="-20" dirty="0">
                          <a:latin typeface="+mj-lt"/>
                          <a:cs typeface="Arial"/>
                        </a:rPr>
                        <a:t>Steps</a:t>
                      </a:r>
                      <a:endParaRPr sz="1100" dirty="0">
                        <a:latin typeface="+mj-lt"/>
                        <a:cs typeface="Arial"/>
                      </a:endParaRPr>
                    </a:p>
                  </a:txBody>
                  <a:tcPr marL="0" marR="0" marT="42545" marB="0">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tc>
                  <a:txBody>
                    <a:bodyPr/>
                    <a:lstStyle/>
                    <a:p>
                      <a:pPr marL="91440">
                        <a:lnSpc>
                          <a:spcPct val="100000"/>
                        </a:lnSpc>
                        <a:spcBef>
                          <a:spcPts val="335"/>
                        </a:spcBef>
                      </a:pPr>
                      <a:r>
                        <a:rPr lang="en-US" sz="1100" dirty="0">
                          <a:latin typeface="+mj-lt"/>
                          <a:cs typeface="Arial"/>
                        </a:rPr>
                        <a:t>The</a:t>
                      </a:r>
                      <a:r>
                        <a:rPr lang="en-US" sz="1100" spc="-10" dirty="0">
                          <a:latin typeface="+mj-lt"/>
                          <a:cs typeface="Arial"/>
                        </a:rPr>
                        <a:t> </a:t>
                      </a:r>
                      <a:r>
                        <a:rPr lang="en-US" sz="1100" dirty="0">
                          <a:latin typeface="+mj-lt"/>
                          <a:cs typeface="Arial"/>
                        </a:rPr>
                        <a:t>branch</a:t>
                      </a:r>
                      <a:r>
                        <a:rPr lang="en-US" sz="1100" spc="-25" dirty="0">
                          <a:latin typeface="+mj-lt"/>
                          <a:cs typeface="Arial"/>
                        </a:rPr>
                        <a:t> </a:t>
                      </a:r>
                      <a:r>
                        <a:rPr lang="en-US" sz="1100" dirty="0">
                          <a:latin typeface="+mj-lt"/>
                          <a:cs typeface="Arial"/>
                        </a:rPr>
                        <a:t>is</a:t>
                      </a:r>
                      <a:r>
                        <a:rPr lang="en-US" sz="1100" spc="-5" dirty="0">
                          <a:latin typeface="+mj-lt"/>
                          <a:cs typeface="Arial"/>
                        </a:rPr>
                        <a:t> </a:t>
                      </a:r>
                      <a:r>
                        <a:rPr lang="en-US" sz="1100" dirty="0">
                          <a:latin typeface="+mj-lt"/>
                          <a:cs typeface="Arial"/>
                        </a:rPr>
                        <a:t>required</a:t>
                      </a:r>
                      <a:r>
                        <a:rPr lang="en-US" sz="1100" spc="-25" dirty="0">
                          <a:latin typeface="+mj-lt"/>
                          <a:cs typeface="Arial"/>
                        </a:rPr>
                        <a:t> </a:t>
                      </a:r>
                      <a:r>
                        <a:rPr lang="en-US" sz="1100" dirty="0">
                          <a:latin typeface="+mj-lt"/>
                          <a:cs typeface="Arial"/>
                        </a:rPr>
                        <a:t>to</a:t>
                      </a:r>
                      <a:r>
                        <a:rPr lang="en-US" sz="1100" spc="-10" dirty="0">
                          <a:latin typeface="+mj-lt"/>
                          <a:cs typeface="Arial"/>
                        </a:rPr>
                        <a:t> </a:t>
                      </a:r>
                      <a:r>
                        <a:rPr lang="en-US" sz="1100" b="1" dirty="0">
                          <a:latin typeface="+mj-lt"/>
                          <a:cs typeface="Arial"/>
                        </a:rPr>
                        <a:t>submit</a:t>
                      </a:r>
                      <a:r>
                        <a:rPr lang="en-US" sz="1100" b="1" spc="-15" dirty="0">
                          <a:latin typeface="+mj-lt"/>
                          <a:cs typeface="Arial"/>
                        </a:rPr>
                        <a:t> </a:t>
                      </a:r>
                      <a:r>
                        <a:rPr lang="en-US" sz="1100" dirty="0">
                          <a:latin typeface="+mj-lt"/>
                          <a:cs typeface="Arial"/>
                        </a:rPr>
                        <a:t>a</a:t>
                      </a:r>
                      <a:r>
                        <a:rPr lang="en-US" sz="1100" spc="-10" dirty="0">
                          <a:latin typeface="+mj-lt"/>
                          <a:cs typeface="Arial"/>
                        </a:rPr>
                        <a:t> </a:t>
                      </a:r>
                      <a:r>
                        <a:rPr lang="en-US" sz="1100" b="1" dirty="0">
                          <a:latin typeface="+mj-lt"/>
                          <a:cs typeface="Arial"/>
                        </a:rPr>
                        <a:t>confirmation</a:t>
                      </a:r>
                      <a:r>
                        <a:rPr lang="en-US" sz="1100" b="1" spc="-25" dirty="0">
                          <a:latin typeface="+mj-lt"/>
                          <a:cs typeface="Arial"/>
                        </a:rPr>
                        <a:t> </a:t>
                      </a:r>
                      <a:r>
                        <a:rPr lang="en-US" sz="1100" dirty="0">
                          <a:latin typeface="+mj-lt"/>
                          <a:cs typeface="Arial"/>
                        </a:rPr>
                        <a:t>that</a:t>
                      </a:r>
                      <a:r>
                        <a:rPr lang="en-US" sz="1100" spc="-10" dirty="0">
                          <a:latin typeface="+mj-lt"/>
                          <a:cs typeface="Arial"/>
                        </a:rPr>
                        <a:t> </a:t>
                      </a:r>
                      <a:r>
                        <a:rPr lang="en-US" sz="1100" dirty="0">
                          <a:latin typeface="+mj-lt"/>
                          <a:cs typeface="Arial"/>
                        </a:rPr>
                        <a:t>changes</a:t>
                      </a:r>
                      <a:r>
                        <a:rPr lang="en-US" sz="1100" spc="-35" dirty="0">
                          <a:latin typeface="+mj-lt"/>
                          <a:cs typeface="Arial"/>
                        </a:rPr>
                        <a:t> </a:t>
                      </a:r>
                      <a:r>
                        <a:rPr lang="en-US" sz="1100" dirty="0">
                          <a:latin typeface="+mj-lt"/>
                          <a:cs typeface="Arial"/>
                        </a:rPr>
                        <a:t>have</a:t>
                      </a:r>
                      <a:r>
                        <a:rPr lang="en-US" sz="1100" spc="5" dirty="0">
                          <a:latin typeface="+mj-lt"/>
                          <a:cs typeface="Arial"/>
                        </a:rPr>
                        <a:t> </a:t>
                      </a:r>
                      <a:r>
                        <a:rPr lang="en-US" sz="1100" dirty="0">
                          <a:latin typeface="+mj-lt"/>
                          <a:cs typeface="Arial"/>
                        </a:rPr>
                        <a:t>been</a:t>
                      </a:r>
                      <a:r>
                        <a:rPr lang="en-US" sz="1100" spc="-25" dirty="0">
                          <a:latin typeface="+mj-lt"/>
                          <a:cs typeface="Arial"/>
                        </a:rPr>
                        <a:t> </a:t>
                      </a:r>
                      <a:r>
                        <a:rPr lang="en-US" sz="1100" b="1" dirty="0">
                          <a:latin typeface="+mj-lt"/>
                          <a:cs typeface="Arial"/>
                        </a:rPr>
                        <a:t>implemented</a:t>
                      </a:r>
                      <a:r>
                        <a:rPr lang="en-US" sz="1100" b="1" spc="-25" dirty="0">
                          <a:latin typeface="+mj-lt"/>
                          <a:cs typeface="Arial"/>
                        </a:rPr>
                        <a:t> </a:t>
                      </a:r>
                      <a:r>
                        <a:rPr lang="en-US" sz="1100" dirty="0">
                          <a:latin typeface="+mj-lt"/>
                          <a:cs typeface="Arial"/>
                        </a:rPr>
                        <a:t>within</a:t>
                      </a:r>
                      <a:r>
                        <a:rPr lang="en-US" sz="1100" spc="-10" dirty="0">
                          <a:latin typeface="+mj-lt"/>
                          <a:cs typeface="Arial"/>
                        </a:rPr>
                        <a:t> </a:t>
                      </a:r>
                      <a:r>
                        <a:rPr lang="en-US" sz="1100" b="1" dirty="0">
                          <a:latin typeface="+mj-lt"/>
                          <a:cs typeface="Arial"/>
                        </a:rPr>
                        <a:t>60</a:t>
                      </a:r>
                      <a:r>
                        <a:rPr lang="en-US" sz="1100" b="1" spc="-15" dirty="0">
                          <a:latin typeface="+mj-lt"/>
                          <a:cs typeface="Arial"/>
                        </a:rPr>
                        <a:t> </a:t>
                      </a:r>
                      <a:r>
                        <a:rPr lang="en-US" sz="1100" b="1" dirty="0">
                          <a:latin typeface="+mj-lt"/>
                          <a:cs typeface="Arial"/>
                        </a:rPr>
                        <a:t>days</a:t>
                      </a:r>
                      <a:r>
                        <a:rPr lang="en-US" sz="1100" b="1" spc="40" dirty="0">
                          <a:latin typeface="+mj-lt"/>
                          <a:cs typeface="Arial"/>
                        </a:rPr>
                        <a:t> </a:t>
                      </a:r>
                      <a:r>
                        <a:rPr lang="en-US" sz="1100" dirty="0">
                          <a:latin typeface="+mj-lt"/>
                          <a:cs typeface="Arial"/>
                        </a:rPr>
                        <a:t>after</a:t>
                      </a:r>
                      <a:r>
                        <a:rPr lang="en-US" sz="1100" spc="-15" dirty="0">
                          <a:latin typeface="+mj-lt"/>
                          <a:cs typeface="Arial"/>
                        </a:rPr>
                        <a:t> </a:t>
                      </a:r>
                      <a:r>
                        <a:rPr lang="en-US" sz="1100" dirty="0">
                          <a:latin typeface="+mj-lt"/>
                          <a:cs typeface="Arial"/>
                        </a:rPr>
                        <a:t>issuance</a:t>
                      </a:r>
                      <a:r>
                        <a:rPr lang="en-US" sz="1100" spc="-45" dirty="0">
                          <a:latin typeface="+mj-lt"/>
                          <a:cs typeface="Arial"/>
                        </a:rPr>
                        <a:t> </a:t>
                      </a:r>
                      <a:r>
                        <a:rPr lang="en-US" sz="1100" dirty="0">
                          <a:latin typeface="+mj-lt"/>
                          <a:cs typeface="Arial"/>
                        </a:rPr>
                        <a:t>of</a:t>
                      </a:r>
                      <a:r>
                        <a:rPr lang="en-US" sz="1100" spc="-5" dirty="0">
                          <a:latin typeface="+mj-lt"/>
                          <a:cs typeface="Arial"/>
                        </a:rPr>
                        <a:t> </a:t>
                      </a:r>
                      <a:r>
                        <a:rPr lang="en-US" sz="1100" dirty="0">
                          <a:latin typeface="+mj-lt"/>
                          <a:cs typeface="Arial"/>
                        </a:rPr>
                        <a:t>the</a:t>
                      </a:r>
                      <a:r>
                        <a:rPr lang="en-US" sz="1100" spc="-10" dirty="0">
                          <a:latin typeface="+mj-lt"/>
                          <a:cs typeface="Arial"/>
                        </a:rPr>
                        <a:t> </a:t>
                      </a:r>
                      <a:r>
                        <a:rPr lang="en-US" sz="1100" dirty="0">
                          <a:latin typeface="+mj-lt"/>
                          <a:cs typeface="Arial"/>
                        </a:rPr>
                        <a:t>final</a:t>
                      </a:r>
                      <a:r>
                        <a:rPr lang="en-US" sz="1100" spc="-15" dirty="0">
                          <a:latin typeface="+mj-lt"/>
                          <a:cs typeface="Arial"/>
                        </a:rPr>
                        <a:t> </a:t>
                      </a:r>
                      <a:r>
                        <a:rPr lang="en-US" sz="1100" dirty="0">
                          <a:latin typeface="+mj-lt"/>
                          <a:cs typeface="Arial"/>
                        </a:rPr>
                        <a:t>audit</a:t>
                      </a:r>
                      <a:r>
                        <a:rPr lang="en-US" sz="1100" spc="-20" dirty="0">
                          <a:latin typeface="+mj-lt"/>
                          <a:cs typeface="Arial"/>
                        </a:rPr>
                        <a:t> </a:t>
                      </a:r>
                      <a:r>
                        <a:rPr lang="en-US" sz="1100" spc="-10" dirty="0">
                          <a:latin typeface="+mj-lt"/>
                          <a:cs typeface="Arial"/>
                        </a:rPr>
                        <a:t>report.</a:t>
                      </a:r>
                      <a:endParaRPr lang="en-US" sz="1100" dirty="0">
                        <a:latin typeface="+mj-lt"/>
                        <a:cs typeface="Arial"/>
                      </a:endParaRPr>
                    </a:p>
                  </a:txBody>
                  <a:tcPr marL="0" marR="0" marT="42545" marB="0">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10000"/>
                  </a:ext>
                </a:extLst>
              </a:tr>
            </a:tbl>
          </a:graphicData>
        </a:graphic>
      </p:graphicFrame>
      <p:sp>
        <p:nvSpPr>
          <p:cNvPr id="28" name="object 28"/>
          <p:cNvSpPr txBox="1"/>
          <p:nvPr/>
        </p:nvSpPr>
        <p:spPr>
          <a:xfrm>
            <a:off x="6316057" y="6691885"/>
            <a:ext cx="2338367" cy="151323"/>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sz="900" b="1" i="1" u="none" strike="noStrike" kern="0" cap="none" spc="0" normalizeH="0" baseline="0" noProof="0" dirty="0">
                <a:ln>
                  <a:noFill/>
                </a:ln>
                <a:solidFill>
                  <a:sysClr val="windowText" lastClr="000000"/>
                </a:solidFill>
                <a:effectLst/>
                <a:uLnTx/>
                <a:uFillTx/>
                <a:latin typeface="Arial"/>
                <a:cs typeface="Arial"/>
              </a:rPr>
              <a:t>Refer</a:t>
            </a:r>
            <a:r>
              <a:rPr kumimoji="0" sz="900" b="1" i="1" u="none" strike="noStrike" kern="0" cap="none" spc="-20" normalizeH="0" baseline="0" noProof="0" dirty="0">
                <a:ln>
                  <a:noFill/>
                </a:ln>
                <a:solidFill>
                  <a:sysClr val="windowText" lastClr="000000"/>
                </a:solidFill>
                <a:effectLst/>
                <a:uLnTx/>
                <a:uFillTx/>
                <a:latin typeface="Arial"/>
                <a:cs typeface="Arial"/>
              </a:rPr>
              <a:t> </a:t>
            </a:r>
            <a:r>
              <a:rPr kumimoji="0" sz="900" b="1" i="1" u="none" strike="noStrike" kern="0" cap="none" spc="0" normalizeH="0" baseline="0" noProof="0" dirty="0">
                <a:ln>
                  <a:noFill/>
                </a:ln>
                <a:solidFill>
                  <a:sysClr val="windowText" lastClr="000000"/>
                </a:solidFill>
                <a:effectLst/>
                <a:uLnTx/>
                <a:uFillTx/>
                <a:latin typeface="Arial"/>
                <a:cs typeface="Arial"/>
              </a:rPr>
              <a:t>to appendix</a:t>
            </a:r>
            <a:r>
              <a:rPr kumimoji="0" sz="900" b="1" i="1" u="none" strike="noStrike" kern="0" cap="none" spc="-25" normalizeH="0" baseline="0" noProof="0" dirty="0">
                <a:ln>
                  <a:noFill/>
                </a:ln>
                <a:solidFill>
                  <a:sysClr val="windowText" lastClr="000000"/>
                </a:solidFill>
                <a:effectLst/>
                <a:uLnTx/>
                <a:uFillTx/>
                <a:latin typeface="Arial"/>
                <a:cs typeface="Arial"/>
              </a:rPr>
              <a:t> </a:t>
            </a:r>
            <a:r>
              <a:rPr kumimoji="0" sz="900" b="1" i="1" u="none" strike="noStrike" kern="0" cap="none" spc="0" normalizeH="0" baseline="0" noProof="0" dirty="0">
                <a:ln>
                  <a:noFill/>
                </a:ln>
                <a:solidFill>
                  <a:sysClr val="windowText" lastClr="000000"/>
                </a:solidFill>
                <a:effectLst/>
                <a:uLnTx/>
                <a:uFillTx/>
                <a:latin typeface="Arial"/>
                <a:cs typeface="Arial"/>
              </a:rPr>
              <a:t>for</a:t>
            </a:r>
            <a:r>
              <a:rPr kumimoji="0" sz="900" b="1" i="1" u="none" strike="noStrike" kern="0" cap="none" spc="-5" normalizeH="0" baseline="0" noProof="0" dirty="0">
                <a:ln>
                  <a:noFill/>
                </a:ln>
                <a:solidFill>
                  <a:sysClr val="windowText" lastClr="000000"/>
                </a:solidFill>
                <a:effectLst/>
                <a:uLnTx/>
                <a:uFillTx/>
                <a:latin typeface="Arial"/>
                <a:cs typeface="Arial"/>
              </a:rPr>
              <a:t> </a:t>
            </a:r>
            <a:r>
              <a:rPr kumimoji="0" sz="900" b="1" i="1" u="none" strike="noStrike" kern="0" cap="none" spc="0" normalizeH="0" baseline="0" noProof="0" dirty="0">
                <a:ln>
                  <a:noFill/>
                </a:ln>
                <a:solidFill>
                  <a:sysClr val="windowText" lastClr="000000"/>
                </a:solidFill>
                <a:effectLst/>
                <a:uLnTx/>
                <a:uFillTx/>
                <a:latin typeface="Arial"/>
                <a:cs typeface="Arial"/>
              </a:rPr>
              <a:t>supporting</a:t>
            </a:r>
            <a:r>
              <a:rPr kumimoji="0" sz="900" b="1" i="1" u="none" strike="noStrike" kern="0" cap="none" spc="-10" normalizeH="0" baseline="0" noProof="0" dirty="0">
                <a:ln>
                  <a:noFill/>
                </a:ln>
                <a:solidFill>
                  <a:sysClr val="windowText" lastClr="000000"/>
                </a:solidFill>
                <a:effectLst/>
                <a:uLnTx/>
                <a:uFillTx/>
                <a:latin typeface="Arial"/>
                <a:cs typeface="Arial"/>
              </a:rPr>
              <a:t> </a:t>
            </a:r>
            <a:r>
              <a:rPr kumimoji="0" lang="en-US" sz="900" b="1" i="1" u="none" strike="noStrike" kern="0" cap="none" spc="-10" normalizeH="0" baseline="0" noProof="0" dirty="0">
                <a:ln>
                  <a:noFill/>
                </a:ln>
                <a:solidFill>
                  <a:sysClr val="windowText" lastClr="000000"/>
                </a:solidFill>
                <a:effectLst/>
                <a:uLnTx/>
                <a:uFillTx/>
                <a:latin typeface="Arial"/>
                <a:cs typeface="Arial"/>
              </a:rPr>
              <a:t>details</a:t>
            </a:r>
            <a:endParaRPr kumimoji="0" sz="900" b="0" i="0" u="none" strike="noStrike" kern="0" cap="none" spc="0" normalizeH="0" baseline="0" noProof="0" dirty="0">
              <a:ln>
                <a:noFill/>
              </a:ln>
              <a:solidFill>
                <a:sysClr val="windowText" lastClr="000000"/>
              </a:solidFill>
              <a:effectLst/>
              <a:uLnTx/>
              <a:uFillTx/>
              <a:latin typeface="Arial"/>
              <a:cs typeface="Arial"/>
            </a:endParaRPr>
          </a:p>
        </p:txBody>
      </p:sp>
      <p:sp>
        <p:nvSpPr>
          <p:cNvPr id="29" name="object 29"/>
          <p:cNvSpPr/>
          <p:nvPr/>
        </p:nvSpPr>
        <p:spPr>
          <a:xfrm>
            <a:off x="6167628" y="225551"/>
            <a:ext cx="2682240" cy="361315"/>
          </a:xfrm>
          <a:custGeom>
            <a:avLst/>
            <a:gdLst/>
            <a:ahLst/>
            <a:cxnLst/>
            <a:rect l="l" t="t" r="r" b="b"/>
            <a:pathLst>
              <a:path w="2682240" h="361315">
                <a:moveTo>
                  <a:pt x="1392936" y="179832"/>
                </a:moveTo>
                <a:lnTo>
                  <a:pt x="1213104" y="0"/>
                </a:lnTo>
                <a:lnTo>
                  <a:pt x="0" y="0"/>
                </a:lnTo>
                <a:lnTo>
                  <a:pt x="179832" y="179832"/>
                </a:lnTo>
                <a:lnTo>
                  <a:pt x="0" y="359664"/>
                </a:lnTo>
                <a:lnTo>
                  <a:pt x="1213104" y="359664"/>
                </a:lnTo>
                <a:lnTo>
                  <a:pt x="1392936" y="179832"/>
                </a:lnTo>
                <a:close/>
              </a:path>
              <a:path w="2682240" h="361315">
                <a:moveTo>
                  <a:pt x="2682240" y="1524"/>
                </a:moveTo>
                <a:lnTo>
                  <a:pt x="1289304" y="1524"/>
                </a:lnTo>
                <a:lnTo>
                  <a:pt x="1496339" y="181356"/>
                </a:lnTo>
                <a:lnTo>
                  <a:pt x="1289304" y="361188"/>
                </a:lnTo>
                <a:lnTo>
                  <a:pt x="2682240" y="361188"/>
                </a:lnTo>
                <a:lnTo>
                  <a:pt x="2682240" y="1524"/>
                </a:lnTo>
                <a:close/>
              </a:path>
            </a:pathLst>
          </a:custGeom>
          <a:solidFill>
            <a:srgbClr val="4B12A0"/>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30" name="object 30"/>
          <p:cNvSpPr txBox="1"/>
          <p:nvPr/>
        </p:nvSpPr>
        <p:spPr>
          <a:xfrm>
            <a:off x="6362591" y="14792"/>
            <a:ext cx="920115" cy="493083"/>
          </a:xfrm>
          <a:prstGeom prst="rect">
            <a:avLst/>
          </a:prstGeom>
        </p:spPr>
        <p:txBody>
          <a:bodyPr vert="horz" wrap="square" lIns="0" tIns="61594" rIns="0" bIns="0" rtlCol="0">
            <a:spAutoFit/>
          </a:bodyPr>
          <a:lstStyle/>
          <a:p>
            <a:pPr marL="12700" marR="0" lvl="0" indent="0" defTabSz="914400" eaLnBrk="1" fontAlgn="auto" latinLnBrk="0" hangingPunct="1">
              <a:lnSpc>
                <a:spcPct val="100000"/>
              </a:lnSpc>
              <a:spcBef>
                <a:spcPts val="484"/>
              </a:spcBef>
              <a:spcAft>
                <a:spcPts val="0"/>
              </a:spcAft>
              <a:buClrTx/>
              <a:buSzTx/>
              <a:buFontTx/>
              <a:buNone/>
              <a:tabLst/>
              <a:defRPr/>
            </a:pPr>
            <a:r>
              <a:rPr kumimoji="0" lang="en-US" sz="900" b="1" i="0" u="none" strike="noStrike" kern="0" cap="none" spc="0" normalizeH="0" baseline="0" noProof="0" dirty="0">
                <a:ln>
                  <a:noFill/>
                </a:ln>
                <a:solidFill>
                  <a:sysClr val="windowText" lastClr="000000"/>
                </a:solidFill>
                <a:effectLst/>
                <a:uLnTx/>
                <a:uFillTx/>
                <a:latin typeface="Arial"/>
                <a:cs typeface="Arial"/>
              </a:rPr>
              <a:t>Audit</a:t>
            </a:r>
            <a:r>
              <a:rPr kumimoji="0" lang="en-US" sz="900" b="1" i="0" u="none" strike="noStrike" kern="0" cap="none" spc="-25" normalizeH="0" baseline="0" noProof="0" dirty="0">
                <a:ln>
                  <a:noFill/>
                </a:ln>
                <a:solidFill>
                  <a:sysClr val="windowText" lastClr="000000"/>
                </a:solidFill>
                <a:effectLst/>
                <a:uLnTx/>
                <a:uFillTx/>
                <a:latin typeface="Arial"/>
                <a:cs typeface="Arial"/>
              </a:rPr>
              <a:t> </a:t>
            </a:r>
            <a:r>
              <a:rPr kumimoji="0" lang="en-US" sz="900" b="1" i="0" u="none" strike="noStrike" kern="0" cap="none" spc="-10" normalizeH="0" baseline="0" noProof="0" dirty="0">
                <a:ln>
                  <a:noFill/>
                </a:ln>
                <a:solidFill>
                  <a:sysClr val="windowText" lastClr="000000"/>
                </a:solidFill>
                <a:effectLst/>
                <a:uLnTx/>
                <a:uFillTx/>
                <a:latin typeface="Arial"/>
                <a:cs typeface="Arial"/>
              </a:rPr>
              <a:t>Approach:</a:t>
            </a:r>
            <a:endParaRPr kumimoji="0" lang="en-US" sz="900" b="0" i="0" u="none" strike="noStrike" kern="0" cap="none" spc="0" normalizeH="0" baseline="0" noProof="0" dirty="0">
              <a:ln>
                <a:noFill/>
              </a:ln>
              <a:solidFill>
                <a:sysClr val="windowText" lastClr="000000"/>
              </a:solidFill>
              <a:effectLst/>
              <a:uLnTx/>
              <a:uFillTx/>
              <a:latin typeface="Arial"/>
              <a:cs typeface="Arial"/>
            </a:endParaRPr>
          </a:p>
          <a:p>
            <a:pPr marL="188595" marR="0" lvl="0" indent="0" defTabSz="914400" eaLnBrk="1" fontAlgn="auto" latinLnBrk="0" hangingPunct="1">
              <a:lnSpc>
                <a:spcPct val="100000"/>
              </a:lnSpc>
              <a:spcBef>
                <a:spcPts val="610"/>
              </a:spcBef>
              <a:spcAft>
                <a:spcPts val="0"/>
              </a:spcAft>
              <a:buClrTx/>
              <a:buSzTx/>
              <a:buFontTx/>
              <a:buNone/>
              <a:tabLst/>
              <a:defRPr/>
            </a:pPr>
            <a:r>
              <a:rPr kumimoji="0" lang="en-US" sz="1400" b="1" i="0" u="none" strike="noStrike" kern="0" cap="none" spc="-10" normalizeH="0" baseline="0" noProof="0" dirty="0">
                <a:ln>
                  <a:noFill/>
                </a:ln>
                <a:solidFill>
                  <a:srgbClr val="FFFFFF"/>
                </a:solidFill>
                <a:effectLst/>
                <a:uLnTx/>
                <a:uFillTx/>
                <a:latin typeface="Arial"/>
                <a:cs typeface="Arial"/>
              </a:rPr>
              <a:t>Remote</a:t>
            </a:r>
            <a:endParaRPr kumimoji="0" lang="en-US" sz="1400" b="0" i="0" u="none" strike="noStrike" kern="0" cap="none" spc="0" normalizeH="0" baseline="0" noProof="0" dirty="0">
              <a:ln>
                <a:noFill/>
              </a:ln>
              <a:solidFill>
                <a:sysClr val="windowText" lastClr="000000"/>
              </a:solidFill>
              <a:effectLst/>
              <a:uLnTx/>
              <a:uFillTx/>
              <a:latin typeface="Arial"/>
              <a:cs typeface="Arial"/>
            </a:endParaRPr>
          </a:p>
        </p:txBody>
      </p:sp>
      <p:sp>
        <p:nvSpPr>
          <p:cNvPr id="31" name="object 31"/>
          <p:cNvSpPr txBox="1"/>
          <p:nvPr/>
        </p:nvSpPr>
        <p:spPr>
          <a:xfrm>
            <a:off x="7619892" y="37375"/>
            <a:ext cx="1196340" cy="460382"/>
          </a:xfrm>
          <a:prstGeom prst="rect">
            <a:avLst/>
          </a:prstGeom>
        </p:spPr>
        <p:txBody>
          <a:bodyPr vert="horz" wrap="square" lIns="0" tIns="59690" rIns="0" bIns="0" rtlCol="0">
            <a:spAutoFit/>
          </a:bodyPr>
          <a:lstStyle/>
          <a:p>
            <a:pPr marL="0" marR="0" lvl="0" indent="0" algn="ctr" defTabSz="914400" eaLnBrk="1" fontAlgn="auto" latinLnBrk="0" hangingPunct="1">
              <a:lnSpc>
                <a:spcPct val="100000"/>
              </a:lnSpc>
              <a:spcBef>
                <a:spcPts val="470"/>
              </a:spcBef>
              <a:spcAft>
                <a:spcPts val="0"/>
              </a:spcAft>
              <a:buClrTx/>
              <a:buSzTx/>
              <a:buFontTx/>
              <a:buNone/>
              <a:tabLst/>
              <a:defRPr/>
            </a:pPr>
            <a:r>
              <a:rPr kumimoji="0" sz="900" b="1" i="0" u="none" strike="noStrike" kern="0" cap="none" spc="0" normalizeH="0" baseline="0" noProof="0" dirty="0">
                <a:ln>
                  <a:noFill/>
                </a:ln>
                <a:solidFill>
                  <a:sysClr val="windowText" lastClr="000000"/>
                </a:solidFill>
                <a:effectLst/>
                <a:uLnTx/>
                <a:uFillTx/>
                <a:latin typeface="Arial"/>
                <a:cs typeface="Arial"/>
              </a:rPr>
              <a:t>Period</a:t>
            </a:r>
            <a:r>
              <a:rPr kumimoji="0" sz="900" b="1" i="0" u="none" strike="noStrike" kern="0" cap="none" spc="-20" normalizeH="0" baseline="0" noProof="0" dirty="0">
                <a:ln>
                  <a:noFill/>
                </a:ln>
                <a:solidFill>
                  <a:sysClr val="windowText" lastClr="000000"/>
                </a:solidFill>
                <a:effectLst/>
                <a:uLnTx/>
                <a:uFillTx/>
                <a:latin typeface="Arial"/>
                <a:cs typeface="Arial"/>
              </a:rPr>
              <a:t> </a:t>
            </a:r>
            <a:r>
              <a:rPr kumimoji="0" sz="900" b="1" i="0" u="none" strike="noStrike" kern="0" cap="none" spc="0" normalizeH="0" baseline="0" noProof="0" dirty="0">
                <a:ln>
                  <a:noFill/>
                </a:ln>
                <a:solidFill>
                  <a:sysClr val="windowText" lastClr="000000"/>
                </a:solidFill>
                <a:effectLst/>
                <a:uLnTx/>
                <a:uFillTx/>
                <a:latin typeface="Arial"/>
                <a:cs typeface="Arial"/>
              </a:rPr>
              <a:t>under</a:t>
            </a:r>
            <a:r>
              <a:rPr kumimoji="0" sz="900" b="1" i="0" u="none" strike="noStrike" kern="0" cap="none" spc="-15" normalizeH="0" baseline="0" noProof="0" dirty="0">
                <a:ln>
                  <a:noFill/>
                </a:ln>
                <a:solidFill>
                  <a:sysClr val="windowText" lastClr="000000"/>
                </a:solidFill>
                <a:effectLst/>
                <a:uLnTx/>
                <a:uFillTx/>
                <a:latin typeface="Arial"/>
                <a:cs typeface="Arial"/>
              </a:rPr>
              <a:t> </a:t>
            </a:r>
            <a:r>
              <a:rPr kumimoji="0" sz="900" b="1" i="0" u="none" strike="noStrike" kern="0" cap="none" spc="-10" normalizeH="0" baseline="0" noProof="0" dirty="0">
                <a:ln>
                  <a:noFill/>
                </a:ln>
                <a:solidFill>
                  <a:sysClr val="windowText" lastClr="000000"/>
                </a:solidFill>
                <a:effectLst/>
                <a:uLnTx/>
                <a:uFillTx/>
                <a:latin typeface="Arial"/>
                <a:cs typeface="Arial"/>
              </a:rPr>
              <a:t>Review:</a:t>
            </a:r>
            <a:endParaRPr kumimoji="0" sz="900" b="0" i="0" u="none" strike="noStrike" kern="0" cap="none" spc="0" normalizeH="0" baseline="0" noProof="0" dirty="0">
              <a:ln>
                <a:noFill/>
              </a:ln>
              <a:solidFill>
                <a:sysClr val="windowText" lastClr="000000"/>
              </a:solidFill>
              <a:effectLst/>
              <a:uLnTx/>
              <a:uFillTx/>
              <a:latin typeface="Arial"/>
              <a:cs typeface="Arial"/>
            </a:endParaRPr>
          </a:p>
          <a:p>
            <a:pPr marL="9525" marR="0" lvl="0" indent="0" algn="ctr" defTabSz="914400" eaLnBrk="1" fontAlgn="auto" latinLnBrk="0" hangingPunct="1">
              <a:lnSpc>
                <a:spcPct val="100000"/>
              </a:lnSpc>
              <a:spcBef>
                <a:spcPts val="585"/>
              </a:spcBef>
              <a:spcAft>
                <a:spcPts val="0"/>
              </a:spcAft>
              <a:buClrTx/>
              <a:buSzTx/>
              <a:buFontTx/>
              <a:buNone/>
              <a:tabLst/>
              <a:defRPr/>
            </a:pPr>
            <a:r>
              <a:rPr lang="en-US" sz="1200" b="1" dirty="0">
                <a:solidFill>
                  <a:prstClr val="white"/>
                </a:solidFill>
                <a:latin typeface="Arial" panose="020B0604020202020204" pitchFamily="34" charset="0"/>
                <a:cs typeface="Arial" panose="020B0604020202020204" pitchFamily="34" charset="0"/>
              </a:rPr>
              <a:t>December </a:t>
            </a:r>
            <a:r>
              <a:rPr kumimoji="0" lang="en-US" sz="1200" b="1"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rPr>
              <a:t>2025</a:t>
            </a:r>
            <a:endParaRPr kumimoji="0" sz="1200" b="0" i="0" u="none" strike="noStrike" kern="0" cap="none" spc="0" normalizeH="0" baseline="0" noProof="0" dirty="0">
              <a:ln>
                <a:noFill/>
              </a:ln>
              <a:solidFill>
                <a:sysClr val="windowText" lastClr="000000"/>
              </a:solidFill>
              <a:effectLst/>
              <a:uLnTx/>
              <a:uFillTx/>
              <a:latin typeface="Arial"/>
              <a:cs typeface="Arial"/>
            </a:endParaRPr>
          </a:p>
        </p:txBody>
      </p:sp>
      <p:sp>
        <p:nvSpPr>
          <p:cNvPr id="54" name="TextBox 53">
            <a:extLst>
              <a:ext uri="{FF2B5EF4-FFF2-40B4-BE49-F238E27FC236}">
                <a16:creationId xmlns:a16="http://schemas.microsoft.com/office/drawing/2014/main" id="{8C55CB2D-BBD1-3F8F-EC78-43F8B14CE0EB}"/>
              </a:ext>
            </a:extLst>
          </p:cNvPr>
          <p:cNvSpPr txBox="1"/>
          <p:nvPr/>
        </p:nvSpPr>
        <p:spPr>
          <a:xfrm>
            <a:off x="2283264" y="1160356"/>
            <a:ext cx="2288736" cy="1323439"/>
          </a:xfrm>
          <a:prstGeom prst="rect">
            <a:avLst/>
          </a:prstGeom>
          <a:noFill/>
        </p:spPr>
        <p:txBody>
          <a:bodyPr wrap="square" rtlCol="0">
            <a:spAutoFit/>
          </a:bodyPr>
          <a:lstStyle/>
          <a:p>
            <a:pPr lvl="0">
              <a:defRPr/>
            </a:pPr>
            <a:r>
              <a:rPr lang="en-US" sz="1000" dirty="0"/>
              <a:t>Multiple areas of non-compliance were identified across risk areas, indicating a significant deviation from the Company’s policies and procedures. Given the volume of exceptions found, immediate attention is required to help the branch comply with the Company's operational policies and procedures. </a:t>
            </a:r>
            <a:endParaRPr lang="en-US" sz="1000" kern="0" dirty="0">
              <a:solidFill>
                <a:sysClr val="windowText" lastClr="000000"/>
              </a:solidFill>
              <a:highlight>
                <a:srgbClr val="FFFF00"/>
              </a:highlight>
              <a:cs typeface="Arial" panose="020B0604020202020204" pitchFamily="34" charset="0"/>
            </a:endParaRPr>
          </a:p>
        </p:txBody>
      </p:sp>
      <p:sp>
        <p:nvSpPr>
          <p:cNvPr id="2" name="object 30">
            <a:extLst>
              <a:ext uri="{FF2B5EF4-FFF2-40B4-BE49-F238E27FC236}">
                <a16:creationId xmlns:a16="http://schemas.microsoft.com/office/drawing/2014/main" id="{FE31738B-DD59-FE8E-F6AC-301CFE8272FB}"/>
              </a:ext>
            </a:extLst>
          </p:cNvPr>
          <p:cNvSpPr txBox="1"/>
          <p:nvPr/>
        </p:nvSpPr>
        <p:spPr>
          <a:xfrm>
            <a:off x="432667" y="-1396"/>
            <a:ext cx="2817983" cy="200695"/>
          </a:xfrm>
          <a:prstGeom prst="rect">
            <a:avLst/>
          </a:prstGeom>
        </p:spPr>
        <p:txBody>
          <a:bodyPr vert="horz" wrap="square" lIns="0" tIns="61594" rIns="0" bIns="0" rtlCol="0">
            <a:spAutoFit/>
          </a:bodyPr>
          <a:lstStyle/>
          <a:p>
            <a:pPr marL="12700" marR="0" lvl="0" indent="0" defTabSz="914400" eaLnBrk="1" fontAlgn="auto" latinLnBrk="0" hangingPunct="1">
              <a:lnSpc>
                <a:spcPct val="100000"/>
              </a:lnSpc>
              <a:spcBef>
                <a:spcPts val="484"/>
              </a:spcBef>
              <a:spcAft>
                <a:spcPts val="0"/>
              </a:spcAft>
              <a:buClrTx/>
              <a:buSzTx/>
              <a:buFontTx/>
              <a:buNone/>
              <a:tabLst/>
              <a:defRPr/>
            </a:pPr>
            <a:r>
              <a:rPr kumimoji="0" lang="en-US" sz="900" b="1" i="0" u="none" strike="noStrike" kern="0" cap="none" spc="0" normalizeH="0" baseline="0" noProof="0" dirty="0">
                <a:ln>
                  <a:noFill/>
                </a:ln>
                <a:solidFill>
                  <a:sysClr val="windowText" lastClr="000000"/>
                </a:solidFill>
                <a:effectLst/>
                <a:uLnTx/>
                <a:uFillTx/>
                <a:latin typeface="Arial"/>
                <a:cs typeface="Arial"/>
              </a:rPr>
              <a:t>Branch Location – Month of Branch Audit</a:t>
            </a:r>
            <a:endParaRPr kumimoji="0" sz="900" b="0" i="0" u="none" strike="noStrike" kern="0" cap="none" spc="0" normalizeH="0" baseline="0" noProof="0" dirty="0">
              <a:ln>
                <a:noFill/>
              </a:ln>
              <a:solidFill>
                <a:sysClr val="windowText" lastClr="000000"/>
              </a:solidFill>
              <a:effectLst/>
              <a:uLnTx/>
              <a:uFillTx/>
              <a:latin typeface="Arial"/>
              <a:cs typeface="Arial"/>
            </a:endParaRPr>
          </a:p>
        </p:txBody>
      </p:sp>
      <p:sp>
        <p:nvSpPr>
          <p:cNvPr id="13" name="TextBox 12">
            <a:extLst>
              <a:ext uri="{FF2B5EF4-FFF2-40B4-BE49-F238E27FC236}">
                <a16:creationId xmlns:a16="http://schemas.microsoft.com/office/drawing/2014/main" id="{70734FD9-D199-C561-2386-7C484DC6B0B1}"/>
              </a:ext>
            </a:extLst>
          </p:cNvPr>
          <p:cNvSpPr txBox="1"/>
          <p:nvPr/>
        </p:nvSpPr>
        <p:spPr>
          <a:xfrm>
            <a:off x="415452" y="2252548"/>
            <a:ext cx="1946252" cy="30777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effectLst/>
                <a:uLnTx/>
                <a:uFillTx/>
              </a:rPr>
              <a:t>Unsatisfactory</a:t>
            </a:r>
          </a:p>
        </p:txBody>
      </p:sp>
      <p:grpSp>
        <p:nvGrpSpPr>
          <p:cNvPr id="24" name="Group 23">
            <a:extLst>
              <a:ext uri="{FF2B5EF4-FFF2-40B4-BE49-F238E27FC236}">
                <a16:creationId xmlns:a16="http://schemas.microsoft.com/office/drawing/2014/main" id="{280F32AA-5211-854B-4CF9-9EEE14F49F0C}"/>
              </a:ext>
            </a:extLst>
          </p:cNvPr>
          <p:cNvGrpSpPr/>
          <p:nvPr/>
        </p:nvGrpSpPr>
        <p:grpSpPr>
          <a:xfrm>
            <a:off x="-2410213" y="404811"/>
            <a:ext cx="2118364" cy="2092960"/>
            <a:chOff x="6162038" y="1437252"/>
            <a:chExt cx="2118364" cy="2092960"/>
          </a:xfrm>
        </p:grpSpPr>
        <p:sp>
          <p:nvSpPr>
            <p:cNvPr id="25" name="Partial Circle 24">
              <a:extLst>
                <a:ext uri="{FF2B5EF4-FFF2-40B4-BE49-F238E27FC236}">
                  <a16:creationId xmlns:a16="http://schemas.microsoft.com/office/drawing/2014/main" id="{E9371B7A-D146-CEB2-069F-C12DF9AE3CB1}"/>
                </a:ext>
              </a:extLst>
            </p:cNvPr>
            <p:cNvSpPr/>
            <p:nvPr/>
          </p:nvSpPr>
          <p:spPr>
            <a:xfrm rot="10800000">
              <a:off x="6162038" y="1437252"/>
              <a:ext cx="2118364" cy="2092960"/>
            </a:xfrm>
            <a:prstGeom prst="pie">
              <a:avLst>
                <a:gd name="adj1" fmla="val 0"/>
                <a:gd name="adj2" fmla="val 265084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sp>
          <p:nvSpPr>
            <p:cNvPr id="26" name="Partial Circle 25">
              <a:extLst>
                <a:ext uri="{FF2B5EF4-FFF2-40B4-BE49-F238E27FC236}">
                  <a16:creationId xmlns:a16="http://schemas.microsoft.com/office/drawing/2014/main" id="{F509912A-A1C2-A51A-686D-CBBC9DF6C241}"/>
                </a:ext>
              </a:extLst>
            </p:cNvPr>
            <p:cNvSpPr/>
            <p:nvPr/>
          </p:nvSpPr>
          <p:spPr>
            <a:xfrm rot="10800000">
              <a:off x="6162038" y="1437252"/>
              <a:ext cx="2118364" cy="2092960"/>
            </a:xfrm>
            <a:prstGeom prst="pie">
              <a:avLst>
                <a:gd name="adj1" fmla="val 2612574"/>
                <a:gd name="adj2" fmla="val 5465969"/>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27" name="Partial Circle 26">
              <a:extLst>
                <a:ext uri="{FF2B5EF4-FFF2-40B4-BE49-F238E27FC236}">
                  <a16:creationId xmlns:a16="http://schemas.microsoft.com/office/drawing/2014/main" id="{3C1A2633-0F67-9311-6C05-80B1092253F5}"/>
                </a:ext>
              </a:extLst>
            </p:cNvPr>
            <p:cNvSpPr/>
            <p:nvPr/>
          </p:nvSpPr>
          <p:spPr>
            <a:xfrm rot="16200000">
              <a:off x="6167122" y="1503292"/>
              <a:ext cx="2092960" cy="1960880"/>
            </a:xfrm>
            <a:prstGeom prst="pie">
              <a:avLst>
                <a:gd name="adj1" fmla="val 2612574"/>
                <a:gd name="adj2" fmla="val 5465969"/>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grpSp>
          <p:nvGrpSpPr>
            <p:cNvPr id="32" name="Group 31">
              <a:extLst>
                <a:ext uri="{FF2B5EF4-FFF2-40B4-BE49-F238E27FC236}">
                  <a16:creationId xmlns:a16="http://schemas.microsoft.com/office/drawing/2014/main" id="{CF9FC23D-9D9E-A1FA-0EC6-9FB37CE52C91}"/>
                </a:ext>
              </a:extLst>
            </p:cNvPr>
            <p:cNvGrpSpPr/>
            <p:nvPr/>
          </p:nvGrpSpPr>
          <p:grpSpPr>
            <a:xfrm>
              <a:off x="6233162" y="1437252"/>
              <a:ext cx="1960880" cy="2092960"/>
              <a:chOff x="6233162" y="1437252"/>
              <a:chExt cx="1960880" cy="2092960"/>
            </a:xfrm>
          </p:grpSpPr>
          <p:sp>
            <p:nvSpPr>
              <p:cNvPr id="33" name="Partial Circle 32">
                <a:extLst>
                  <a:ext uri="{FF2B5EF4-FFF2-40B4-BE49-F238E27FC236}">
                    <a16:creationId xmlns:a16="http://schemas.microsoft.com/office/drawing/2014/main" id="{571BE60A-738D-8F65-5B55-4F29E0D8E2E7}"/>
                  </a:ext>
                </a:extLst>
              </p:cNvPr>
              <p:cNvSpPr/>
              <p:nvPr/>
            </p:nvSpPr>
            <p:spPr>
              <a:xfrm rot="16200000">
                <a:off x="6167122" y="1503292"/>
                <a:ext cx="2092960" cy="1960880"/>
              </a:xfrm>
              <a:prstGeom prst="pie">
                <a:avLst>
                  <a:gd name="adj1" fmla="val 0"/>
                  <a:gd name="adj2" fmla="val 2650849"/>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a:ea typeface="+mn-ea"/>
                  <a:cs typeface="+mn-cs"/>
                </a:endParaRPr>
              </a:p>
            </p:txBody>
          </p:sp>
          <p:cxnSp>
            <p:nvCxnSpPr>
              <p:cNvPr id="34" name="Straight Arrow Connector 33">
                <a:extLst>
                  <a:ext uri="{FF2B5EF4-FFF2-40B4-BE49-F238E27FC236}">
                    <a16:creationId xmlns:a16="http://schemas.microsoft.com/office/drawing/2014/main" id="{D016E0E2-1B79-00BD-174A-F787FCABC3D0}"/>
                  </a:ext>
                </a:extLst>
              </p:cNvPr>
              <p:cNvCxnSpPr>
                <a:cxnSpLocks/>
              </p:cNvCxnSpPr>
              <p:nvPr/>
            </p:nvCxnSpPr>
            <p:spPr>
              <a:xfrm flipV="1">
                <a:off x="7213602" y="2174730"/>
                <a:ext cx="780898" cy="28106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graphicFrame>
        <p:nvGraphicFramePr>
          <p:cNvPr id="9" name="Chart 8">
            <a:extLst>
              <a:ext uri="{FF2B5EF4-FFF2-40B4-BE49-F238E27FC236}">
                <a16:creationId xmlns:a16="http://schemas.microsoft.com/office/drawing/2014/main" id="{037E7E26-2976-1289-FB7B-757F78417727}"/>
              </a:ext>
            </a:extLst>
          </p:cNvPr>
          <p:cNvGraphicFramePr>
            <a:graphicFrameLocks/>
          </p:cNvGraphicFramePr>
          <p:nvPr>
            <p:extLst>
              <p:ext uri="{D42A27DB-BD31-4B8C-83A1-F6EECF244321}">
                <p14:modId xmlns:p14="http://schemas.microsoft.com/office/powerpoint/2010/main" val="3993658337"/>
              </p:ext>
            </p:extLst>
          </p:nvPr>
        </p:nvGraphicFramePr>
        <p:xfrm>
          <a:off x="5950943" y="1406737"/>
          <a:ext cx="2563981" cy="1602390"/>
        </p:xfrm>
        <a:graphic>
          <a:graphicData uri="http://schemas.openxmlformats.org/drawingml/2006/chart">
            <c:chart xmlns:c="http://schemas.openxmlformats.org/drawingml/2006/chart" xmlns:r="http://schemas.openxmlformats.org/officeDocument/2006/relationships" r:id="rId4"/>
          </a:graphicData>
        </a:graphic>
      </p:graphicFrame>
      <p:grpSp>
        <p:nvGrpSpPr>
          <p:cNvPr id="35" name="Group 34">
            <a:extLst>
              <a:ext uri="{FF2B5EF4-FFF2-40B4-BE49-F238E27FC236}">
                <a16:creationId xmlns:a16="http://schemas.microsoft.com/office/drawing/2014/main" id="{3B5EF166-523F-D057-7C3C-0331305929DC}"/>
              </a:ext>
            </a:extLst>
          </p:cNvPr>
          <p:cNvGrpSpPr/>
          <p:nvPr/>
        </p:nvGrpSpPr>
        <p:grpSpPr>
          <a:xfrm>
            <a:off x="329699" y="1225670"/>
            <a:ext cx="2118364" cy="2092960"/>
            <a:chOff x="6162038" y="1437252"/>
            <a:chExt cx="2118364" cy="2092960"/>
          </a:xfrm>
        </p:grpSpPr>
        <p:sp>
          <p:nvSpPr>
            <p:cNvPr id="36" name="Partial Circle 35">
              <a:extLst>
                <a:ext uri="{FF2B5EF4-FFF2-40B4-BE49-F238E27FC236}">
                  <a16:creationId xmlns:a16="http://schemas.microsoft.com/office/drawing/2014/main" id="{3FAAD803-D30E-7D9B-31AF-9191D0FE8D4C}"/>
                </a:ext>
              </a:extLst>
            </p:cNvPr>
            <p:cNvSpPr/>
            <p:nvPr/>
          </p:nvSpPr>
          <p:spPr>
            <a:xfrm rot="10800000">
              <a:off x="6162038" y="1437252"/>
              <a:ext cx="2118364" cy="2092960"/>
            </a:xfrm>
            <a:prstGeom prst="pie">
              <a:avLst>
                <a:gd name="adj1" fmla="val 0"/>
                <a:gd name="adj2" fmla="val 265084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37" name="Partial Circle 36">
              <a:extLst>
                <a:ext uri="{FF2B5EF4-FFF2-40B4-BE49-F238E27FC236}">
                  <a16:creationId xmlns:a16="http://schemas.microsoft.com/office/drawing/2014/main" id="{7317C604-AE3C-2520-5B16-F81287848E0F}"/>
                </a:ext>
              </a:extLst>
            </p:cNvPr>
            <p:cNvSpPr/>
            <p:nvPr/>
          </p:nvSpPr>
          <p:spPr>
            <a:xfrm rot="10800000">
              <a:off x="6162038" y="1437252"/>
              <a:ext cx="2118364" cy="2092960"/>
            </a:xfrm>
            <a:prstGeom prst="pie">
              <a:avLst>
                <a:gd name="adj1" fmla="val 2612574"/>
                <a:gd name="adj2" fmla="val 5465969"/>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sp>
          <p:nvSpPr>
            <p:cNvPr id="38" name="Partial Circle 37">
              <a:extLst>
                <a:ext uri="{FF2B5EF4-FFF2-40B4-BE49-F238E27FC236}">
                  <a16:creationId xmlns:a16="http://schemas.microsoft.com/office/drawing/2014/main" id="{DC593454-9DBF-C15F-EA91-D4BF999AC98E}"/>
                </a:ext>
              </a:extLst>
            </p:cNvPr>
            <p:cNvSpPr/>
            <p:nvPr/>
          </p:nvSpPr>
          <p:spPr>
            <a:xfrm rot="16200000">
              <a:off x="6167122" y="1503292"/>
              <a:ext cx="2092960" cy="1960880"/>
            </a:xfrm>
            <a:prstGeom prst="pie">
              <a:avLst>
                <a:gd name="adj1" fmla="val 2612574"/>
                <a:gd name="adj2" fmla="val 5465969"/>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grpSp>
          <p:nvGrpSpPr>
            <p:cNvPr id="39" name="Group 38">
              <a:extLst>
                <a:ext uri="{FF2B5EF4-FFF2-40B4-BE49-F238E27FC236}">
                  <a16:creationId xmlns:a16="http://schemas.microsoft.com/office/drawing/2014/main" id="{D1B73EBF-E769-1BB7-7F54-069C07236C1A}"/>
                </a:ext>
              </a:extLst>
            </p:cNvPr>
            <p:cNvGrpSpPr/>
            <p:nvPr/>
          </p:nvGrpSpPr>
          <p:grpSpPr>
            <a:xfrm>
              <a:off x="6233162" y="1437252"/>
              <a:ext cx="1960880" cy="2092960"/>
              <a:chOff x="6233162" y="1437252"/>
              <a:chExt cx="1960880" cy="2092960"/>
            </a:xfrm>
          </p:grpSpPr>
          <p:sp>
            <p:nvSpPr>
              <p:cNvPr id="40" name="Partial Circle 39">
                <a:extLst>
                  <a:ext uri="{FF2B5EF4-FFF2-40B4-BE49-F238E27FC236}">
                    <a16:creationId xmlns:a16="http://schemas.microsoft.com/office/drawing/2014/main" id="{B01B1846-0AB0-B57A-6B54-551B4375EB0F}"/>
                  </a:ext>
                </a:extLst>
              </p:cNvPr>
              <p:cNvSpPr/>
              <p:nvPr/>
            </p:nvSpPr>
            <p:spPr>
              <a:xfrm rot="16200000">
                <a:off x="6167122" y="1503292"/>
                <a:ext cx="2092960" cy="1960880"/>
              </a:xfrm>
              <a:prstGeom prst="pie">
                <a:avLst>
                  <a:gd name="adj1" fmla="val 0"/>
                  <a:gd name="adj2" fmla="val 2650849"/>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black"/>
                  </a:solidFill>
                  <a:effectLst/>
                  <a:uLnTx/>
                  <a:uFillTx/>
                  <a:latin typeface="Calibri"/>
                  <a:ea typeface="+mn-ea"/>
                  <a:cs typeface="+mn-cs"/>
                </a:endParaRPr>
              </a:p>
            </p:txBody>
          </p:sp>
          <p:cxnSp>
            <p:nvCxnSpPr>
              <p:cNvPr id="41" name="Straight Arrow Connector 40">
                <a:extLst>
                  <a:ext uri="{FF2B5EF4-FFF2-40B4-BE49-F238E27FC236}">
                    <a16:creationId xmlns:a16="http://schemas.microsoft.com/office/drawing/2014/main" id="{3AEB3042-D5D7-1E87-19CA-8D5B81B423B8}"/>
                  </a:ext>
                </a:extLst>
              </p:cNvPr>
              <p:cNvCxnSpPr>
                <a:cxnSpLocks/>
              </p:cNvCxnSpPr>
              <p:nvPr/>
            </p:nvCxnSpPr>
            <p:spPr>
              <a:xfrm flipH="1" flipV="1">
                <a:off x="6500980" y="2256010"/>
                <a:ext cx="712622" cy="199782"/>
              </a:xfrm>
              <a:prstGeom prst="straightConnector1">
                <a:avLst/>
              </a:prstGeom>
              <a:ln w="28575">
                <a:solidFill>
                  <a:schemeClr val="bg1"/>
                </a:solidFill>
                <a:tailEnd type="triangle"/>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Pentagon 18">
            <a:extLst>
              <a:ext uri="{FF2B5EF4-FFF2-40B4-BE49-F238E27FC236}">
                <a16:creationId xmlns:a16="http://schemas.microsoft.com/office/drawing/2014/main" id="{D6F9F584-C4E2-479A-A48A-3DAF5A4B551D}"/>
              </a:ext>
            </a:extLst>
          </p:cNvPr>
          <p:cNvSpPr/>
          <p:nvPr/>
        </p:nvSpPr>
        <p:spPr bwMode="gray">
          <a:xfrm>
            <a:off x="317634" y="221381"/>
            <a:ext cx="6605680" cy="349398"/>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46338FFC-265C-DB47-BD16-7F4BEA5AB2DD}"/>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72163601-C737-D8CF-8188-3C76B6492B36}"/>
              </a:ext>
            </a:extLst>
          </p:cNvPr>
          <p:cNvSpPr/>
          <p:nvPr/>
        </p:nvSpPr>
        <p:spPr bwMode="gray">
          <a:xfrm>
            <a:off x="6735561" y="221380"/>
            <a:ext cx="1557640" cy="36501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10B1CBB7-67F0-CB52-F9DF-0EE1988F70B3}"/>
              </a:ext>
            </a:extLst>
          </p:cNvPr>
          <p:cNvSpPr txBox="1"/>
          <p:nvPr/>
        </p:nvSpPr>
        <p:spPr>
          <a:xfrm>
            <a:off x="6923314" y="190644"/>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C56B80BA-307D-18F5-2435-7868D74AD3AA}"/>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1FCD0DD2-3A34-1DC4-3583-7461E4648384}"/>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70415E5C-4F6F-4063-C820-BE1B46799D01}"/>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4" name="Table 3">
            <a:extLst>
              <a:ext uri="{FF2B5EF4-FFF2-40B4-BE49-F238E27FC236}">
                <a16:creationId xmlns:a16="http://schemas.microsoft.com/office/drawing/2014/main" id="{AA7DCE7F-8B19-A7FA-2EEA-2F8D400D0628}"/>
              </a:ext>
            </a:extLst>
          </p:cNvPr>
          <p:cNvGraphicFramePr>
            <a:graphicFrameLocks noGrp="1"/>
          </p:cNvGraphicFramePr>
          <p:nvPr>
            <p:extLst>
              <p:ext uri="{D42A27DB-BD31-4B8C-83A1-F6EECF244321}">
                <p14:modId xmlns:p14="http://schemas.microsoft.com/office/powerpoint/2010/main" val="3469956028"/>
              </p:ext>
            </p:extLst>
          </p:nvPr>
        </p:nvGraphicFramePr>
        <p:xfrm>
          <a:off x="6245352" y="671509"/>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0">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75%</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Needs Improvement</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64985031"/>
                  </a:ext>
                </a:extLst>
              </a:tr>
            </a:tbl>
          </a:graphicData>
        </a:graphic>
      </p:graphicFrame>
      <p:sp>
        <p:nvSpPr>
          <p:cNvPr id="2" name="object 6">
            <a:extLst>
              <a:ext uri="{FF2B5EF4-FFF2-40B4-BE49-F238E27FC236}">
                <a16:creationId xmlns:a16="http://schemas.microsoft.com/office/drawing/2014/main" id="{68DDA335-B30B-2948-8E0D-59DF5CB3A62B}"/>
              </a:ext>
            </a:extLst>
          </p:cNvPr>
          <p:cNvSpPr txBox="1"/>
          <p:nvPr/>
        </p:nvSpPr>
        <p:spPr>
          <a:xfrm>
            <a:off x="434873" y="277180"/>
            <a:ext cx="6300689"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graphicFrame>
        <p:nvGraphicFramePr>
          <p:cNvPr id="6" name="Table 5">
            <a:extLst>
              <a:ext uri="{FF2B5EF4-FFF2-40B4-BE49-F238E27FC236}">
                <a16:creationId xmlns:a16="http://schemas.microsoft.com/office/drawing/2014/main" id="{BA2415D7-3F56-8D07-2187-677873E58D0C}"/>
              </a:ext>
            </a:extLst>
          </p:cNvPr>
          <p:cNvGraphicFramePr>
            <a:graphicFrameLocks noGrp="1"/>
          </p:cNvGraphicFramePr>
          <p:nvPr>
            <p:extLst>
              <p:ext uri="{D42A27DB-BD31-4B8C-83A1-F6EECF244321}">
                <p14:modId xmlns:p14="http://schemas.microsoft.com/office/powerpoint/2010/main" val="2223014258"/>
              </p:ext>
            </p:extLst>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Financial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3" name="Table 2">
            <a:extLst>
              <a:ext uri="{FF2B5EF4-FFF2-40B4-BE49-F238E27FC236}">
                <a16:creationId xmlns:a16="http://schemas.microsoft.com/office/drawing/2014/main" id="{74E5E001-F79B-F00A-AE24-D603B3AD3AC5}"/>
              </a:ext>
            </a:extLst>
          </p:cNvPr>
          <p:cNvGraphicFramePr>
            <a:graphicFrameLocks noGrp="1"/>
          </p:cNvGraphicFramePr>
          <p:nvPr>
            <p:extLst>
              <p:ext uri="{D42A27DB-BD31-4B8C-83A1-F6EECF244321}">
                <p14:modId xmlns:p14="http://schemas.microsoft.com/office/powerpoint/2010/main" val="2739294580"/>
              </p:ext>
            </p:extLst>
          </p:nvPr>
        </p:nvGraphicFramePr>
        <p:xfrm>
          <a:off x="319816" y="1229440"/>
          <a:ext cx="8594495" cy="4930140"/>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193425">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193425">
                <a:tc rowSpan="3">
                  <a:txBody>
                    <a:bodyPr/>
                    <a:lstStyle/>
                    <a:p>
                      <a:pPr algn="ctr"/>
                      <a:r>
                        <a:rPr lang="en-US" sz="850" b="1" dirty="0">
                          <a:solidFill>
                            <a:schemeClr val="bg1"/>
                          </a:solidFill>
                          <a:latin typeface="+mj-lt"/>
                        </a:rPr>
                        <a:t>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TCPV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the completeness and accuracy of Accounts Receivable, Net Service Revenue, and WIP.</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Potential financial misalignment of billing, revenue, and contract amounts fail to reconcile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7</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26490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1 of 7 jobs selected from the TCPV report had a variance noted, totaling $317. While the jobs had commentary to appropriately explain the discrepancy, the adjustment required to correct the contract amounts in BVE1 were not recorded. A WIP write off was subsequently recorded.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336392">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Operational Accountant will work with the Branch Manager to review status of jobs and variances between E1 billings, BVE1 service plans, and contracts as part of the month‐end close process, document decisions within the month‐end close workbook, and make timely adjustments to the E1 billing schedule or BVE1 service plan, as necessary.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479359">
                <a:tc rowSpan="3">
                  <a:txBody>
                    <a:bodyPr/>
                    <a:lstStyle/>
                    <a:p>
                      <a:pPr algn="ctr"/>
                      <a:r>
                        <a:rPr lang="en-US" sz="850" b="1" dirty="0">
                          <a:solidFill>
                            <a:schemeClr val="bg1"/>
                          </a:solidFill>
                          <a:latin typeface="+mj-lt"/>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Lost Jobs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that Billings, Service Plans and CRM jobs are cancelled timely to prevent incorrect A/R, Revenue, WIP, and net new reporting.]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Delayed cancellation of Billings, Service Plans may lead to inaccurate Accounts Receivable, Revenue, and Work in Progress figures, impacting financial reporting.  Inaccurate CRM data may impact strategic business decision-making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Trailing 3 Months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19342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1 out of 2 jobs were marked lost in CRM on 1/7/26 but the BVE1 service plan was not cancelled, and February tickets were generated though no additional revenue was recognized as they were not exported.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26490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Manager will work with the Account Manager and Branch Administrator to review lost jobs and ensure that jobs are marked lost in CRM, billings have been suspended, a termination date is added within E1, and service plans have been cancelled timely.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r h="407875">
                <a:tc rowSpan="3">
                  <a:txBody>
                    <a:bodyPr/>
                    <a:lstStyle/>
                    <a:p>
                      <a:pPr algn="ctr"/>
                      <a:r>
                        <a:rPr lang="en-US" sz="850" b="1" dirty="0">
                          <a:solidFill>
                            <a:schemeClr val="bg1"/>
                          </a:solidFill>
                          <a:latin typeface="+mj-lt"/>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Changes in PO's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the accuracy of purchase order estimates.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Inaccurate purchase order (PO) estimates can create challenges in budgeting and forecasting, impact financial statement  accuracy, and add an administrative burden to the voucher process.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4108850"/>
                  </a:ext>
                </a:extLst>
              </a:tr>
              <a:tr h="19342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Observed 1 PO entered for less than $1,500 but receipted above $1,500 that did not go through the workflow.</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5318287"/>
                  </a:ext>
                </a:extLst>
              </a:tr>
              <a:tr h="26490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Manager will retrain Branch Administrators and Account Managers on the Purchase Order process. They will reiterate that reasonable estimates should be provided for the value of the Purchase Order. Purchase Orders needing approval in E1 should be rejected by the Branch Manager if the Purchase Order value is not appropriate.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97598405"/>
                  </a:ext>
                </a:extLst>
              </a:tr>
            </a:tbl>
          </a:graphicData>
        </a:graphic>
      </p:graphicFrame>
    </p:spTree>
    <p:extLst>
      <p:ext uri="{BB962C8B-B14F-4D97-AF65-F5344CB8AC3E}">
        <p14:creationId xmlns:p14="http://schemas.microsoft.com/office/powerpoint/2010/main" val="1359065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D3375-A521-109D-8FB6-8BD3F2A1A043}"/>
            </a:ext>
          </a:extLst>
        </p:cNvPr>
        <p:cNvGrpSpPr/>
        <p:nvPr/>
      </p:nvGrpSpPr>
      <p:grpSpPr>
        <a:xfrm>
          <a:off x="0" y="0"/>
          <a:ext cx="0" cy="0"/>
          <a:chOff x="0" y="0"/>
          <a:chExt cx="0" cy="0"/>
        </a:xfrm>
      </p:grpSpPr>
      <p:sp>
        <p:nvSpPr>
          <p:cNvPr id="19" name="Arrow: Pentagon 18">
            <a:extLst>
              <a:ext uri="{FF2B5EF4-FFF2-40B4-BE49-F238E27FC236}">
                <a16:creationId xmlns:a16="http://schemas.microsoft.com/office/drawing/2014/main" id="{30BABA26-BEA5-C40F-87FB-E433787FDBD7}"/>
              </a:ext>
            </a:extLst>
          </p:cNvPr>
          <p:cNvSpPr/>
          <p:nvPr/>
        </p:nvSpPr>
        <p:spPr bwMode="gray">
          <a:xfrm>
            <a:off x="317634" y="221381"/>
            <a:ext cx="6605680" cy="349398"/>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A161ACA1-E9EF-E121-508B-91477DEAB2A5}"/>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3ABDD2C0-C217-1CB8-692C-4F8C7B6CF32E}"/>
              </a:ext>
            </a:extLst>
          </p:cNvPr>
          <p:cNvSpPr/>
          <p:nvPr/>
        </p:nvSpPr>
        <p:spPr bwMode="gray">
          <a:xfrm>
            <a:off x="6735561" y="221380"/>
            <a:ext cx="1557640" cy="36501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030DCB71-0184-AEE6-91AD-E23033CB7490}"/>
              </a:ext>
            </a:extLst>
          </p:cNvPr>
          <p:cNvSpPr txBox="1"/>
          <p:nvPr/>
        </p:nvSpPr>
        <p:spPr>
          <a:xfrm>
            <a:off x="6923314" y="190644"/>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CCD1FA32-E49C-1C90-ED82-5113E70142A0}"/>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BE8856BB-620F-402E-4D08-BF0A4FA7305C}"/>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1B74C4F1-FDBF-72E9-0562-515EDE5FF8CE}"/>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4" name="Table 3">
            <a:extLst>
              <a:ext uri="{FF2B5EF4-FFF2-40B4-BE49-F238E27FC236}">
                <a16:creationId xmlns:a16="http://schemas.microsoft.com/office/drawing/2014/main" id="{657189BE-C3EB-B9DA-0F6A-6075CB079CB3}"/>
              </a:ext>
            </a:extLst>
          </p:cNvPr>
          <p:cNvGraphicFramePr>
            <a:graphicFrameLocks noGrp="1"/>
          </p:cNvGraphicFramePr>
          <p:nvPr/>
        </p:nvGraphicFramePr>
        <p:xfrm>
          <a:off x="6245352" y="671509"/>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0">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75%</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Needs Improvement</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64985031"/>
                  </a:ext>
                </a:extLst>
              </a:tr>
            </a:tbl>
          </a:graphicData>
        </a:graphic>
      </p:graphicFrame>
      <p:sp>
        <p:nvSpPr>
          <p:cNvPr id="2" name="object 6">
            <a:extLst>
              <a:ext uri="{FF2B5EF4-FFF2-40B4-BE49-F238E27FC236}">
                <a16:creationId xmlns:a16="http://schemas.microsoft.com/office/drawing/2014/main" id="{7339E500-BAAA-919E-0C23-A7637B3989FA}"/>
              </a:ext>
            </a:extLst>
          </p:cNvPr>
          <p:cNvSpPr txBox="1"/>
          <p:nvPr/>
        </p:nvSpPr>
        <p:spPr>
          <a:xfrm>
            <a:off x="434873" y="277180"/>
            <a:ext cx="6300689"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graphicFrame>
        <p:nvGraphicFramePr>
          <p:cNvPr id="6" name="Table 5">
            <a:extLst>
              <a:ext uri="{FF2B5EF4-FFF2-40B4-BE49-F238E27FC236}">
                <a16:creationId xmlns:a16="http://schemas.microsoft.com/office/drawing/2014/main" id="{2E848C61-0A08-394D-35C3-6F529250C665}"/>
              </a:ext>
            </a:extLst>
          </p:cNvPr>
          <p:cNvGraphicFramePr>
            <a:graphicFrameLocks noGrp="1"/>
          </p:cNvGraphicFramePr>
          <p:nvPr>
            <p:extLst>
              <p:ext uri="{D42A27DB-BD31-4B8C-83A1-F6EECF244321}">
                <p14:modId xmlns:p14="http://schemas.microsoft.com/office/powerpoint/2010/main" val="1351982425"/>
              </p:ext>
            </p:extLst>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Financial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3" name="Table 2">
            <a:extLst>
              <a:ext uri="{FF2B5EF4-FFF2-40B4-BE49-F238E27FC236}">
                <a16:creationId xmlns:a16="http://schemas.microsoft.com/office/drawing/2014/main" id="{C001CB4B-4B3C-0AAB-7426-965BC5245BD0}"/>
              </a:ext>
            </a:extLst>
          </p:cNvPr>
          <p:cNvGraphicFramePr>
            <a:graphicFrameLocks noGrp="1"/>
          </p:cNvGraphicFramePr>
          <p:nvPr>
            <p:extLst>
              <p:ext uri="{D42A27DB-BD31-4B8C-83A1-F6EECF244321}">
                <p14:modId xmlns:p14="http://schemas.microsoft.com/office/powerpoint/2010/main" val="829127196"/>
              </p:ext>
            </p:extLst>
          </p:nvPr>
        </p:nvGraphicFramePr>
        <p:xfrm>
          <a:off x="319816" y="1229440"/>
          <a:ext cx="8590387" cy="3400865"/>
        </p:xfrm>
        <a:graphic>
          <a:graphicData uri="http://schemas.openxmlformats.org/drawingml/2006/table">
            <a:tbl>
              <a:tblPr firstRow="1" bandRow="1">
                <a:tableStyleId>{5C22544A-7EE6-4342-B048-85BDC9FD1C3A}</a:tableStyleId>
              </a:tblPr>
              <a:tblGrid>
                <a:gridCol w="273367">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08269">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308269">
                <a:tc rowSpan="3">
                  <a:txBody>
                    <a:bodyPr/>
                    <a:lstStyle/>
                    <a:p>
                      <a:pPr algn="ctr"/>
                      <a:r>
                        <a:rPr lang="en-US" sz="850" b="1" dirty="0">
                          <a:solidFill>
                            <a:schemeClr val="bg1"/>
                          </a:solidFill>
                          <a:latin typeface="+mj-lt"/>
                        </a:rPr>
                        <a:t>4</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T&amp;E Expense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purchases are reasonable according to policy and supported with receipts (if required).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Risk of misuse of company funds, unauthorized expenses, and increased susceptibility to fraudulent activities.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4</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Trailing 3 Months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0" indent="0" algn="l" defTabSz="457200" rtl="0" eaLnBrk="1" latinLnBrk="0" hangingPunct="1">
                        <a:buFont typeface="Arial" panose="020B0604020202020204" pitchFamily="34" charset="0"/>
                        <a:buNone/>
                      </a:pPr>
                      <a:r>
                        <a:rPr lang="en-US" sz="850" kern="1200" dirty="0">
                          <a:solidFill>
                            <a:schemeClr val="tx1"/>
                          </a:solidFill>
                          <a:latin typeface="+mn-lt"/>
                          <a:ea typeface="+mn-ea"/>
                          <a:cs typeface="+mn-cs"/>
                        </a:rPr>
                        <a:t>Based on review of the Concur Credit Card Expense Reports, noted the following exceptions to the T&amp;E policy:</a:t>
                      </a:r>
                    </a:p>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3 transactions, totaling $4.9K, had improper GL coding.</a:t>
                      </a:r>
                    </a:p>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4 transactions with insufficient and/or incorrect receipt support (i.e. not itemized)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Manager will recommunicate expected adherence to the protocols outlined in Corporate Credit Card policy. Approvers are required to perform a thorough review of the expense and its coding and compare it to the attached receipt to ensure a comprehensive review and approval of each expense. Reports containing un-itemized receipts must be rejected and returned to the submitter for correction in accordance with policy.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650045">
                <a:tc rowSpan="3">
                  <a:txBody>
                    <a:bodyPr/>
                    <a:lstStyle/>
                    <a:p>
                      <a:pPr algn="ctr"/>
                      <a:r>
                        <a:rPr lang="en-US" sz="850" b="1" dirty="0">
                          <a:solidFill>
                            <a:schemeClr val="bg1"/>
                          </a:solidFill>
                          <a:latin typeface="+mj-lt"/>
                        </a:rPr>
                        <a:t>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A/R Aging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review the Accounts Receivable (A/R) report for collection notes, mitigating the risk of mismanagement and inefficiencies in the collection process that could impact cash flow and financial reporting accuracy.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Risk of mismanagement and inefficiencies in the collection process, potentially impacting cash flow and financial reporting accuracy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review of the December 2025 AR Aging Report, 6 past due invoice greater than 60 days past due, totaling $17,741, had no notes in E1 indicating the status of the collection efforts made by the branch.</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Manager and Branch Administrator will ensure that collection notes are captured in E1 in accordance with the guidance issued titled “Managing Your A/R Aging Report-Entering Collection Notes.” The Branch Administrator should work directly with customers to investigate and apply credit memos/unapplied cash correctly.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bl>
          </a:graphicData>
        </a:graphic>
      </p:graphicFrame>
    </p:spTree>
    <p:extLst>
      <p:ext uri="{BB962C8B-B14F-4D97-AF65-F5344CB8AC3E}">
        <p14:creationId xmlns:p14="http://schemas.microsoft.com/office/powerpoint/2010/main" val="2186686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645BE-A4E5-C8BE-2A46-F56D2721320D}"/>
            </a:ext>
          </a:extLst>
        </p:cNvPr>
        <p:cNvGrpSpPr/>
        <p:nvPr/>
      </p:nvGrpSpPr>
      <p:grpSpPr>
        <a:xfrm>
          <a:off x="0" y="0"/>
          <a:ext cx="0" cy="0"/>
          <a:chOff x="0" y="0"/>
          <a:chExt cx="0" cy="0"/>
        </a:xfrm>
      </p:grpSpPr>
      <p:sp>
        <p:nvSpPr>
          <p:cNvPr id="19" name="Arrow: Pentagon 18">
            <a:extLst>
              <a:ext uri="{FF2B5EF4-FFF2-40B4-BE49-F238E27FC236}">
                <a16:creationId xmlns:a16="http://schemas.microsoft.com/office/drawing/2014/main" id="{5840EB1D-F1E1-10EA-AECF-F8186BD6FF33}"/>
              </a:ext>
            </a:extLst>
          </p:cNvPr>
          <p:cNvSpPr/>
          <p:nvPr/>
        </p:nvSpPr>
        <p:spPr bwMode="gray">
          <a:xfrm>
            <a:off x="317634" y="221381"/>
            <a:ext cx="6605680" cy="349398"/>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C2BADF17-5D51-9D7B-E135-B3903255B451}"/>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BA30D1AE-0157-2F74-46AB-1080DC1402B5}"/>
              </a:ext>
            </a:extLst>
          </p:cNvPr>
          <p:cNvSpPr/>
          <p:nvPr/>
        </p:nvSpPr>
        <p:spPr bwMode="gray">
          <a:xfrm>
            <a:off x="6735561" y="221380"/>
            <a:ext cx="1557640" cy="36501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3B639FAE-6CA5-B655-21E3-5F58849C8A80}"/>
              </a:ext>
            </a:extLst>
          </p:cNvPr>
          <p:cNvSpPr txBox="1"/>
          <p:nvPr/>
        </p:nvSpPr>
        <p:spPr>
          <a:xfrm>
            <a:off x="6923314" y="190644"/>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19CF5133-673F-487E-1913-25689E473A8F}"/>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B37245DB-02D7-EDA4-4B83-76F70587B5AA}"/>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AAFE1CB3-2998-C4B5-4607-B8F7D77FFA95}"/>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4" name="Table 3">
            <a:extLst>
              <a:ext uri="{FF2B5EF4-FFF2-40B4-BE49-F238E27FC236}">
                <a16:creationId xmlns:a16="http://schemas.microsoft.com/office/drawing/2014/main" id="{CA4B14EE-2138-AC3A-1978-9D618DE7AB66}"/>
              </a:ext>
            </a:extLst>
          </p:cNvPr>
          <p:cNvGraphicFramePr>
            <a:graphicFrameLocks noGrp="1"/>
          </p:cNvGraphicFramePr>
          <p:nvPr/>
        </p:nvGraphicFramePr>
        <p:xfrm>
          <a:off x="6245352" y="671509"/>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0">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75%</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Needs Improvement</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64985031"/>
                  </a:ext>
                </a:extLst>
              </a:tr>
            </a:tbl>
          </a:graphicData>
        </a:graphic>
      </p:graphicFrame>
      <p:sp>
        <p:nvSpPr>
          <p:cNvPr id="2" name="object 6">
            <a:extLst>
              <a:ext uri="{FF2B5EF4-FFF2-40B4-BE49-F238E27FC236}">
                <a16:creationId xmlns:a16="http://schemas.microsoft.com/office/drawing/2014/main" id="{7E5ABC61-056C-099C-85D6-E1F41D594415}"/>
              </a:ext>
            </a:extLst>
          </p:cNvPr>
          <p:cNvSpPr txBox="1"/>
          <p:nvPr/>
        </p:nvSpPr>
        <p:spPr>
          <a:xfrm>
            <a:off x="434873" y="277180"/>
            <a:ext cx="6300689"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graphicFrame>
        <p:nvGraphicFramePr>
          <p:cNvPr id="6" name="Table 5">
            <a:extLst>
              <a:ext uri="{FF2B5EF4-FFF2-40B4-BE49-F238E27FC236}">
                <a16:creationId xmlns:a16="http://schemas.microsoft.com/office/drawing/2014/main" id="{0519EA3F-3EB1-22AB-940E-AD6A03B3B670}"/>
              </a:ext>
            </a:extLst>
          </p:cNvPr>
          <p:cNvGraphicFramePr>
            <a:graphicFrameLocks noGrp="1"/>
          </p:cNvGraphicFramePr>
          <p:nvPr>
            <p:extLst>
              <p:ext uri="{D42A27DB-BD31-4B8C-83A1-F6EECF244321}">
                <p14:modId xmlns:p14="http://schemas.microsoft.com/office/powerpoint/2010/main" val="1968740858"/>
              </p:ext>
            </p:extLst>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Financial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3" name="Table 2">
            <a:extLst>
              <a:ext uri="{FF2B5EF4-FFF2-40B4-BE49-F238E27FC236}">
                <a16:creationId xmlns:a16="http://schemas.microsoft.com/office/drawing/2014/main" id="{42F7ED30-A971-4B9E-0B52-8071A7165E9D}"/>
              </a:ext>
            </a:extLst>
          </p:cNvPr>
          <p:cNvGraphicFramePr>
            <a:graphicFrameLocks noGrp="1"/>
          </p:cNvGraphicFramePr>
          <p:nvPr>
            <p:extLst>
              <p:ext uri="{D42A27DB-BD31-4B8C-83A1-F6EECF244321}">
                <p14:modId xmlns:p14="http://schemas.microsoft.com/office/powerpoint/2010/main" val="3481302943"/>
              </p:ext>
            </p:extLst>
          </p:nvPr>
        </p:nvGraphicFramePr>
        <p:xfrm>
          <a:off x="319816" y="1229440"/>
          <a:ext cx="8590387" cy="3731619"/>
        </p:xfrm>
        <a:graphic>
          <a:graphicData uri="http://schemas.openxmlformats.org/drawingml/2006/table">
            <a:tbl>
              <a:tblPr firstRow="1" bandRow="1">
                <a:tableStyleId>{5C22544A-7EE6-4342-B048-85BDC9FD1C3A}</a:tableStyleId>
              </a:tblPr>
              <a:tblGrid>
                <a:gridCol w="273367">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08269">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308269">
                <a:tc rowSpan="3">
                  <a:txBody>
                    <a:bodyPr/>
                    <a:lstStyle/>
                    <a:p>
                      <a:pPr algn="ctr"/>
                      <a:r>
                        <a:rPr lang="en-US" sz="850" b="1" dirty="0">
                          <a:solidFill>
                            <a:schemeClr val="bg1"/>
                          </a:solidFill>
                          <a:latin typeface="+mj-lt"/>
                        </a:rPr>
                        <a:t>6</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Ancillary Billing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that ancillary billings are recorded timely and consistently throughout the month and that accruals are supported and billed promptly to ensure accurate Accounts Receivable and Revenue.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Ancillary billings concentrated in the final week of the month or accrued without timely billing may indicate improper billing practices, resulting in inaccurate Accounts Receivable, Revenue, and may result in billings and revenue being recorded in the wrong period.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a:solidFill>
                            <a:schemeClr val="tx1"/>
                          </a:solidFill>
                          <a:latin typeface="+mn-lt"/>
                          <a:ea typeface="+mn-ea"/>
                          <a:cs typeface="+mn-cs"/>
                        </a:rPr>
                        <a:t>Based on a review of the weekly ancillary billing report, noted 32% of the billings were in the final week of the month. Additionally, 27 ancillary SOs totaling $198.1K, were accrued and not billed in the subsequent month.</a:t>
                      </a:r>
                      <a:endParaRPr lang="en-US" sz="850" kern="1200" dirty="0">
                        <a:solidFill>
                          <a:schemeClr val="tx1"/>
                        </a:solidFill>
                        <a:latin typeface="+mn-lt"/>
                        <a:ea typeface="+mn-ea"/>
                        <a:cs typeface="+mn-cs"/>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50" b="0" kern="1200" dirty="0">
                          <a:solidFill>
                            <a:schemeClr val="dk1"/>
                          </a:solidFill>
                          <a:latin typeface="+mn-lt"/>
                          <a:ea typeface="+mn-ea"/>
                          <a:cs typeface="+mn-cs"/>
                        </a:rPr>
                        <a:t>The Branch Manager will re-communicate expectations to Account Managers regarding the timely notification to Branch Administrators when work is complete and ready for billing. In addition, completed ancillary work will be reviewed on a weekly basis to ensure billings are recorded in a timely and consistent manner. Accruals will be minimized, reviewed monthly, and reversed and billed within the first week of the subsequent month to ensure revenue is recognized in the appropriate reporting period.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650045">
                <a:tc rowSpan="3">
                  <a:txBody>
                    <a:bodyPr/>
                    <a:lstStyle/>
                    <a:p>
                      <a:pPr algn="ctr"/>
                      <a:r>
                        <a:rPr lang="en-US" sz="850" b="1" dirty="0">
                          <a:solidFill>
                            <a:schemeClr val="bg1"/>
                          </a:solidFill>
                          <a:latin typeface="+mj-lt"/>
                        </a:rPr>
                        <a:t>7</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Sales Taxability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validate the accuracy of the taxable v. non-taxable flag in E1, mitigating the risk of inaccurate sales tax calculations.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Risk of mismanagement and inefficiencies in the collection process, potentially impacting cash flow and financial reporting accuracy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review of the “PO Attachments” report for December 2025, observed 2 POs with an incorrect taxability assessment.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Administrator should engage with the Corporate Tax Team (Dan Vogel) to retrain on taxability of purchases within the jurisdiction in which the branch operates.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bl>
          </a:graphicData>
        </a:graphic>
      </p:graphicFrame>
    </p:spTree>
    <p:extLst>
      <p:ext uri="{BB962C8B-B14F-4D97-AF65-F5344CB8AC3E}">
        <p14:creationId xmlns:p14="http://schemas.microsoft.com/office/powerpoint/2010/main" val="1497710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Pentagon 18">
            <a:extLst>
              <a:ext uri="{FF2B5EF4-FFF2-40B4-BE49-F238E27FC236}">
                <a16:creationId xmlns:a16="http://schemas.microsoft.com/office/drawing/2014/main" id="{D6F9F584-C4E2-479A-A48A-3DAF5A4B551D}"/>
              </a:ext>
            </a:extLst>
          </p:cNvPr>
          <p:cNvSpPr/>
          <p:nvPr/>
        </p:nvSpPr>
        <p:spPr bwMode="gray">
          <a:xfrm>
            <a:off x="317634" y="221380"/>
            <a:ext cx="6417928" cy="366565"/>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46338FFC-265C-DB47-BD16-7F4BEA5AB2DD}"/>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72163601-C737-D8CF-8188-3C76B6492B36}"/>
              </a:ext>
            </a:extLst>
          </p:cNvPr>
          <p:cNvSpPr/>
          <p:nvPr/>
        </p:nvSpPr>
        <p:spPr bwMode="gray">
          <a:xfrm>
            <a:off x="6583171" y="221380"/>
            <a:ext cx="1841327" cy="37544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10B1CBB7-67F0-CB52-F9DF-0EE1988F70B3}"/>
              </a:ext>
            </a:extLst>
          </p:cNvPr>
          <p:cNvSpPr txBox="1"/>
          <p:nvPr/>
        </p:nvSpPr>
        <p:spPr>
          <a:xfrm>
            <a:off x="6940571" y="185964"/>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C56B80BA-307D-18F5-2435-7868D74AD3AA}"/>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1FCD0DD2-3A34-1DC4-3583-7461E4648384}"/>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70415E5C-4F6F-4063-C820-BE1B46799D01}"/>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7" name="Table 6">
            <a:extLst>
              <a:ext uri="{FF2B5EF4-FFF2-40B4-BE49-F238E27FC236}">
                <a16:creationId xmlns:a16="http://schemas.microsoft.com/office/drawing/2014/main" id="{1EE2EA60-51F3-67B7-317E-9B4907B4C4CA}"/>
              </a:ext>
            </a:extLst>
          </p:cNvPr>
          <p:cNvGraphicFramePr>
            <a:graphicFrameLocks noGrp="1"/>
          </p:cNvGraphicFramePr>
          <p:nvPr>
            <p:extLst>
              <p:ext uri="{D42A27DB-BD31-4B8C-83A1-F6EECF244321}">
                <p14:modId xmlns:p14="http://schemas.microsoft.com/office/powerpoint/2010/main" val="2442389605"/>
              </p:ext>
            </p:extLst>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Operational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2" name="Table 1">
            <a:extLst>
              <a:ext uri="{FF2B5EF4-FFF2-40B4-BE49-F238E27FC236}">
                <a16:creationId xmlns:a16="http://schemas.microsoft.com/office/drawing/2014/main" id="{D41A0282-E02D-A43D-1A15-D689F338D3A0}"/>
              </a:ext>
            </a:extLst>
          </p:cNvPr>
          <p:cNvGraphicFramePr>
            <a:graphicFrameLocks noGrp="1"/>
          </p:cNvGraphicFramePr>
          <p:nvPr>
            <p:extLst>
              <p:ext uri="{D42A27DB-BD31-4B8C-83A1-F6EECF244321}">
                <p14:modId xmlns:p14="http://schemas.microsoft.com/office/powerpoint/2010/main" val="3583839718"/>
              </p:ext>
            </p:extLst>
          </p:nvPr>
        </p:nvGraphicFramePr>
        <p:xfrm>
          <a:off x="6245352" y="65497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67%</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Needs Improvement</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C000"/>
                    </a:solidFill>
                  </a:tcPr>
                </a:tc>
                <a:extLst>
                  <a:ext uri="{0D108BD9-81ED-4DB2-BD59-A6C34878D82A}">
                    <a16:rowId xmlns:a16="http://schemas.microsoft.com/office/drawing/2014/main" val="364985031"/>
                  </a:ext>
                </a:extLst>
              </a:tr>
            </a:tbl>
          </a:graphicData>
        </a:graphic>
      </p:graphicFrame>
      <p:graphicFrame>
        <p:nvGraphicFramePr>
          <p:cNvPr id="4" name="Table 3">
            <a:extLst>
              <a:ext uri="{FF2B5EF4-FFF2-40B4-BE49-F238E27FC236}">
                <a16:creationId xmlns:a16="http://schemas.microsoft.com/office/drawing/2014/main" id="{9D6C2AFB-C865-22E4-A965-F929719F423C}"/>
              </a:ext>
            </a:extLst>
          </p:cNvPr>
          <p:cNvGraphicFramePr>
            <a:graphicFrameLocks noGrp="1"/>
          </p:cNvGraphicFramePr>
          <p:nvPr>
            <p:extLst>
              <p:ext uri="{D42A27DB-BD31-4B8C-83A1-F6EECF244321}">
                <p14:modId xmlns:p14="http://schemas.microsoft.com/office/powerpoint/2010/main" val="3093629367"/>
              </p:ext>
            </p:extLst>
          </p:nvPr>
        </p:nvGraphicFramePr>
        <p:xfrm>
          <a:off x="319816" y="1229440"/>
          <a:ext cx="8600249" cy="4800600"/>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31406">
                  <a:extLst>
                    <a:ext uri="{9D8B030D-6E8A-4147-A177-3AD203B41FA5}">
                      <a16:colId xmlns:a16="http://schemas.microsoft.com/office/drawing/2014/main" val="1441706"/>
                    </a:ext>
                  </a:extLst>
                </a:gridCol>
              </a:tblGrid>
              <a:tr h="241905">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510105">
                <a:tc rowSpan="3">
                  <a:txBody>
                    <a:bodyPr/>
                    <a:lstStyle/>
                    <a:p>
                      <a:pPr algn="ctr"/>
                      <a:r>
                        <a:rPr lang="en-US" sz="850" b="1" dirty="0">
                          <a:solidFill>
                            <a:schemeClr val="bg1"/>
                          </a:solidFill>
                          <a:latin typeface="+mj-lt"/>
                        </a:rPr>
                        <a:t>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Time &amp; Pay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a formal review was performed over the completeness and accuracy of hours worked for branch employees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Inaccurate recording or incomplete reporting of hours worked for branch employees may result in financial errors, compliance issues, and create challenges in budgeting, forecasting, and managing operations.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635" algn="ctr">
                        <a:lnSpc>
                          <a:spcPct val="100000"/>
                        </a:lnSpc>
                        <a:spcBef>
                          <a:spcPts val="670"/>
                        </a:spcBef>
                      </a:pPr>
                      <a:r>
                        <a:rPr lang="en-US" sz="850" kern="1200" spc="-25" dirty="0">
                          <a:solidFill>
                            <a:schemeClr val="dk1"/>
                          </a:solidFill>
                          <a:latin typeface="+mn-lt"/>
                          <a:ea typeface="+mn-ea"/>
                          <a:cs typeface="Arial"/>
                        </a:rPr>
                        <a:t>12/7/25 &amp; 12/28/25</a:t>
                      </a:r>
                      <a:endParaRPr lang="en-US" sz="850" kern="1200" dirty="0">
                        <a:solidFill>
                          <a:schemeClr val="dk1"/>
                        </a:solidFill>
                        <a:latin typeface="+mn-lt"/>
                        <a:ea typeface="+mn-ea"/>
                        <a:cs typeface="Arial"/>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2419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inquiry and review of the December 7th and 28th Time and Pay Report, there was no evidence of timely review by the Branch Manager.  Wet signature was evidenced but with no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kern="1200" spc="-25" dirty="0">
                          <a:solidFill>
                            <a:schemeClr val="dk1"/>
                          </a:solidFill>
                          <a:latin typeface="+mn-lt"/>
                          <a:ea typeface="+mn-ea"/>
                          <a:cs typeface="Arial"/>
                        </a:rPr>
                        <a:t>$-</a:t>
                      </a:r>
                      <a:endParaRPr lang="en-US" sz="850" kern="1200" dirty="0">
                        <a:solidFill>
                          <a:schemeClr val="dk1"/>
                        </a:solidFill>
                        <a:latin typeface="+mn-lt"/>
                        <a:ea typeface="+mn-ea"/>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07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The Branch Administrator will generate and send the Time and Pay Reports to the Branch Manager at the completion of payroll activities. The Branch Manager will physically evidence review (i.e., physical sign-off or email) of the weekly “Time &amp; Pay” report to demonstrate the review of payroll and job costing reasonableness prior to payroll submission.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510105">
                <a:tc rowSpan="3">
                  <a:txBody>
                    <a:bodyPr/>
                    <a:lstStyle/>
                    <a:p>
                      <a:pPr algn="ctr"/>
                      <a:r>
                        <a:rPr lang="en-US" sz="850" b="1" dirty="0">
                          <a:solidFill>
                            <a:schemeClr val="bg1"/>
                          </a:solidFill>
                          <a:latin typeface="+mj-lt"/>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"Custom Activity Detail"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a formal review was performed over the completeness and accuracy of hours and appropriateness of the job those are recorded to for each employee.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Failure to ensure timely approval and accuracy of adjustments, coupled with improper allocation of costs to respective jobs, may result in inaccurate financial reporting and ineffective job management.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635" algn="ctr">
                        <a:lnSpc>
                          <a:spcPct val="100000"/>
                        </a:lnSpc>
                        <a:spcBef>
                          <a:spcPts val="670"/>
                        </a:spcBef>
                      </a:pPr>
                      <a:r>
                        <a:rPr lang="en-US" sz="850" kern="1200" spc="-25" dirty="0">
                          <a:solidFill>
                            <a:schemeClr val="dk1"/>
                          </a:solidFill>
                          <a:latin typeface="+mn-lt"/>
                          <a:ea typeface="+mn-ea"/>
                          <a:cs typeface="Arial"/>
                        </a:rPr>
                        <a:t>12/7/25 &amp; 12/28/25</a:t>
                      </a:r>
                      <a:endParaRPr lang="en-US" sz="850" kern="1200" dirty="0">
                        <a:solidFill>
                          <a:schemeClr val="dk1"/>
                        </a:solidFill>
                        <a:latin typeface="+mn-lt"/>
                        <a:ea typeface="+mn-ea"/>
                        <a:cs typeface="Arial"/>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313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inquiry and review of the December 7th and 28th Custom Activity Detail Reports, there was no evidence of review by the Account Managers or Operations Managers of the Custom Activity Detail Report.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3313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50" b="0" kern="1200" dirty="0">
                          <a:solidFill>
                            <a:schemeClr val="dk1"/>
                          </a:solidFill>
                          <a:latin typeface="+mn-lt"/>
                          <a:ea typeface="+mn-ea"/>
                          <a:cs typeface="+mn-cs"/>
                        </a:rPr>
                        <a:t>Branch leadership will retrain Operations Manager to ensure they are evidencing their review (via sign-off or email), obtaining evidence of supervisor and employee approval for hour changes, and providing documentation to the Branch Administrator for corrections or adjustments to weekly payroll.</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dirty="0"/>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r h="331305">
                <a:tc rowSpan="3">
                  <a:txBody>
                    <a:bodyPr/>
                    <a:lstStyle/>
                    <a:p>
                      <a:pPr algn="ctr"/>
                      <a:r>
                        <a:rPr lang="en-US" sz="850" b="1" dirty="0">
                          <a:solidFill>
                            <a:schemeClr val="bg1"/>
                          </a:solidFill>
                          <a:latin typeface="+mj-lt"/>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Timely Estimate Renewal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determine the % of estimates that are outdated.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Outdated costs can lead to lower profit margins, inaccurate budget and forecasting, and a competitive disadvantage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4108850"/>
                  </a:ext>
                </a:extLst>
              </a:tr>
              <a:tr h="2419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Upon review of active job estimates, observed 9 out of 78 job estimates (approximately 12% of active jobs) have not been updated in the past year.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5318287"/>
                  </a:ext>
                </a:extLst>
              </a:tr>
              <a:tr h="331305">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management will actively track upcoming job renewals, ensuring estimated costs and services are being reviewed and refined on an annual basis.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97598405"/>
                  </a:ext>
                </a:extLst>
              </a:tr>
            </a:tbl>
          </a:graphicData>
        </a:graphic>
      </p:graphicFrame>
      <p:sp>
        <p:nvSpPr>
          <p:cNvPr id="5" name="object 6">
            <a:extLst>
              <a:ext uri="{FF2B5EF4-FFF2-40B4-BE49-F238E27FC236}">
                <a16:creationId xmlns:a16="http://schemas.microsoft.com/office/drawing/2014/main" id="{8512271C-4F50-A367-CCA1-68BC6E656FFA}"/>
              </a:ext>
            </a:extLst>
          </p:cNvPr>
          <p:cNvSpPr txBox="1"/>
          <p:nvPr/>
        </p:nvSpPr>
        <p:spPr>
          <a:xfrm>
            <a:off x="378886" y="277180"/>
            <a:ext cx="6280492"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3706188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7BBE9-47F8-29EC-9072-AA1215009BD1}"/>
            </a:ext>
          </a:extLst>
        </p:cNvPr>
        <p:cNvGrpSpPr/>
        <p:nvPr/>
      </p:nvGrpSpPr>
      <p:grpSpPr>
        <a:xfrm>
          <a:off x="0" y="0"/>
          <a:ext cx="0" cy="0"/>
          <a:chOff x="0" y="0"/>
          <a:chExt cx="0" cy="0"/>
        </a:xfrm>
      </p:grpSpPr>
      <p:sp>
        <p:nvSpPr>
          <p:cNvPr id="19" name="Arrow: Pentagon 18">
            <a:extLst>
              <a:ext uri="{FF2B5EF4-FFF2-40B4-BE49-F238E27FC236}">
                <a16:creationId xmlns:a16="http://schemas.microsoft.com/office/drawing/2014/main" id="{0B754877-50EE-FF68-9D1B-31C2ACAF4BD9}"/>
              </a:ext>
            </a:extLst>
          </p:cNvPr>
          <p:cNvSpPr/>
          <p:nvPr/>
        </p:nvSpPr>
        <p:spPr bwMode="gray">
          <a:xfrm>
            <a:off x="317634" y="221380"/>
            <a:ext cx="6341744" cy="366565"/>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1FC08598-1C8D-A84F-9750-26739987B3AA}"/>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4A04E669-68A3-B5FA-C7FD-E0BDA03B8B91}"/>
              </a:ext>
            </a:extLst>
          </p:cNvPr>
          <p:cNvSpPr/>
          <p:nvPr/>
        </p:nvSpPr>
        <p:spPr bwMode="gray">
          <a:xfrm>
            <a:off x="6543547" y="212500"/>
            <a:ext cx="1841327" cy="37544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315428FD-8275-F78D-B2BE-4E53074FAC2B}"/>
              </a:ext>
            </a:extLst>
          </p:cNvPr>
          <p:cNvSpPr txBox="1"/>
          <p:nvPr/>
        </p:nvSpPr>
        <p:spPr>
          <a:xfrm>
            <a:off x="6746675" y="176039"/>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DCF5682D-78F4-8481-B56A-3110F3B5EC97}"/>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B6A6FE56-EC43-54DB-AB89-432DE706B9ED}"/>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D88FF529-A6BE-AB33-8D44-4A179ED42B84}"/>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5" name="Table 4">
            <a:extLst>
              <a:ext uri="{FF2B5EF4-FFF2-40B4-BE49-F238E27FC236}">
                <a16:creationId xmlns:a16="http://schemas.microsoft.com/office/drawing/2014/main" id="{84A714EA-5DF3-77AA-7A1D-233C6033FE8E}"/>
              </a:ext>
            </a:extLst>
          </p:cNvPr>
          <p:cNvGraphicFramePr>
            <a:graphicFrameLocks noGrp="1"/>
          </p:cNvGraphicFramePr>
          <p:nvPr>
            <p:extLst>
              <p:ext uri="{D42A27DB-BD31-4B8C-83A1-F6EECF244321}">
                <p14:modId xmlns:p14="http://schemas.microsoft.com/office/powerpoint/2010/main" val="2171154998"/>
              </p:ext>
            </p:extLst>
          </p:nvPr>
        </p:nvGraphicFramePr>
        <p:xfrm>
          <a:off x="6245352" y="66513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55%</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Unsatisfactory</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64985031"/>
                  </a:ext>
                </a:extLst>
              </a:tr>
            </a:tbl>
          </a:graphicData>
        </a:graphic>
      </p:graphicFrame>
      <p:graphicFrame>
        <p:nvGraphicFramePr>
          <p:cNvPr id="4" name="Table 3">
            <a:extLst>
              <a:ext uri="{FF2B5EF4-FFF2-40B4-BE49-F238E27FC236}">
                <a16:creationId xmlns:a16="http://schemas.microsoft.com/office/drawing/2014/main" id="{E100A720-9D13-E9A0-0F76-879B0B4E8679}"/>
              </a:ext>
            </a:extLst>
          </p:cNvPr>
          <p:cNvGraphicFramePr>
            <a:graphicFrameLocks noGrp="1"/>
          </p:cNvGraphicFramePr>
          <p:nvPr>
            <p:extLst>
              <p:ext uri="{D42A27DB-BD31-4B8C-83A1-F6EECF244321}">
                <p14:modId xmlns:p14="http://schemas.microsoft.com/office/powerpoint/2010/main" val="3678763113"/>
              </p:ext>
            </p:extLst>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Compliance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3" name="Table 2">
            <a:extLst>
              <a:ext uri="{FF2B5EF4-FFF2-40B4-BE49-F238E27FC236}">
                <a16:creationId xmlns:a16="http://schemas.microsoft.com/office/drawing/2014/main" id="{AD4B68C1-5F7D-D6B4-EF6A-CA1BF4AAC4BF}"/>
              </a:ext>
            </a:extLst>
          </p:cNvPr>
          <p:cNvGraphicFramePr>
            <a:graphicFrameLocks noGrp="1"/>
          </p:cNvGraphicFramePr>
          <p:nvPr>
            <p:extLst>
              <p:ext uri="{D42A27DB-BD31-4B8C-83A1-F6EECF244321}">
                <p14:modId xmlns:p14="http://schemas.microsoft.com/office/powerpoint/2010/main" val="3876918936"/>
              </p:ext>
            </p:extLst>
          </p:nvPr>
        </p:nvGraphicFramePr>
        <p:xfrm>
          <a:off x="319816" y="1229440"/>
          <a:ext cx="8594495" cy="4792320"/>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08269">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308269">
                <a:tc rowSpan="3">
                  <a:txBody>
                    <a:bodyPr/>
                    <a:lstStyle/>
                    <a:p>
                      <a:pPr algn="ctr"/>
                      <a:r>
                        <a:rPr lang="en-US" sz="850" b="1" dirty="0">
                          <a:solidFill>
                            <a:schemeClr val="bg1"/>
                          </a:solidFill>
                          <a:latin typeface="+mj-lt"/>
                        </a:rPr>
                        <a:t>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Fixed Assets Existence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validate the existence of fixed assets.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PP&amp;E does not exist or has been incorrectly capitalized</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1 of the 3 sampled assets could not be located by the branch during the audit. Of note, disposal ticket was submitted in June 25 but was subsequently cancelled.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Management is encouraged to perform periodic inventory counts of their fixed assets to identify potentially unprocessed additions, transfers or disposed assets. If actions are required, they should be initiated promptly within BV’s fleet system (LEADR).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650045">
                <a:tc rowSpan="3">
                  <a:txBody>
                    <a:bodyPr/>
                    <a:lstStyle/>
                    <a:p>
                      <a:pPr algn="ctr"/>
                      <a:r>
                        <a:rPr lang="en-US" sz="850" b="1" dirty="0">
                          <a:solidFill>
                            <a:schemeClr val="bg1"/>
                          </a:solidFill>
                          <a:latin typeface="+mj-lt"/>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Fixed Assets Barcode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validate the correct barcode is properly adhered to the asset.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Creates inefficiencies in the Fixed Asset Inventory, resulting in manual processes to match asset to the fixed asset register.</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Consistent with the “Fixed Asset Existence” audit test, 1 of the 3 fixed assets did not have a barcode attached as it could not be located.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kern="1200" dirty="0">
                          <a:solidFill>
                            <a:schemeClr val="dk1"/>
                          </a:solidFill>
                          <a:latin typeface="+mn-lt"/>
                          <a:ea typeface="+mn-ea"/>
                          <a:cs typeface="+mn-cs"/>
                        </a:rPr>
                        <a:t>Branch Management is encouraged to perform periodic inventory counts of their fixed assets to identify potentially unprocessed additions, transfers or disposed assets. If actions are required, they should be initiated promptly within BV’s fleet system (LEADR).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r h="763971">
                <a:tc rowSpan="3">
                  <a:txBody>
                    <a:bodyPr/>
                    <a:lstStyle/>
                    <a:p>
                      <a:pPr algn="ctr"/>
                      <a:r>
                        <a:rPr lang="en-US" sz="850" b="1" dirty="0">
                          <a:solidFill>
                            <a:schemeClr val="bg1"/>
                          </a:solidFill>
                          <a:latin typeface="+mj-lt"/>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IT Access Removal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identify untimely removal of terminated employees from the IT system, enhancing overall data security and access control measures within the organization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Failure to promptly remove system access for terminated employees, as indicated by the IT Termination Report, may pose a security risk and lead to unauthorized access, potentially resulting in legal, financial, or reputational consequences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Trailing 3 Months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410885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System access for 17 terminated employee was not removed within one day from their termination date. Of note, the employees did not have access to E1 or BVE1.</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5318287"/>
                  </a:ext>
                </a:extLst>
              </a:tr>
              <a:tr h="489201">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Management will retrain all employees on the IT termination policy and the importance of communicating terminations immediately to the Branch Administrator for timely processing.</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97598405"/>
                  </a:ext>
                </a:extLst>
              </a:tr>
            </a:tbl>
          </a:graphicData>
        </a:graphic>
      </p:graphicFrame>
      <p:sp>
        <p:nvSpPr>
          <p:cNvPr id="6" name="object 6">
            <a:extLst>
              <a:ext uri="{FF2B5EF4-FFF2-40B4-BE49-F238E27FC236}">
                <a16:creationId xmlns:a16="http://schemas.microsoft.com/office/drawing/2014/main" id="{93ED0D27-69BA-CF56-996B-002BEAE5F9AE}"/>
              </a:ext>
            </a:extLst>
          </p:cNvPr>
          <p:cNvSpPr txBox="1"/>
          <p:nvPr/>
        </p:nvSpPr>
        <p:spPr>
          <a:xfrm>
            <a:off x="350893" y="277180"/>
            <a:ext cx="6280492"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32136138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25A61-7946-10E6-18C5-DCBAAD6CAE5F}"/>
            </a:ext>
          </a:extLst>
        </p:cNvPr>
        <p:cNvGrpSpPr/>
        <p:nvPr/>
      </p:nvGrpSpPr>
      <p:grpSpPr>
        <a:xfrm>
          <a:off x="0" y="0"/>
          <a:ext cx="0" cy="0"/>
          <a:chOff x="0" y="0"/>
          <a:chExt cx="0" cy="0"/>
        </a:xfrm>
      </p:grpSpPr>
      <p:sp>
        <p:nvSpPr>
          <p:cNvPr id="19" name="Arrow: Pentagon 18">
            <a:extLst>
              <a:ext uri="{FF2B5EF4-FFF2-40B4-BE49-F238E27FC236}">
                <a16:creationId xmlns:a16="http://schemas.microsoft.com/office/drawing/2014/main" id="{6FA0DC4C-C9DF-94CD-7CCD-EBDD1F7F89F9}"/>
              </a:ext>
            </a:extLst>
          </p:cNvPr>
          <p:cNvSpPr/>
          <p:nvPr/>
        </p:nvSpPr>
        <p:spPr bwMode="gray">
          <a:xfrm>
            <a:off x="317634" y="221380"/>
            <a:ext cx="6341744" cy="366565"/>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CA2D74E8-E7E4-1BBA-9AFA-15CDF7536173}"/>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69D2ADCF-55D5-6FA4-3FAC-D05263FBD3DD}"/>
              </a:ext>
            </a:extLst>
          </p:cNvPr>
          <p:cNvSpPr/>
          <p:nvPr/>
        </p:nvSpPr>
        <p:spPr bwMode="gray">
          <a:xfrm>
            <a:off x="6543547" y="212500"/>
            <a:ext cx="1841327" cy="37544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3123C9C9-C1ED-8360-DAD1-BFE57C12BC21}"/>
              </a:ext>
            </a:extLst>
          </p:cNvPr>
          <p:cNvSpPr txBox="1"/>
          <p:nvPr/>
        </p:nvSpPr>
        <p:spPr>
          <a:xfrm>
            <a:off x="6746675" y="176039"/>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0F489567-9821-C62C-3314-D24268B2855F}"/>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A9618E30-1F67-F36B-35DD-D5CF06D9ABE5}"/>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5208F531-23C0-3094-289F-1D57E3CE6E21}"/>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5" name="Table 4">
            <a:extLst>
              <a:ext uri="{FF2B5EF4-FFF2-40B4-BE49-F238E27FC236}">
                <a16:creationId xmlns:a16="http://schemas.microsoft.com/office/drawing/2014/main" id="{7B58E694-2215-309B-D8FC-92DB5207C9A4}"/>
              </a:ext>
            </a:extLst>
          </p:cNvPr>
          <p:cNvGraphicFramePr>
            <a:graphicFrameLocks noGrp="1"/>
          </p:cNvGraphicFramePr>
          <p:nvPr/>
        </p:nvGraphicFramePr>
        <p:xfrm>
          <a:off x="6245352" y="66513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6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no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55%</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Unsatisfactory</a:t>
                      </a:r>
                    </a:p>
                  </a:txBody>
                  <a:tcP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64985031"/>
                  </a:ext>
                </a:extLst>
              </a:tr>
            </a:tbl>
          </a:graphicData>
        </a:graphic>
      </p:graphicFrame>
      <p:graphicFrame>
        <p:nvGraphicFramePr>
          <p:cNvPr id="4" name="Table 3">
            <a:extLst>
              <a:ext uri="{FF2B5EF4-FFF2-40B4-BE49-F238E27FC236}">
                <a16:creationId xmlns:a16="http://schemas.microsoft.com/office/drawing/2014/main" id="{AF421493-4364-1537-1CD9-6C547F140BE5}"/>
              </a:ext>
            </a:extLst>
          </p:cNvPr>
          <p:cNvGraphicFramePr>
            <a:graphicFrameLocks noGrp="1"/>
          </p:cNvGraphicFramePr>
          <p:nvPr/>
        </p:nvGraphicFramePr>
        <p:xfrm>
          <a:off x="317632" y="671509"/>
          <a:ext cx="2336473" cy="457200"/>
        </p:xfrm>
        <a:graphic>
          <a:graphicData uri="http://schemas.openxmlformats.org/drawingml/2006/table">
            <a:tbl>
              <a:tblPr firstRow="1" bandRow="1">
                <a:tableStyleId>{5C22544A-7EE6-4342-B048-85BDC9FD1C3A}</a:tableStyleId>
              </a:tblPr>
              <a:tblGrid>
                <a:gridCol w="972950">
                  <a:extLst>
                    <a:ext uri="{9D8B030D-6E8A-4147-A177-3AD203B41FA5}">
                      <a16:colId xmlns:a16="http://schemas.microsoft.com/office/drawing/2014/main" val="3693041479"/>
                    </a:ext>
                  </a:extLst>
                </a:gridCol>
                <a:gridCol w="1363523">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Compliance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3" name="Table 2">
            <a:extLst>
              <a:ext uri="{FF2B5EF4-FFF2-40B4-BE49-F238E27FC236}">
                <a16:creationId xmlns:a16="http://schemas.microsoft.com/office/drawing/2014/main" id="{017275B2-AA31-D6A2-4726-6EDC35B17CE9}"/>
              </a:ext>
            </a:extLst>
          </p:cNvPr>
          <p:cNvGraphicFramePr>
            <a:graphicFrameLocks noGrp="1"/>
          </p:cNvGraphicFramePr>
          <p:nvPr>
            <p:extLst>
              <p:ext uri="{D42A27DB-BD31-4B8C-83A1-F6EECF244321}">
                <p14:modId xmlns:p14="http://schemas.microsoft.com/office/powerpoint/2010/main" val="2129963635"/>
              </p:ext>
            </p:extLst>
          </p:nvPr>
        </p:nvGraphicFramePr>
        <p:xfrm>
          <a:off x="319816" y="1229440"/>
          <a:ext cx="8594495" cy="3876774"/>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08269">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308269">
                <a:tc rowSpan="3">
                  <a:txBody>
                    <a:bodyPr/>
                    <a:lstStyle/>
                    <a:p>
                      <a:pPr algn="ctr"/>
                      <a:r>
                        <a:rPr lang="en-US" sz="850" b="1" dirty="0">
                          <a:solidFill>
                            <a:schemeClr val="bg1"/>
                          </a:solidFill>
                          <a:latin typeface="+mj-lt"/>
                        </a:rPr>
                        <a:t>4</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Personnel File Review</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Ensure comprehensive compliance with personnel file documentation, focusing on the retention and completeness of records and exclusion of sensitive data(e.g., affirmative action reports).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Incomplete employee files or inclusion of sensitive data may lead to regulatory issues, especially regarding protections around voluntary disclosure, arbitration, non-competes, and non-solicits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Upon inquiry and review of three personnel files, all 2 out of 3 employees were missing Arbitration Agreements and 1 employees Arbitration Agreement was located in </a:t>
                      </a:r>
                      <a:r>
                        <a:rPr lang="en-US" sz="850" kern="1200" dirty="0" err="1">
                          <a:solidFill>
                            <a:schemeClr val="tx1"/>
                          </a:solidFill>
                          <a:latin typeface="+mn-lt"/>
                          <a:ea typeface="+mn-ea"/>
                          <a:cs typeface="+mn-cs"/>
                        </a:rPr>
                        <a:t>JobVite</a:t>
                      </a:r>
                      <a:r>
                        <a:rPr lang="en-US" sz="850" kern="1200" dirty="0">
                          <a:solidFill>
                            <a:schemeClr val="tx1"/>
                          </a:solidFill>
                          <a:latin typeface="+mn-lt"/>
                          <a:ea typeface="+mn-ea"/>
                          <a:cs typeface="+mn-cs"/>
                        </a:rPr>
                        <a:t> and not the employee's personnel file.  Further, one employee was missing their non-compete within their file.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kern="1200" dirty="0">
                          <a:solidFill>
                            <a:schemeClr val="dk1"/>
                          </a:solidFill>
                          <a:latin typeface="+mn-lt"/>
                          <a:ea typeface="+mn-ea"/>
                          <a:cs typeface="+mn-cs"/>
                        </a:rPr>
                        <a:t>The Branch Administrator will work with Human Resources (HRC or HRBP) to review all branch employee files, obtain all necessary paperwork, and ensure sensitive data such as voluntary disclosure agreements, is electronically stored in a confidential folder with limited access (accessible only to HR and the BA). Any missing documentation, excluding agreements, should be completed by the respective employee.</a:t>
                      </a:r>
                    </a:p>
                    <a:p>
                      <a:pPr marL="171450" indent="-171450" algn="l">
                        <a:buFont typeface="Arial" panose="020B0604020202020204" pitchFamily="34" charset="0"/>
                        <a:buChar char="•"/>
                      </a:pPr>
                      <a:r>
                        <a:rPr lang="en-US" sz="850" kern="1200" dirty="0">
                          <a:solidFill>
                            <a:schemeClr val="dk1"/>
                          </a:solidFill>
                          <a:latin typeface="+mn-lt"/>
                          <a:ea typeface="+mn-ea"/>
                          <a:cs typeface="+mn-cs"/>
                        </a:rPr>
                        <a:t>The Branch Administrator and Human Resource team member will work with Legal to determine appropriate next steps for missing agreements including non-compete agreements and mutual arbitration agreements.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650045">
                <a:tc rowSpan="3">
                  <a:txBody>
                    <a:bodyPr/>
                    <a:lstStyle/>
                    <a:p>
                      <a:pPr algn="ctr"/>
                      <a:r>
                        <a:rPr lang="en-US" sz="850" b="1" dirty="0">
                          <a:solidFill>
                            <a:schemeClr val="bg1"/>
                          </a:solidFill>
                          <a:latin typeface="+mj-lt"/>
                        </a:rPr>
                        <a:t>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Vehicle Registration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identify vehicles with expired registrations.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Failure to maintain up-to-date vehicle registration can lead to legal penalties, insurance issues, operational disruptions, reputation damage, and increased liability.</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Vehicle Registration for five vehicles had not been renewed as of the testing date. </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Manager will work with Branch Administrator to monitor for upcoming registration renewals. Items identified by Fleet Management to address renewal activities required will be actioned timely. Branch leadership will recommunicate expectation to drivers that at no time should they be driving a vehicle with an expired registration.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bl>
          </a:graphicData>
        </a:graphic>
      </p:graphicFrame>
      <p:sp>
        <p:nvSpPr>
          <p:cNvPr id="6" name="object 6">
            <a:extLst>
              <a:ext uri="{FF2B5EF4-FFF2-40B4-BE49-F238E27FC236}">
                <a16:creationId xmlns:a16="http://schemas.microsoft.com/office/drawing/2014/main" id="{7650EC07-1E85-CF17-A4D6-7A8E31128701}"/>
              </a:ext>
            </a:extLst>
          </p:cNvPr>
          <p:cNvSpPr txBox="1"/>
          <p:nvPr/>
        </p:nvSpPr>
        <p:spPr>
          <a:xfrm>
            <a:off x="350893" y="277180"/>
            <a:ext cx="6280492"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2865930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Arrow: Pentagon 18">
            <a:extLst>
              <a:ext uri="{FF2B5EF4-FFF2-40B4-BE49-F238E27FC236}">
                <a16:creationId xmlns:a16="http://schemas.microsoft.com/office/drawing/2014/main" id="{D6F9F584-C4E2-479A-A48A-3DAF5A4B551D}"/>
              </a:ext>
            </a:extLst>
          </p:cNvPr>
          <p:cNvSpPr/>
          <p:nvPr/>
        </p:nvSpPr>
        <p:spPr bwMode="gray">
          <a:xfrm>
            <a:off x="317634" y="221381"/>
            <a:ext cx="6395427" cy="365014"/>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46338FFC-265C-DB47-BD16-7F4BEA5AB2DD}"/>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72163601-C737-D8CF-8188-3C76B6492B36}"/>
              </a:ext>
            </a:extLst>
          </p:cNvPr>
          <p:cNvSpPr/>
          <p:nvPr/>
        </p:nvSpPr>
        <p:spPr bwMode="gray">
          <a:xfrm>
            <a:off x="6580869" y="212500"/>
            <a:ext cx="1841327" cy="37544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10B1CBB7-67F0-CB52-F9DF-0EE1988F70B3}"/>
              </a:ext>
            </a:extLst>
          </p:cNvPr>
          <p:cNvSpPr txBox="1"/>
          <p:nvPr/>
        </p:nvSpPr>
        <p:spPr>
          <a:xfrm>
            <a:off x="6783997" y="176039"/>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C56B80BA-307D-18F5-2435-7868D74AD3AA}"/>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1FCD0DD2-3A34-1DC4-3583-7461E4648384}"/>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70415E5C-4F6F-4063-C820-BE1B46799D01}"/>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7" name="Table 6">
            <a:extLst>
              <a:ext uri="{FF2B5EF4-FFF2-40B4-BE49-F238E27FC236}">
                <a16:creationId xmlns:a16="http://schemas.microsoft.com/office/drawing/2014/main" id="{1EE2EA60-51F3-67B7-317E-9B4907B4C4CA}"/>
              </a:ext>
            </a:extLst>
          </p:cNvPr>
          <p:cNvGraphicFramePr>
            <a:graphicFrameLocks noGrp="1"/>
          </p:cNvGraphicFramePr>
          <p:nvPr>
            <p:extLst>
              <p:ext uri="{D42A27DB-BD31-4B8C-83A1-F6EECF244321}">
                <p14:modId xmlns:p14="http://schemas.microsoft.com/office/powerpoint/2010/main" val="604668556"/>
              </p:ext>
            </p:extLst>
          </p:nvPr>
        </p:nvGraphicFramePr>
        <p:xfrm>
          <a:off x="317633" y="671509"/>
          <a:ext cx="2420878" cy="45720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Safety / HR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2" name="Table 1">
            <a:extLst>
              <a:ext uri="{FF2B5EF4-FFF2-40B4-BE49-F238E27FC236}">
                <a16:creationId xmlns:a16="http://schemas.microsoft.com/office/drawing/2014/main" id="{53FD519E-3A87-8BE6-8802-9DB6F4F81A8F}"/>
              </a:ext>
            </a:extLst>
          </p:cNvPr>
          <p:cNvGraphicFramePr>
            <a:graphicFrameLocks noGrp="1"/>
          </p:cNvGraphicFramePr>
          <p:nvPr>
            <p:extLst>
              <p:ext uri="{D42A27DB-BD31-4B8C-83A1-F6EECF244321}">
                <p14:modId xmlns:p14="http://schemas.microsoft.com/office/powerpoint/2010/main" val="3819050334"/>
              </p:ext>
            </p:extLst>
          </p:nvPr>
        </p:nvGraphicFramePr>
        <p:xfrm>
          <a:off x="6245352" y="65497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ysClr val="windowText" lastClr="000000"/>
                          </a:solidFill>
                          <a:latin typeface="+mj-lt"/>
                        </a:rPr>
                        <a:t>41%</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Unsatisfactory</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64985031"/>
                  </a:ext>
                </a:extLst>
              </a:tr>
            </a:tbl>
          </a:graphicData>
        </a:graphic>
      </p:graphicFrame>
      <p:graphicFrame>
        <p:nvGraphicFramePr>
          <p:cNvPr id="4" name="Table 3">
            <a:extLst>
              <a:ext uri="{FF2B5EF4-FFF2-40B4-BE49-F238E27FC236}">
                <a16:creationId xmlns:a16="http://schemas.microsoft.com/office/drawing/2014/main" id="{966CA8DA-E347-A54F-7911-F4021747C794}"/>
              </a:ext>
            </a:extLst>
          </p:cNvPr>
          <p:cNvGraphicFramePr>
            <a:graphicFrameLocks noGrp="1"/>
          </p:cNvGraphicFramePr>
          <p:nvPr>
            <p:extLst>
              <p:ext uri="{D42A27DB-BD31-4B8C-83A1-F6EECF244321}">
                <p14:modId xmlns:p14="http://schemas.microsoft.com/office/powerpoint/2010/main" val="2616900171"/>
              </p:ext>
            </p:extLst>
          </p:nvPr>
        </p:nvGraphicFramePr>
        <p:xfrm>
          <a:off x="319816" y="1229440"/>
          <a:ext cx="8594495" cy="4294279"/>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51489">
                <a:tc>
                  <a:txBody>
                    <a:bodyPr/>
                    <a:lstStyle/>
                    <a:p>
                      <a:pPr algn="ctr"/>
                      <a:r>
                        <a:rPr lang="en-US" sz="850" dirty="0">
                          <a:solidFill>
                            <a:schemeClr val="bg1"/>
                          </a:solidFill>
                          <a:latin typeface="+mj-lt"/>
                        </a:rPr>
                        <a:t>#</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Test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741184">
                <a:tc rowSpan="3">
                  <a:txBody>
                    <a:bodyPr/>
                    <a:lstStyle/>
                    <a:p>
                      <a:pPr algn="ctr"/>
                      <a:r>
                        <a:rPr lang="en-US" sz="850" b="1" dirty="0">
                          <a:solidFill>
                            <a:schemeClr val="bg1"/>
                          </a:solidFill>
                          <a:latin typeface="+mj-lt"/>
                        </a:rPr>
                        <a:t>1</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Timely Incident Lag Reporting</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that accidents, incidents, injuries are reported timely to the Crew Leader/Supervisor or Branch Management and an accident report is completed within 24 hours of the incident. </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Untimely incident reporting may impact employee safety, disrupt operations, and/or result in financial implications linked to increased costs associated with insurance claims.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Trailing 6 Months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481387">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It was noted the branch has a 100%, 67% and 62% lag from incident date to the date of submission for auto, injury, and property claims, respectively, into Riskonnect. In accordance with “BEHSP-054 Accident Reporting Policy,” all incidents must be reported within 24 hours of the event.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35148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management will retrain branch personnel to ensure compliance with the “BEHSP‐054 Accident Reporting Policy” to report accidents, incidents, or injuries within 24 hours into Riskonnect.</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481387">
                <a:tc rowSpan="3">
                  <a:txBody>
                    <a:bodyPr/>
                    <a:lstStyle/>
                    <a:p>
                      <a:pPr algn="ctr"/>
                      <a:r>
                        <a:rPr lang="en-US" sz="850" b="1" dirty="0">
                          <a:solidFill>
                            <a:schemeClr val="bg1"/>
                          </a:solidFill>
                          <a:latin typeface="+mj-lt"/>
                        </a:rPr>
                        <a:t>2</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Safety Training Compliance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branch compliance with required onboarding safety trainings and OSHA training requirements.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Risk relative to well-being of employees and overall stability of the organization (e.g., ability to do business, costs, and reputational risk).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N/A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5148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Per review of the BrightPath Safety Training compliance dashboard, only 57% of branch team members had completed their key safety trainings as of December</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35148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Branch management, including the Safety Leader, should ensure that 100% of team members have completed required trainings within 90 days of hire.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r h="481387">
                <a:tc rowSpan="3">
                  <a:txBody>
                    <a:bodyPr/>
                    <a:lstStyle/>
                    <a:p>
                      <a:pPr algn="ctr"/>
                      <a:r>
                        <a:rPr lang="en-US" sz="850" b="1" dirty="0">
                          <a:solidFill>
                            <a:schemeClr val="bg1"/>
                          </a:solidFill>
                          <a:latin typeface="+mj-lt"/>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Awareness (Poster) Compliance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validate that the branch displays and maintains required safety, HR, and labor law posters visibly on its walls, ensuring compliance with regulations and organizational policies.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Risk relative to well-being of employees and overall stability of the organization (e.g., ability to do business, costs, and reputational risk).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N/A</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914108850"/>
                  </a:ext>
                </a:extLst>
              </a:tr>
              <a:tr h="35148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Auditor observed that 2 out of the 5 required posters were not present, specifically, the "Team Member Concerns line” and “BV Safety Bulletin“.</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55318287"/>
                  </a:ext>
                </a:extLst>
              </a:tr>
              <a:tr h="35148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indent="-171450" algn="l">
                        <a:buFont typeface="Arial" panose="020B0604020202020204" pitchFamily="34" charset="0"/>
                        <a:buChar char="•"/>
                      </a:pPr>
                      <a:r>
                        <a:rPr lang="en-US" sz="850" dirty="0">
                          <a:latin typeface="+mj-lt"/>
                        </a:rPr>
                        <a:t>HR Business Partner will retrain Branch Administrator on internal and regulatory poster requirements and Branch Administrator will ensure posters are up-to-date and visible.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97598405"/>
                  </a:ext>
                </a:extLst>
              </a:tr>
            </a:tbl>
          </a:graphicData>
        </a:graphic>
      </p:graphicFrame>
      <p:sp>
        <p:nvSpPr>
          <p:cNvPr id="6" name="object 6">
            <a:extLst>
              <a:ext uri="{FF2B5EF4-FFF2-40B4-BE49-F238E27FC236}">
                <a16:creationId xmlns:a16="http://schemas.microsoft.com/office/drawing/2014/main" id="{16FBF475-51DE-2223-9ECA-EA4A29DF7442}"/>
              </a:ext>
            </a:extLst>
          </p:cNvPr>
          <p:cNvSpPr txBox="1"/>
          <p:nvPr/>
        </p:nvSpPr>
        <p:spPr>
          <a:xfrm>
            <a:off x="350892" y="277180"/>
            <a:ext cx="6362169"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2764067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9F3E3-E0EC-AC0F-E8F0-3F6314E9EBC8}"/>
            </a:ext>
          </a:extLst>
        </p:cNvPr>
        <p:cNvGrpSpPr/>
        <p:nvPr/>
      </p:nvGrpSpPr>
      <p:grpSpPr>
        <a:xfrm>
          <a:off x="0" y="0"/>
          <a:ext cx="0" cy="0"/>
          <a:chOff x="0" y="0"/>
          <a:chExt cx="0" cy="0"/>
        </a:xfrm>
      </p:grpSpPr>
      <p:sp>
        <p:nvSpPr>
          <p:cNvPr id="19" name="Arrow: Pentagon 18">
            <a:extLst>
              <a:ext uri="{FF2B5EF4-FFF2-40B4-BE49-F238E27FC236}">
                <a16:creationId xmlns:a16="http://schemas.microsoft.com/office/drawing/2014/main" id="{9B8DFF1D-75BA-BED0-DA1E-1482A5831FDF}"/>
              </a:ext>
            </a:extLst>
          </p:cNvPr>
          <p:cNvSpPr/>
          <p:nvPr/>
        </p:nvSpPr>
        <p:spPr bwMode="gray">
          <a:xfrm>
            <a:off x="317634" y="221381"/>
            <a:ext cx="6395427" cy="365014"/>
          </a:xfrm>
          <a:prstGeom prst="homePlate">
            <a:avLst/>
          </a:prstGeom>
          <a:solidFill>
            <a:srgbClr val="0070C0"/>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22" name="TextBox 21">
            <a:extLst>
              <a:ext uri="{FF2B5EF4-FFF2-40B4-BE49-F238E27FC236}">
                <a16:creationId xmlns:a16="http://schemas.microsoft.com/office/drawing/2014/main" id="{4954FC75-C293-3C68-3697-C2C2DAE32B2B}"/>
              </a:ext>
            </a:extLst>
          </p:cNvPr>
          <p:cNvSpPr txBox="1"/>
          <p:nvPr/>
        </p:nvSpPr>
        <p:spPr>
          <a:xfrm>
            <a:off x="317634" y="586909"/>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mn-cs"/>
              </a:rPr>
              <a:t>Branch Overview</a:t>
            </a:r>
          </a:p>
        </p:txBody>
      </p:sp>
      <p:sp>
        <p:nvSpPr>
          <p:cNvPr id="29" name="Arrow: Chevron 28">
            <a:extLst>
              <a:ext uri="{FF2B5EF4-FFF2-40B4-BE49-F238E27FC236}">
                <a16:creationId xmlns:a16="http://schemas.microsoft.com/office/drawing/2014/main" id="{BFCB5DAA-97CC-9EE5-0ECC-6ADA4C2F2A09}"/>
              </a:ext>
            </a:extLst>
          </p:cNvPr>
          <p:cNvSpPr/>
          <p:nvPr/>
        </p:nvSpPr>
        <p:spPr bwMode="gray">
          <a:xfrm>
            <a:off x="6580869" y="212500"/>
            <a:ext cx="1841327" cy="375445"/>
          </a:xfrm>
          <a:prstGeom prst="chevron">
            <a:avLst/>
          </a:prstGeom>
          <a:solidFill>
            <a:schemeClr val="bg1">
              <a:lumMod val="65000"/>
            </a:schemeClr>
          </a:solidFill>
          <a:ln w="9525" algn="ctr">
            <a:noFill/>
            <a:miter lim="800000"/>
            <a:headEnd/>
            <a:tailEnd/>
          </a:ln>
          <a:effectLst/>
        </p:spPr>
        <p:txBody>
          <a:bodyPr wrap="none" lIns="91440" rIns="0" rtlCol="0" anchor="b"/>
          <a:lstStyle/>
          <a:p>
            <a:pPr marL="0" marR="0" lvl="0" indent="0" algn="l" defTabSz="914400" rtl="0" eaLnBrk="1" fontAlgn="auto" latinLnBrk="0" hangingPunct="1">
              <a:lnSpc>
                <a:spcPts val="1200"/>
              </a:lnSpc>
              <a:spcBef>
                <a:spcPts val="0"/>
              </a:spcBef>
              <a:spcAft>
                <a:spcPts val="0"/>
              </a:spcAft>
              <a:buClr>
                <a:prstClr val="black"/>
              </a:buClr>
              <a:buSzTx/>
              <a:buFontTx/>
              <a:buNone/>
              <a:tabLst/>
              <a:defRPr/>
            </a:pPr>
            <a:endParaRPr kumimoji="0" lang="en-US" sz="700" b="0" i="0" u="none" strike="noStrike" kern="1200" cap="none" spc="0" normalizeH="0" baseline="0" noProof="0" dirty="0">
              <a:ln>
                <a:noFill/>
              </a:ln>
              <a:solidFill>
                <a:prstClr val="white"/>
              </a:solidFill>
              <a:effectLst/>
              <a:uLnTx/>
              <a:uFillTx/>
              <a:latin typeface="Arial"/>
              <a:ea typeface="Arial"/>
              <a:cs typeface="Arial"/>
            </a:endParaRPr>
          </a:p>
        </p:txBody>
      </p:sp>
      <p:sp>
        <p:nvSpPr>
          <p:cNvPr id="57" name="TextBox 56">
            <a:extLst>
              <a:ext uri="{FF2B5EF4-FFF2-40B4-BE49-F238E27FC236}">
                <a16:creationId xmlns:a16="http://schemas.microsoft.com/office/drawing/2014/main" id="{7551F341-70F4-B08A-42C4-E8C6C02EDB67}"/>
              </a:ext>
            </a:extLst>
          </p:cNvPr>
          <p:cNvSpPr txBox="1"/>
          <p:nvPr/>
        </p:nvSpPr>
        <p:spPr>
          <a:xfrm>
            <a:off x="6783997" y="176039"/>
            <a:ext cx="1709134" cy="44627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dirty="0">
                <a:ln>
                  <a:noFill/>
                </a:ln>
                <a:solidFill>
                  <a:prstClr val="black"/>
                </a:solidFill>
                <a:effectLst/>
                <a:uLnTx/>
                <a:uFillTx/>
                <a:latin typeface="Arial"/>
                <a:ea typeface="+mn-ea"/>
                <a:cs typeface="+mn-cs"/>
              </a:rPr>
              <a:t>Summary of Observations</a:t>
            </a:r>
          </a:p>
        </p:txBody>
      </p:sp>
      <p:grpSp>
        <p:nvGrpSpPr>
          <p:cNvPr id="67" name="Group 66">
            <a:extLst>
              <a:ext uri="{FF2B5EF4-FFF2-40B4-BE49-F238E27FC236}">
                <a16:creationId xmlns:a16="http://schemas.microsoft.com/office/drawing/2014/main" id="{25229A5D-CE12-08D1-86CE-5E2088364D22}"/>
              </a:ext>
            </a:extLst>
          </p:cNvPr>
          <p:cNvGrpSpPr/>
          <p:nvPr/>
        </p:nvGrpSpPr>
        <p:grpSpPr>
          <a:xfrm>
            <a:off x="8444696" y="170858"/>
            <a:ext cx="410019" cy="415537"/>
            <a:chOff x="-1356836" y="899960"/>
            <a:chExt cx="548640" cy="548640"/>
          </a:xfrm>
        </p:grpSpPr>
        <p:sp>
          <p:nvSpPr>
            <p:cNvPr id="69" name="Ellipse 33">
              <a:extLst>
                <a:ext uri="{FF2B5EF4-FFF2-40B4-BE49-F238E27FC236}">
                  <a16:creationId xmlns:a16="http://schemas.microsoft.com/office/drawing/2014/main" id="{3AB88EAE-DA4F-BADE-A3D0-D1AE562D2F27}"/>
                </a:ext>
              </a:extLst>
            </p:cNvPr>
            <p:cNvSpPr/>
            <p:nvPr/>
          </p:nvSpPr>
          <p:spPr bwMode="gray">
            <a:xfrm>
              <a:off x="-1302784" y="946884"/>
              <a:ext cx="440536" cy="440536"/>
            </a:xfrm>
            <a:prstGeom prst="ellipse">
              <a:avLst/>
            </a:prstGeom>
            <a:solidFill>
              <a:schemeClr val="bg1"/>
            </a:solidFill>
            <a:ln>
              <a:solidFill>
                <a:schemeClr val="tx2"/>
              </a:solid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ysClr val="windowText" lastClr="000000"/>
                  </a:solidFill>
                  <a:effectLst/>
                  <a:uLnTx/>
                  <a:uFillTx/>
                  <a:latin typeface="Arial"/>
                  <a:ea typeface="+mn-ea"/>
                  <a:cs typeface="+mn-cs"/>
                </a:rPr>
                <a:t>2</a:t>
              </a:r>
            </a:p>
          </p:txBody>
        </p:sp>
        <p:sp>
          <p:nvSpPr>
            <p:cNvPr id="70" name="Rad 1">
              <a:hlinkClick r:id="rId3" action="ppaction://hlinksldjump"/>
              <a:extLst>
                <a:ext uri="{FF2B5EF4-FFF2-40B4-BE49-F238E27FC236}">
                  <a16:creationId xmlns:a16="http://schemas.microsoft.com/office/drawing/2014/main" id="{EAA008E3-E7AB-9A69-F626-E9E61737BE99}"/>
                </a:ext>
              </a:extLst>
            </p:cNvPr>
            <p:cNvSpPr/>
            <p:nvPr/>
          </p:nvSpPr>
          <p:spPr bwMode="gray">
            <a:xfrm>
              <a:off x="-1356836" y="899960"/>
              <a:ext cx="548640" cy="548640"/>
            </a:xfrm>
            <a:prstGeom prst="donut">
              <a:avLst>
                <a:gd name="adj" fmla="val 11326"/>
              </a:avLst>
            </a:prstGeom>
            <a:solidFill>
              <a:schemeClr val="tx2"/>
            </a:solidFill>
            <a:ln>
              <a:noFill/>
              <a:headEnd/>
              <a:tailEnd/>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dirty="0">
                <a:ln>
                  <a:noFill/>
                </a:ln>
                <a:solidFill>
                  <a:srgbClr val="000000"/>
                </a:solidFill>
                <a:effectLst/>
                <a:uLnTx/>
                <a:uFillTx/>
                <a:latin typeface="Arial"/>
                <a:ea typeface="+mn-ea"/>
                <a:cs typeface="+mn-cs"/>
              </a:endParaRPr>
            </a:p>
          </p:txBody>
        </p:sp>
      </p:grpSp>
      <p:graphicFrame>
        <p:nvGraphicFramePr>
          <p:cNvPr id="7" name="Table 6">
            <a:extLst>
              <a:ext uri="{FF2B5EF4-FFF2-40B4-BE49-F238E27FC236}">
                <a16:creationId xmlns:a16="http://schemas.microsoft.com/office/drawing/2014/main" id="{08F936C1-C79B-33F9-FF95-0165020CE0BE}"/>
              </a:ext>
            </a:extLst>
          </p:cNvPr>
          <p:cNvGraphicFramePr>
            <a:graphicFrameLocks noGrp="1"/>
          </p:cNvGraphicFramePr>
          <p:nvPr/>
        </p:nvGraphicFramePr>
        <p:xfrm>
          <a:off x="317633" y="671509"/>
          <a:ext cx="2420878" cy="45720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900" dirty="0">
                          <a:latin typeface="+mj-lt"/>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900" b="1" kern="1200" dirty="0">
                          <a:solidFill>
                            <a:schemeClr val="lt1"/>
                          </a:solidFill>
                          <a:latin typeface="+mn-lt"/>
                          <a:ea typeface="+mn-ea"/>
                          <a:cs typeface="+mn-cs"/>
                        </a:rPr>
                        <a:t># Audit Observations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900" b="1" dirty="0">
                          <a:latin typeface="+mj-lt"/>
                        </a:rPr>
                        <a:t>Safety / HR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900" b="1" dirty="0">
                          <a:latin typeface="+mj-lt"/>
                        </a:rPr>
                        <a:t>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graphicFrame>
        <p:nvGraphicFramePr>
          <p:cNvPr id="2" name="Table 1">
            <a:extLst>
              <a:ext uri="{FF2B5EF4-FFF2-40B4-BE49-F238E27FC236}">
                <a16:creationId xmlns:a16="http://schemas.microsoft.com/office/drawing/2014/main" id="{27ABBB4F-E125-830A-328E-FAA7AE7F6085}"/>
              </a:ext>
            </a:extLst>
          </p:cNvPr>
          <p:cNvGraphicFramePr>
            <a:graphicFrameLocks noGrp="1"/>
          </p:cNvGraphicFramePr>
          <p:nvPr/>
        </p:nvGraphicFramePr>
        <p:xfrm>
          <a:off x="6245352" y="65497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ysClr val="windowText" lastClr="000000"/>
                          </a:solidFill>
                          <a:latin typeface="+mj-lt"/>
                        </a:rPr>
                        <a:t>41%</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Unsatisfactory</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64985031"/>
                  </a:ext>
                </a:extLst>
              </a:tr>
            </a:tbl>
          </a:graphicData>
        </a:graphic>
      </p:graphicFrame>
      <p:graphicFrame>
        <p:nvGraphicFramePr>
          <p:cNvPr id="4" name="Table 3">
            <a:extLst>
              <a:ext uri="{FF2B5EF4-FFF2-40B4-BE49-F238E27FC236}">
                <a16:creationId xmlns:a16="http://schemas.microsoft.com/office/drawing/2014/main" id="{5EFD8A2D-60C8-69F1-21D9-038D71CE8593}"/>
              </a:ext>
            </a:extLst>
          </p:cNvPr>
          <p:cNvGraphicFramePr>
            <a:graphicFrameLocks noGrp="1"/>
          </p:cNvGraphicFramePr>
          <p:nvPr>
            <p:extLst>
              <p:ext uri="{D42A27DB-BD31-4B8C-83A1-F6EECF244321}">
                <p14:modId xmlns:p14="http://schemas.microsoft.com/office/powerpoint/2010/main" val="1497563411"/>
              </p:ext>
            </p:extLst>
          </p:nvPr>
        </p:nvGraphicFramePr>
        <p:xfrm>
          <a:off x="319816" y="1229440"/>
          <a:ext cx="8594495" cy="3173014"/>
        </p:xfrm>
        <a:graphic>
          <a:graphicData uri="http://schemas.openxmlformats.org/drawingml/2006/table">
            <a:tbl>
              <a:tblPr firstRow="1" bandRow="1">
                <a:tableStyleId>{5C22544A-7EE6-4342-B048-85BDC9FD1C3A}</a:tableStyleId>
              </a:tblPr>
              <a:tblGrid>
                <a:gridCol w="277475">
                  <a:extLst>
                    <a:ext uri="{9D8B030D-6E8A-4147-A177-3AD203B41FA5}">
                      <a16:colId xmlns:a16="http://schemas.microsoft.com/office/drawing/2014/main" val="4098719564"/>
                    </a:ext>
                  </a:extLst>
                </a:gridCol>
                <a:gridCol w="1006038">
                  <a:extLst>
                    <a:ext uri="{9D8B030D-6E8A-4147-A177-3AD203B41FA5}">
                      <a16:colId xmlns:a16="http://schemas.microsoft.com/office/drawing/2014/main" val="3984688319"/>
                    </a:ext>
                  </a:extLst>
                </a:gridCol>
                <a:gridCol w="3350891">
                  <a:extLst>
                    <a:ext uri="{9D8B030D-6E8A-4147-A177-3AD203B41FA5}">
                      <a16:colId xmlns:a16="http://schemas.microsoft.com/office/drawing/2014/main" val="1096685356"/>
                    </a:ext>
                  </a:extLst>
                </a:gridCol>
                <a:gridCol w="2497049">
                  <a:extLst>
                    <a:ext uri="{9D8B030D-6E8A-4147-A177-3AD203B41FA5}">
                      <a16:colId xmlns:a16="http://schemas.microsoft.com/office/drawing/2014/main" val="1655742408"/>
                    </a:ext>
                  </a:extLst>
                </a:gridCol>
                <a:gridCol w="637390">
                  <a:extLst>
                    <a:ext uri="{9D8B030D-6E8A-4147-A177-3AD203B41FA5}">
                      <a16:colId xmlns:a16="http://schemas.microsoft.com/office/drawing/2014/main" val="3227336996"/>
                    </a:ext>
                  </a:extLst>
                </a:gridCol>
                <a:gridCol w="825652">
                  <a:extLst>
                    <a:ext uri="{9D8B030D-6E8A-4147-A177-3AD203B41FA5}">
                      <a16:colId xmlns:a16="http://schemas.microsoft.com/office/drawing/2014/main" val="1441706"/>
                    </a:ext>
                  </a:extLst>
                </a:gridCol>
              </a:tblGrid>
              <a:tr h="308269">
                <a:tc>
                  <a:txBody>
                    <a:bodyPr/>
                    <a:lstStyle/>
                    <a:p>
                      <a:pPr algn="ctr"/>
                      <a:r>
                        <a:rPr lang="en-US" sz="850">
                          <a:solidFill>
                            <a:schemeClr val="bg1"/>
                          </a:solidFill>
                          <a:latin typeface="+mj-lt"/>
                        </a:rPr>
                        <a:t>#</a:t>
                      </a:r>
                      <a:endParaRPr lang="en-US" sz="850"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a:solidFill>
                            <a:schemeClr val="bg1"/>
                          </a:solidFill>
                          <a:latin typeface="+mj-lt"/>
                        </a:rPr>
                        <a:t>Audit Test</a:t>
                      </a:r>
                      <a:endParaRPr lang="en-US" sz="850" dirty="0">
                        <a:solidFill>
                          <a:schemeClr val="bg1"/>
                        </a:solidFill>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dirty="0">
                          <a:solidFill>
                            <a:schemeClr val="bg1"/>
                          </a:solidFill>
                          <a:latin typeface="+mj-lt"/>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Sample Size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mj-lt"/>
                        </a:rPr>
                        <a:t>Report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941972665"/>
                  </a:ext>
                </a:extLst>
              </a:tr>
              <a:tr h="308269">
                <a:tc rowSpan="3">
                  <a:txBody>
                    <a:bodyPr/>
                    <a:lstStyle/>
                    <a:p>
                      <a:pPr algn="ctr"/>
                      <a:r>
                        <a:rPr lang="en-US" sz="850" b="1" dirty="0">
                          <a:solidFill>
                            <a:schemeClr val="bg1"/>
                          </a:solidFill>
                          <a:latin typeface="+mj-lt"/>
                        </a:rPr>
                        <a:t>4</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Electronic DVIR Compliance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ensure completeness, accuracy, and timely submission of electronic DVIR, mitigating the risk of incomplete inspections and enhancing safety protocols.</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Incomplete electronic DVIR may lead to incomplete inspections, heightened safety risks, and potential resistance to technology adoption.</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3</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MTD 12/31/25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4771850"/>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the review of the DVIR report, 1 of 3 inspections sampled had a post-check date that was 4 days subsequent to the pre-check date.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lnL w="12700" cap="flat" cmpd="sng" algn="ctr">
                      <a:solidFill>
                        <a:schemeClr val="bg1">
                          <a:lumMod val="85000"/>
                        </a:schemeClr>
                      </a:solidFill>
                      <a:prstDash val="solid"/>
                      <a:round/>
                      <a:headEnd type="none" w="med" len="med"/>
                      <a:tailEnd type="none" w="med" len="med"/>
                    </a:lnL>
                    <a:lnT w="12700" cap="flat" cmpd="sng" algn="ctr">
                      <a:solidFill>
                        <a:schemeClr val="bg1">
                          <a:lumMod val="85000"/>
                        </a:schemeClr>
                      </a:solidFill>
                      <a:prstDash val="solid"/>
                      <a:round/>
                      <a:headEnd type="none" w="med" len="med"/>
                      <a:tailEnd type="none" w="med" len="med"/>
                    </a:lnT>
                  </a:tcP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11328480"/>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50" kern="1200" dirty="0">
                          <a:solidFill>
                            <a:schemeClr val="dk1"/>
                          </a:solidFill>
                          <a:latin typeface="+mn-lt"/>
                          <a:ea typeface="+mn-ea"/>
                          <a:cs typeface="+mn-cs"/>
                        </a:rPr>
                        <a:t>The Branch Manager will retrain field employees on the DVIR policy and requirements for pre-check, gate check, and post-check, including the requirement to complete checks on the same day.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lnL w="12700" cap="flat" cmpd="sng" algn="ctr">
                      <a:solidFill>
                        <a:schemeClr val="bg1">
                          <a:lumMod val="85000"/>
                        </a:schemeClr>
                      </a:solidFill>
                      <a:prstDash val="solid"/>
                      <a:round/>
                      <a:headEnd type="none" w="med" len="med"/>
                      <a:tailEnd type="none" w="med" len="med"/>
                    </a:ln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071512127"/>
                  </a:ext>
                </a:extLst>
              </a:tr>
              <a:tr h="650045">
                <a:tc rowSpan="3">
                  <a:txBody>
                    <a:bodyPr/>
                    <a:lstStyle/>
                    <a:p>
                      <a:pPr algn="ctr"/>
                      <a:r>
                        <a:rPr lang="en-US" sz="850" b="1" dirty="0">
                          <a:solidFill>
                            <a:schemeClr val="bg1"/>
                          </a:solidFill>
                          <a:latin typeface="+mj-lt"/>
                        </a:rPr>
                        <a:t>5</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marL="0" algn="ctr" defTabSz="457200" rtl="0" eaLnBrk="1" fontAlgn="ctr" latinLnBrk="0" hangingPunct="1"/>
                      <a:r>
                        <a:rPr lang="en-US" sz="850" b="1" i="0" u="none" strike="noStrike" kern="1200" dirty="0">
                          <a:solidFill>
                            <a:schemeClr val="tx1"/>
                          </a:solidFill>
                          <a:effectLst/>
                          <a:latin typeface="Arial" panose="020B0604020202020204" pitchFamily="34" charset="0"/>
                          <a:ea typeface="+mn-ea"/>
                          <a:cs typeface="Arial" panose="020B0604020202020204" pitchFamily="34" charset="0"/>
                        </a:rPr>
                        <a:t>Driver Compliance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To verify that all active drivers are included in the driver compliance system and have all required documentation to achieve full compliance.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ctr" latinLnBrk="0" hangingPunct="1">
                        <a:lnSpc>
                          <a:spcPct val="100000"/>
                        </a:lnSpc>
                        <a:spcBef>
                          <a:spcPts val="0"/>
                        </a:spcBef>
                        <a:spcAft>
                          <a:spcPts val="0"/>
                        </a:spcAft>
                        <a:buClrTx/>
                        <a:buSzTx/>
                        <a:buFontTx/>
                        <a:buNone/>
                        <a:tabLst/>
                        <a:defRPr/>
                      </a:pPr>
                      <a:r>
                        <a:rPr lang="en-US" sz="850" b="0" i="1" u="none" strike="noStrike" kern="1200" dirty="0">
                          <a:solidFill>
                            <a:schemeClr val="tx1"/>
                          </a:solidFill>
                          <a:effectLst/>
                          <a:latin typeface="Arial" panose="020B0604020202020204" pitchFamily="34" charset="0"/>
                          <a:ea typeface="+mn-ea"/>
                          <a:cs typeface="Arial" panose="020B0604020202020204" pitchFamily="34" charset="0"/>
                        </a:rPr>
                        <a:t>Drivers who are missing required documentation or are not properly included in the compliance system may not achieve full compliance requirements, increasing safety, regulatory, and liability risk.</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All</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0" algn="ctr" defTabSz="457200" rtl="0" eaLnBrk="1" fontAlgn="ctr" latinLnBrk="0" hangingPunct="1"/>
                      <a:r>
                        <a:rPr lang="en-US" sz="850" b="0" i="0" u="none" strike="noStrike" kern="1200" dirty="0">
                          <a:solidFill>
                            <a:schemeClr val="tx1"/>
                          </a:solidFill>
                          <a:effectLst/>
                          <a:latin typeface="Arial" panose="020B0604020202020204" pitchFamily="34" charset="0"/>
                          <a:ea typeface="+mn-ea"/>
                          <a:cs typeface="Arial" panose="020B0604020202020204" pitchFamily="34" charset="0"/>
                        </a:rPr>
                        <a:t>Point in Time</a:t>
                      </a: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155358113"/>
                  </a:ext>
                </a:extLst>
              </a:tr>
              <a:tr h="308269">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kern="1200" dirty="0">
                          <a:solidFill>
                            <a:schemeClr val="tx1"/>
                          </a:solidFill>
                          <a:latin typeface="+mj-lt"/>
                          <a:ea typeface="+mn-ea"/>
                          <a:cs typeface="+mn-cs"/>
                        </a:rPr>
                        <a:t>Observation(s):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FFFFCC"/>
                    </a:solidFill>
                  </a:tcPr>
                </a:tc>
                <a:tc gridSpan="2">
                  <a:txBody>
                    <a:bodyPr/>
                    <a:lstStyle/>
                    <a:p>
                      <a:pPr marL="171450" indent="-171450" algn="l" defTabSz="457200" rtl="0" eaLnBrk="1" latinLnBrk="0" hangingPunct="1">
                        <a:buFont typeface="Arial" panose="020B0604020202020204" pitchFamily="34" charset="0"/>
                        <a:buChar char="•"/>
                      </a:pPr>
                      <a:r>
                        <a:rPr lang="en-US" sz="850" kern="1200" dirty="0">
                          <a:solidFill>
                            <a:schemeClr val="tx1"/>
                          </a:solidFill>
                          <a:latin typeface="+mn-lt"/>
                          <a:ea typeface="+mn-ea"/>
                          <a:cs typeface="+mn-cs"/>
                        </a:rPr>
                        <a:t>Based on the Driver Compliance file from First Advantage, only 6 out of 54 employees were compliant (i.e., did not have required documentation to support driver eligibility).</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tc hMerge="1">
                  <a:txBody>
                    <a:bodyPr/>
                    <a:lstStyle/>
                    <a:p>
                      <a:pPr algn="ctr"/>
                      <a:r>
                        <a:rPr lang="en-US" sz="1000" i="0" dirty="0"/>
                        <a:t>Root Cause:</a:t>
                      </a:r>
                    </a:p>
                  </a:txBody>
                  <a:tcPr anchor="ctr"/>
                </a:tc>
                <a:tc rowSpan="2">
                  <a:txBody>
                    <a:bodyPr/>
                    <a:lstStyle/>
                    <a:p>
                      <a:pPr algn="ctr">
                        <a:lnSpc>
                          <a:spcPct val="100000"/>
                        </a:lnSpc>
                      </a:pPr>
                      <a:r>
                        <a:rPr lang="en-US" sz="850" b="0" kern="1200" dirty="0">
                          <a:solidFill>
                            <a:schemeClr val="bg1"/>
                          </a:solidFill>
                          <a:latin typeface="+mj-lt"/>
                          <a:ea typeface="+mn-ea"/>
                          <a:cs typeface="Times New Roman"/>
                        </a:rPr>
                        <a:t>Financial</a:t>
                      </a:r>
                    </a:p>
                    <a:p>
                      <a:pPr algn="ctr">
                        <a:lnSpc>
                          <a:spcPct val="100000"/>
                        </a:lnSpc>
                      </a:pPr>
                      <a:r>
                        <a:rPr lang="en-US" sz="850" b="0" kern="1200" dirty="0">
                          <a:solidFill>
                            <a:schemeClr val="bg1"/>
                          </a:solidFill>
                          <a:latin typeface="+mj-lt"/>
                          <a:ea typeface="+mn-ea"/>
                          <a:cs typeface="Times New Roman"/>
                        </a:rPr>
                        <a:t>Impact</a:t>
                      </a: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7030A0"/>
                    </a:solidFill>
                  </a:tcPr>
                </a:tc>
                <a:tc rowSpan="2">
                  <a:txBody>
                    <a:bodyPr/>
                    <a:lstStyle/>
                    <a:p>
                      <a:pPr marL="635" algn="ctr">
                        <a:lnSpc>
                          <a:spcPct val="100000"/>
                        </a:lnSpc>
                        <a:spcBef>
                          <a:spcPts val="670"/>
                        </a:spcBef>
                      </a:pPr>
                      <a:r>
                        <a:rPr lang="en-US" sz="850" spc="-25" dirty="0">
                          <a:latin typeface="+mj-lt"/>
                          <a:cs typeface="Arial"/>
                        </a:rPr>
                        <a:t>$</a:t>
                      </a:r>
                      <a:r>
                        <a:rPr sz="850" spc="-25" dirty="0">
                          <a:latin typeface="+mj-lt"/>
                          <a:cs typeface="Arial"/>
                        </a:rPr>
                        <a:t>-</a:t>
                      </a:r>
                      <a:endParaRPr sz="850" dirty="0">
                        <a:latin typeface="+mj-lt"/>
                        <a:cs typeface="Arial"/>
                      </a:endParaRPr>
                    </a:p>
                  </a:txBody>
                  <a:tcPr marL="0" marR="0" marT="0" marB="0"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857367"/>
                  </a:ext>
                </a:extLst>
              </a:tr>
              <a:tr h="422194">
                <a:tc vMerge="1">
                  <a:txBody>
                    <a:bodyPr/>
                    <a:lstStyle/>
                    <a:p>
                      <a:pPr algn="ctr"/>
                      <a:endParaRPr lang="en-US" sz="850" b="1" dirty="0">
                        <a:solidFill>
                          <a:schemeClr val="bg1"/>
                        </a:solidFill>
                        <a:latin typeface="+mj-lt"/>
                      </a:endParaRPr>
                    </a:p>
                  </a:txBody>
                  <a:tcPr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50000"/>
                      </a:schemeClr>
                    </a:solidFill>
                  </a:tcPr>
                </a:tc>
                <a:tc>
                  <a:txBody>
                    <a:bodyPr/>
                    <a:lstStyle/>
                    <a:p>
                      <a:pPr algn="ctr"/>
                      <a:r>
                        <a:rPr lang="en-US" sz="850" b="1" dirty="0">
                          <a:solidFill>
                            <a:schemeClr val="bg1"/>
                          </a:solidFill>
                          <a:latin typeface="+mj-lt"/>
                        </a:rPr>
                        <a:t>Action Plan:</a:t>
                      </a:r>
                      <a:endParaRPr lang="en-US" sz="850" dirty="0">
                        <a:latin typeface="+mj-lt"/>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accent3"/>
                    </a:solidFill>
                  </a:tcPr>
                </a:tc>
                <a:tc gridSpan="2">
                  <a:txBody>
                    <a:bodyPr/>
                    <a:lstStyle/>
                    <a:p>
                      <a:pPr marL="171450" marR="0" lvl="0" indent="-1714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850" kern="1200" dirty="0">
                          <a:solidFill>
                            <a:schemeClr val="dk1"/>
                          </a:solidFill>
                          <a:latin typeface="+mn-lt"/>
                          <a:ea typeface="+mn-ea"/>
                          <a:cs typeface="+mn-cs"/>
                        </a:rPr>
                        <a:t>Branch management will reinforce shared accountability for safety and the importance of accurate driver records and will oversee processes to ensure timely follow-up on non-compliance, routine monitoring of First Advantage, and removal of non-compliant drivers from driving duties until requirements are satisfied.</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solidFill>
                  </a:tcPr>
                </a:tc>
                <a:tc hMerge="1">
                  <a:txBody>
                    <a:bodyPr/>
                    <a:lstStyle/>
                    <a:p>
                      <a:endParaRPr lang="en-US"/>
                    </a:p>
                  </a:txBody>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7030A0"/>
                    </a:solidFill>
                  </a:tcPr>
                </a:tc>
                <a:tc vMerge="1">
                  <a:txBody>
                    <a:bodyPr/>
                    <a:lstStyle/>
                    <a:p>
                      <a:endParaRPr/>
                    </a:p>
                  </a:txBody>
                  <a:tcPr marL="0" marR="0" marT="0" marB="0">
                    <a:lnL w="12700" cap="flat" cmpd="sng" algn="ctr">
                      <a:solidFill>
                        <a:schemeClr val="bg1">
                          <a:lumMod val="8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884102982"/>
                  </a:ext>
                </a:extLst>
              </a:tr>
            </a:tbl>
          </a:graphicData>
        </a:graphic>
      </p:graphicFrame>
      <p:sp>
        <p:nvSpPr>
          <p:cNvPr id="6" name="object 6">
            <a:extLst>
              <a:ext uri="{FF2B5EF4-FFF2-40B4-BE49-F238E27FC236}">
                <a16:creationId xmlns:a16="http://schemas.microsoft.com/office/drawing/2014/main" id="{DA96E2A7-7133-5BB6-C883-A5F208C6E0EC}"/>
              </a:ext>
            </a:extLst>
          </p:cNvPr>
          <p:cNvSpPr txBox="1"/>
          <p:nvPr/>
        </p:nvSpPr>
        <p:spPr>
          <a:xfrm>
            <a:off x="350892" y="277180"/>
            <a:ext cx="6362169" cy="228268"/>
          </a:xfrm>
          <a:prstGeom prst="rect">
            <a:avLst/>
          </a:prstGeom>
        </p:spPr>
        <p:txBody>
          <a:bodyPr vert="horz" wrap="square" lIns="0" tIns="12700" rIns="0" bIns="0" rtlCol="0">
            <a:spAutoFit/>
          </a:bodyPr>
          <a:lstStyle/>
          <a:p>
            <a:pPr lvl="0">
              <a:defRPr/>
            </a:pPr>
            <a:r>
              <a:rPr lang="en-US" sz="1400" b="1" dirty="0">
                <a:solidFill>
                  <a:schemeClr val="bg1"/>
                </a:solidFill>
                <a:latin typeface="Arial" panose="020B0604020202020204" pitchFamily="34" charset="0"/>
                <a:cs typeface="Arial" panose="020B0604020202020204" pitchFamily="34" charset="0"/>
              </a:rPr>
              <a:t>3208 BVLS Orange County Central </a:t>
            </a:r>
            <a:r>
              <a:rPr lang="en-US" sz="14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1197589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52388" y="211836"/>
            <a:ext cx="1841500" cy="376555"/>
          </a:xfrm>
          <a:custGeom>
            <a:avLst/>
            <a:gdLst/>
            <a:ahLst/>
            <a:cxnLst/>
            <a:rect l="l" t="t" r="r" b="b"/>
            <a:pathLst>
              <a:path w="1841500" h="376555">
                <a:moveTo>
                  <a:pt x="1652777" y="0"/>
                </a:moveTo>
                <a:lnTo>
                  <a:pt x="0" y="0"/>
                </a:lnTo>
                <a:lnTo>
                  <a:pt x="188214" y="188214"/>
                </a:lnTo>
                <a:lnTo>
                  <a:pt x="0" y="376428"/>
                </a:lnTo>
                <a:lnTo>
                  <a:pt x="1652777" y="376428"/>
                </a:lnTo>
                <a:lnTo>
                  <a:pt x="1840992" y="188214"/>
                </a:lnTo>
                <a:lnTo>
                  <a:pt x="1652777" y="0"/>
                </a:lnTo>
                <a:close/>
              </a:path>
            </a:pathLst>
          </a:custGeom>
          <a:solidFill>
            <a:srgbClr val="A6A6A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4" name="object 4"/>
          <p:cNvSpPr txBox="1"/>
          <p:nvPr/>
        </p:nvSpPr>
        <p:spPr>
          <a:xfrm>
            <a:off x="6433526" y="204486"/>
            <a:ext cx="1382006" cy="366767"/>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Arial"/>
                <a:cs typeface="Arial"/>
              </a:rPr>
              <a:t>Audit Program Summary</a:t>
            </a:r>
            <a:endParaRPr kumimoji="0" sz="1150" b="0" i="0" u="none" strike="noStrike" kern="0" cap="none" spc="0" normalizeH="0" baseline="0" noProof="0" dirty="0">
              <a:ln>
                <a:noFill/>
              </a:ln>
              <a:solidFill>
                <a:sysClr val="windowText" lastClr="000000"/>
              </a:solidFill>
              <a:effectLst/>
              <a:uLnTx/>
              <a:uFillTx/>
              <a:latin typeface="Arial"/>
              <a:cs typeface="Arial"/>
            </a:endParaRPr>
          </a:p>
        </p:txBody>
      </p:sp>
      <p:sp>
        <p:nvSpPr>
          <p:cNvPr id="5" name="object 5"/>
          <p:cNvSpPr/>
          <p:nvPr/>
        </p:nvSpPr>
        <p:spPr>
          <a:xfrm>
            <a:off x="8486392" y="206502"/>
            <a:ext cx="329565" cy="334010"/>
          </a:xfrm>
          <a:custGeom>
            <a:avLst/>
            <a:gdLst/>
            <a:ahLst/>
            <a:cxnLst/>
            <a:rect l="l" t="t" r="r" b="b"/>
            <a:pathLst>
              <a:path w="329565" h="334009">
                <a:moveTo>
                  <a:pt x="0" y="166877"/>
                </a:moveTo>
                <a:lnTo>
                  <a:pt x="5879" y="122515"/>
                </a:lnTo>
                <a:lnTo>
                  <a:pt x="22470" y="82651"/>
                </a:lnTo>
                <a:lnTo>
                  <a:pt x="48206" y="48877"/>
                </a:lnTo>
                <a:lnTo>
                  <a:pt x="81517" y="22783"/>
                </a:lnTo>
                <a:lnTo>
                  <a:pt x="120835" y="5961"/>
                </a:lnTo>
                <a:lnTo>
                  <a:pt x="164592" y="0"/>
                </a:lnTo>
                <a:lnTo>
                  <a:pt x="208348" y="5961"/>
                </a:lnTo>
                <a:lnTo>
                  <a:pt x="247666" y="22783"/>
                </a:lnTo>
                <a:lnTo>
                  <a:pt x="280977" y="48877"/>
                </a:lnTo>
                <a:lnTo>
                  <a:pt x="306713" y="82651"/>
                </a:lnTo>
                <a:lnTo>
                  <a:pt x="323304" y="122515"/>
                </a:lnTo>
                <a:lnTo>
                  <a:pt x="329184" y="166877"/>
                </a:lnTo>
                <a:lnTo>
                  <a:pt x="323304" y="211240"/>
                </a:lnTo>
                <a:lnTo>
                  <a:pt x="306713" y="251104"/>
                </a:lnTo>
                <a:lnTo>
                  <a:pt x="280977" y="284878"/>
                </a:lnTo>
                <a:lnTo>
                  <a:pt x="247666" y="310972"/>
                </a:lnTo>
                <a:lnTo>
                  <a:pt x="208348" y="327794"/>
                </a:lnTo>
                <a:lnTo>
                  <a:pt x="164592" y="333755"/>
                </a:lnTo>
                <a:lnTo>
                  <a:pt x="120835" y="327794"/>
                </a:lnTo>
                <a:lnTo>
                  <a:pt x="81517" y="310972"/>
                </a:lnTo>
                <a:lnTo>
                  <a:pt x="48206" y="284878"/>
                </a:lnTo>
                <a:lnTo>
                  <a:pt x="22470" y="251104"/>
                </a:lnTo>
                <a:lnTo>
                  <a:pt x="5879" y="211240"/>
                </a:lnTo>
                <a:lnTo>
                  <a:pt x="0" y="166877"/>
                </a:lnTo>
                <a:close/>
              </a:path>
            </a:pathLst>
          </a:custGeom>
          <a:ln w="25400">
            <a:solidFill>
              <a:srgbClr val="0071C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8573506" y="217271"/>
            <a:ext cx="1530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1" i="0" strike="noStrike" kern="0" cap="none" spc="0" normalizeH="0" baseline="0" noProof="0" dirty="0">
                <a:ln>
                  <a:noFill/>
                </a:ln>
                <a:solidFill>
                  <a:sysClr val="windowText" lastClr="000000"/>
                </a:solidFill>
                <a:effectLst/>
                <a:uLnTx/>
                <a:uFillTx/>
                <a:latin typeface="Arial"/>
                <a:cs typeface="Arial"/>
              </a:rPr>
              <a:t>3</a:t>
            </a:r>
            <a:endParaRPr kumimoji="0" sz="1800" b="1" i="0"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8444483" y="170687"/>
            <a:ext cx="410209" cy="416559"/>
          </a:xfrm>
          <a:custGeom>
            <a:avLst/>
            <a:gdLst/>
            <a:ahLst/>
            <a:cxnLst/>
            <a:rect l="l" t="t" r="r" b="b"/>
            <a:pathLst>
              <a:path w="410209" h="416559">
                <a:moveTo>
                  <a:pt x="204978" y="0"/>
                </a:moveTo>
                <a:lnTo>
                  <a:pt x="157977" y="5494"/>
                </a:lnTo>
                <a:lnTo>
                  <a:pt x="114833" y="21144"/>
                </a:lnTo>
                <a:lnTo>
                  <a:pt x="76774" y="45702"/>
                </a:lnTo>
                <a:lnTo>
                  <a:pt x="45030" y="77918"/>
                </a:lnTo>
                <a:lnTo>
                  <a:pt x="20833" y="116543"/>
                </a:lnTo>
                <a:lnTo>
                  <a:pt x="5413" y="160329"/>
                </a:lnTo>
                <a:lnTo>
                  <a:pt x="0" y="208026"/>
                </a:lnTo>
                <a:lnTo>
                  <a:pt x="5413" y="255722"/>
                </a:lnTo>
                <a:lnTo>
                  <a:pt x="20833" y="299508"/>
                </a:lnTo>
                <a:lnTo>
                  <a:pt x="45030" y="338133"/>
                </a:lnTo>
                <a:lnTo>
                  <a:pt x="76774" y="370349"/>
                </a:lnTo>
                <a:lnTo>
                  <a:pt x="114833" y="394907"/>
                </a:lnTo>
                <a:lnTo>
                  <a:pt x="157977" y="410557"/>
                </a:lnTo>
                <a:lnTo>
                  <a:pt x="204978" y="416052"/>
                </a:lnTo>
                <a:lnTo>
                  <a:pt x="251978" y="410557"/>
                </a:lnTo>
                <a:lnTo>
                  <a:pt x="295122" y="394907"/>
                </a:lnTo>
                <a:lnTo>
                  <a:pt x="333181" y="370349"/>
                </a:lnTo>
                <a:lnTo>
                  <a:pt x="333899" y="369620"/>
                </a:lnTo>
                <a:lnTo>
                  <a:pt x="204978" y="369620"/>
                </a:lnTo>
                <a:lnTo>
                  <a:pt x="154863" y="361382"/>
                </a:lnTo>
                <a:lnTo>
                  <a:pt x="111340" y="338441"/>
                </a:lnTo>
                <a:lnTo>
                  <a:pt x="77020" y="303460"/>
                </a:lnTo>
                <a:lnTo>
                  <a:pt x="54513" y="259101"/>
                </a:lnTo>
                <a:lnTo>
                  <a:pt x="46431" y="208026"/>
                </a:lnTo>
                <a:lnTo>
                  <a:pt x="54513" y="156950"/>
                </a:lnTo>
                <a:lnTo>
                  <a:pt x="77020" y="112591"/>
                </a:lnTo>
                <a:lnTo>
                  <a:pt x="111340" y="77610"/>
                </a:lnTo>
                <a:lnTo>
                  <a:pt x="154863" y="54669"/>
                </a:lnTo>
                <a:lnTo>
                  <a:pt x="204978" y="46431"/>
                </a:lnTo>
                <a:lnTo>
                  <a:pt x="333899" y="46431"/>
                </a:lnTo>
                <a:lnTo>
                  <a:pt x="333181" y="45702"/>
                </a:lnTo>
                <a:lnTo>
                  <a:pt x="295122" y="21144"/>
                </a:lnTo>
                <a:lnTo>
                  <a:pt x="251978" y="5494"/>
                </a:lnTo>
                <a:lnTo>
                  <a:pt x="204978" y="0"/>
                </a:lnTo>
                <a:close/>
              </a:path>
              <a:path w="410209" h="416559">
                <a:moveTo>
                  <a:pt x="333899" y="46431"/>
                </a:moveTo>
                <a:lnTo>
                  <a:pt x="204978" y="46431"/>
                </a:lnTo>
                <a:lnTo>
                  <a:pt x="255092" y="54669"/>
                </a:lnTo>
                <a:lnTo>
                  <a:pt x="298615" y="77610"/>
                </a:lnTo>
                <a:lnTo>
                  <a:pt x="332935" y="112591"/>
                </a:lnTo>
                <a:lnTo>
                  <a:pt x="355442" y="156950"/>
                </a:lnTo>
                <a:lnTo>
                  <a:pt x="363524" y="208026"/>
                </a:lnTo>
                <a:lnTo>
                  <a:pt x="355442" y="259101"/>
                </a:lnTo>
                <a:lnTo>
                  <a:pt x="332935" y="303460"/>
                </a:lnTo>
                <a:lnTo>
                  <a:pt x="298615" y="338441"/>
                </a:lnTo>
                <a:lnTo>
                  <a:pt x="255092" y="361382"/>
                </a:lnTo>
                <a:lnTo>
                  <a:pt x="204978" y="369620"/>
                </a:lnTo>
                <a:lnTo>
                  <a:pt x="333899" y="369620"/>
                </a:lnTo>
                <a:lnTo>
                  <a:pt x="364925" y="338133"/>
                </a:lnTo>
                <a:lnTo>
                  <a:pt x="389122" y="299508"/>
                </a:lnTo>
                <a:lnTo>
                  <a:pt x="404542" y="255722"/>
                </a:lnTo>
                <a:lnTo>
                  <a:pt x="409956" y="208026"/>
                </a:lnTo>
                <a:lnTo>
                  <a:pt x="404542" y="160329"/>
                </a:lnTo>
                <a:lnTo>
                  <a:pt x="389122" y="116543"/>
                </a:lnTo>
                <a:lnTo>
                  <a:pt x="364925" y="77918"/>
                </a:lnTo>
                <a:lnTo>
                  <a:pt x="333899" y="46431"/>
                </a:lnTo>
                <a:close/>
              </a:path>
            </a:pathLst>
          </a:custGeom>
          <a:solidFill>
            <a:srgbClr val="0071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graphicFrame>
        <p:nvGraphicFramePr>
          <p:cNvPr id="12" name="Table 11">
            <a:extLst>
              <a:ext uri="{FF2B5EF4-FFF2-40B4-BE49-F238E27FC236}">
                <a16:creationId xmlns:a16="http://schemas.microsoft.com/office/drawing/2014/main" id="{050F21EF-9978-7FFE-B925-56B322A0C2C0}"/>
              </a:ext>
            </a:extLst>
          </p:cNvPr>
          <p:cNvGraphicFramePr>
            <a:graphicFrameLocks noGrp="1"/>
          </p:cNvGraphicFramePr>
          <p:nvPr>
            <p:extLst>
              <p:ext uri="{D42A27DB-BD31-4B8C-83A1-F6EECF244321}">
                <p14:modId xmlns:p14="http://schemas.microsoft.com/office/powerpoint/2010/main" val="3026351764"/>
              </p:ext>
            </p:extLst>
          </p:nvPr>
        </p:nvGraphicFramePr>
        <p:xfrm>
          <a:off x="317633" y="671509"/>
          <a:ext cx="2420878" cy="44196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850" dirty="0">
                          <a:latin typeface="Arial" panose="020B0604020202020204" pitchFamily="34" charset="0"/>
                          <a:cs typeface="Arial" panose="020B0604020202020204" pitchFamily="34" charset="0"/>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b="1" kern="1200" dirty="0">
                          <a:solidFill>
                            <a:schemeClr val="lt1"/>
                          </a:solidFill>
                          <a:latin typeface="Arial" panose="020B0604020202020204" pitchFamily="34" charset="0"/>
                          <a:ea typeface="+mn-ea"/>
                          <a:cs typeface="Arial" panose="020B0604020202020204" pitchFamily="34" charset="0"/>
                        </a:rPr>
                        <a:t># Audit Tests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850" b="1" dirty="0">
                          <a:latin typeface="Arial" panose="020B0604020202020204" pitchFamily="34" charset="0"/>
                          <a:cs typeface="Arial" panose="020B0604020202020204" pitchFamily="34" charset="0"/>
                        </a:rPr>
                        <a:t>Financial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latin typeface="Arial" panose="020B0604020202020204" pitchFamily="34" charset="0"/>
                          <a:cs typeface="Arial" panose="020B0604020202020204" pitchFamily="34" charset="0"/>
                        </a:rPr>
                        <a:t>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sp>
        <p:nvSpPr>
          <p:cNvPr id="8" name="object 6">
            <a:extLst>
              <a:ext uri="{FF2B5EF4-FFF2-40B4-BE49-F238E27FC236}">
                <a16:creationId xmlns:a16="http://schemas.microsoft.com/office/drawing/2014/main" id="{B1C56257-4D23-2B82-5EDA-CBB4F4B1ABA6}"/>
              </a:ext>
            </a:extLst>
          </p:cNvPr>
          <p:cNvSpPr txBox="1"/>
          <p:nvPr/>
        </p:nvSpPr>
        <p:spPr>
          <a:xfrm>
            <a:off x="434873" y="277180"/>
            <a:ext cx="5865507" cy="197490"/>
          </a:xfrm>
          <a:prstGeom prst="rect">
            <a:avLst/>
          </a:prstGeom>
        </p:spPr>
        <p:txBody>
          <a:bodyPr vert="horz" wrap="square" lIns="0" tIns="12700" rIns="0" bIns="0" rtlCol="0">
            <a:spAutoFit/>
          </a:bodyPr>
          <a:lstStyle/>
          <a:p>
            <a:pPr lvl="0">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lang="en-US" sz="1200" b="1" dirty="0">
                <a:solidFill>
                  <a:prstClr val="white"/>
                </a:solidFill>
                <a:latin typeface="Arial" panose="020B0604020202020204" pitchFamily="34" charset="0"/>
                <a:cs typeface="Arial" panose="020B0604020202020204" pitchFamily="34" charset="0"/>
              </a:rPr>
              <a:t>Branch Audit – Report – February 2026</a:t>
            </a:r>
          </a:p>
        </p:txBody>
      </p:sp>
      <p:graphicFrame>
        <p:nvGraphicFramePr>
          <p:cNvPr id="2" name="Table 1">
            <a:extLst>
              <a:ext uri="{FF2B5EF4-FFF2-40B4-BE49-F238E27FC236}">
                <a16:creationId xmlns:a16="http://schemas.microsoft.com/office/drawing/2014/main" id="{AF841EAA-0366-106D-4239-FCC23B3D910E}"/>
              </a:ext>
            </a:extLst>
          </p:cNvPr>
          <p:cNvGraphicFramePr>
            <a:graphicFrameLocks noGrp="1"/>
          </p:cNvGraphicFramePr>
          <p:nvPr>
            <p:extLst>
              <p:ext uri="{D42A27DB-BD31-4B8C-83A1-F6EECF244321}">
                <p14:modId xmlns:p14="http://schemas.microsoft.com/office/powerpoint/2010/main" val="3028388282"/>
              </p:ext>
            </p:extLst>
          </p:nvPr>
        </p:nvGraphicFramePr>
        <p:xfrm>
          <a:off x="317633" y="1201469"/>
          <a:ext cx="8210419" cy="4754379"/>
        </p:xfrm>
        <a:graphic>
          <a:graphicData uri="http://schemas.openxmlformats.org/drawingml/2006/table">
            <a:tbl>
              <a:tblPr firstRow="1" bandRow="1">
                <a:tableStyleId>{5C22544A-7EE6-4342-B048-85BDC9FD1C3A}</a:tableStyleId>
              </a:tblPr>
              <a:tblGrid>
                <a:gridCol w="1161600">
                  <a:extLst>
                    <a:ext uri="{9D8B030D-6E8A-4147-A177-3AD203B41FA5}">
                      <a16:colId xmlns:a16="http://schemas.microsoft.com/office/drawing/2014/main" val="3953338379"/>
                    </a:ext>
                  </a:extLst>
                </a:gridCol>
                <a:gridCol w="3971170">
                  <a:extLst>
                    <a:ext uri="{9D8B030D-6E8A-4147-A177-3AD203B41FA5}">
                      <a16:colId xmlns:a16="http://schemas.microsoft.com/office/drawing/2014/main" val="1714688802"/>
                    </a:ext>
                  </a:extLst>
                </a:gridCol>
                <a:gridCol w="3077649">
                  <a:extLst>
                    <a:ext uri="{9D8B030D-6E8A-4147-A177-3AD203B41FA5}">
                      <a16:colId xmlns:a16="http://schemas.microsoft.com/office/drawing/2014/main" val="815900729"/>
                    </a:ext>
                  </a:extLst>
                </a:gridCol>
              </a:tblGrid>
              <a:tr h="324903">
                <a:tc>
                  <a:txBody>
                    <a:bodyPr/>
                    <a:lstStyle/>
                    <a:p>
                      <a:pPr algn="ctr"/>
                      <a:r>
                        <a:rPr lang="en-US" sz="850" dirty="0">
                          <a:solidFill>
                            <a:schemeClr val="bg1"/>
                          </a:solidFill>
                          <a:latin typeface="Arial" panose="020B0604020202020204" pitchFamily="34" charset="0"/>
                          <a:cs typeface="Arial" panose="020B0604020202020204" pitchFamily="34" charset="0"/>
                        </a:rPr>
                        <a:t>Audit Test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83570329"/>
                  </a:ext>
                </a:extLst>
              </a:tr>
              <a:tr h="615056">
                <a:tc>
                  <a:txBody>
                    <a:bodyPr/>
                    <a:lstStyle/>
                    <a:p>
                      <a:pPr algn="ctr" fontAlgn="ctr"/>
                      <a:r>
                        <a:rPr lang="en-US" sz="850" b="0" i="0" u="none" strike="noStrike" dirty="0">
                          <a:solidFill>
                            <a:srgbClr val="000000"/>
                          </a:solidFill>
                          <a:effectLst/>
                          <a:latin typeface="Arial" panose="020B0604020202020204" pitchFamily="34" charset="0"/>
                        </a:rPr>
                        <a:t>TCPV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the completeness and accuracy of Accounts Receivable, Net Service Revenue, and WIP.</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Potential financial misalignment of billing, revenue, and contract amounts fail to reconcile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25183887"/>
                  </a:ext>
                </a:extLst>
              </a:tr>
              <a:tr h="615056">
                <a:tc>
                  <a:txBody>
                    <a:bodyPr/>
                    <a:lstStyle/>
                    <a:p>
                      <a:pPr algn="ctr" fontAlgn="ctr"/>
                      <a:r>
                        <a:rPr lang="en-US" sz="850" b="0" i="0" u="none" strike="noStrike" dirty="0">
                          <a:solidFill>
                            <a:srgbClr val="000000"/>
                          </a:solidFill>
                          <a:effectLst/>
                          <a:latin typeface="Arial" panose="020B0604020202020204" pitchFamily="34" charset="0"/>
                        </a:rPr>
                        <a:t>Lost Jobs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that Billings, Service Plans and CRM jobs are cancelled timely to prevent incorrect A/R, Revenue, WIP, and net new reporting.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a:solidFill>
                            <a:srgbClr val="000000"/>
                          </a:solidFill>
                          <a:effectLst/>
                          <a:latin typeface="Arial" panose="020B0604020202020204" pitchFamily="34" charset="0"/>
                        </a:rPr>
                        <a:t>Delayed cancellation of Billings, Service Plans may lead to inaccurate Accounts Receivable, Revenue, and Work in Progress figures, impacting financial reporting.  Inaccurate CRM data may impact strategic business decision-making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22800014"/>
                  </a:ext>
                </a:extLst>
              </a:tr>
              <a:tr h="615056">
                <a:tc>
                  <a:txBody>
                    <a:bodyPr/>
                    <a:lstStyle/>
                    <a:p>
                      <a:pPr algn="ctr" fontAlgn="ctr"/>
                      <a:r>
                        <a:rPr lang="en-US" sz="850" b="0" i="0" u="none" strike="noStrike" dirty="0">
                          <a:solidFill>
                            <a:srgbClr val="000000"/>
                          </a:solidFill>
                          <a:effectLst/>
                          <a:latin typeface="Arial" panose="020B0604020202020204" pitchFamily="34" charset="0"/>
                        </a:rPr>
                        <a:t>Changes in POs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the accuracy of purchase order estimates.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Inaccurate purchase order (PO) estimates can create challenges in budgeting and forecasting, impact financial statement  accuracy, and add an administrative burden to the voucher process.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94609516"/>
                  </a:ext>
                </a:extLst>
              </a:tr>
              <a:tr h="615056">
                <a:tc>
                  <a:txBody>
                    <a:bodyPr/>
                    <a:lstStyle/>
                    <a:p>
                      <a:pPr algn="ctr" fontAlgn="ctr"/>
                      <a:r>
                        <a:rPr lang="en-US" sz="850" b="0" i="0" u="none" strike="noStrike" dirty="0">
                          <a:solidFill>
                            <a:srgbClr val="000000"/>
                          </a:solidFill>
                          <a:effectLst/>
                          <a:latin typeface="Arial" panose="020B0604020202020204" pitchFamily="34" charset="0"/>
                        </a:rPr>
                        <a:t>T&amp;E Expense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purchases are reasonable according to policy and supported with receipts (if required).</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Risk of misuse of company funds, unauthorized expenses, and increased susceptibility to fraudulent activities.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097833005"/>
                  </a:ext>
                </a:extLst>
              </a:tr>
              <a:tr h="615056">
                <a:tc>
                  <a:txBody>
                    <a:bodyPr/>
                    <a:lstStyle/>
                    <a:p>
                      <a:pPr algn="ctr" fontAlgn="ctr"/>
                      <a:r>
                        <a:rPr lang="en-US" sz="850" b="0" i="0" u="none" strike="noStrike" dirty="0">
                          <a:solidFill>
                            <a:srgbClr val="000000"/>
                          </a:solidFill>
                          <a:effectLst/>
                          <a:latin typeface="Arial" panose="020B0604020202020204" pitchFamily="34" charset="0"/>
                        </a:rPr>
                        <a:t>A/R Aging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review the Accounts Receivable (A/R) report for collection notes, mitigating the risk of mismanagement and inefficiencies in the collection process that could impact cash flow and financial reporting accuracy.</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Risk of mismanagement and inefficiencies in the collection process, potentially impacting cash flow and financial reporting accuracy</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31324740"/>
                  </a:ext>
                </a:extLst>
              </a:tr>
              <a:tr h="615056">
                <a:tc>
                  <a:txBody>
                    <a:bodyPr/>
                    <a:lstStyle/>
                    <a:p>
                      <a:pPr algn="ctr" fontAlgn="ctr"/>
                      <a:r>
                        <a:rPr lang="en-US" sz="850" b="0" i="0" u="none" strike="noStrike" dirty="0">
                          <a:solidFill>
                            <a:srgbClr val="000000"/>
                          </a:solidFill>
                          <a:effectLst/>
                          <a:latin typeface="Arial" panose="020B0604020202020204" pitchFamily="34" charset="0"/>
                        </a:rPr>
                        <a:t>Ancillary Billing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that ancillary billings are recorded timely and consistently throughout the month and that accruals are supported and billed promptly to ensure accurate Accounts Receivable and Revenue.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Ancillary billings concentrated in the final week of the month or accrued without timely billing may indicate improper billing practices, resulting in inaccurate Accounts Receivable, Revenue, and may result in billings and revenue being recorded in the wrong period.</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93804286"/>
                  </a:ext>
                </a:extLst>
              </a:tr>
              <a:tr h="615056">
                <a:tc>
                  <a:txBody>
                    <a:bodyPr/>
                    <a:lstStyle/>
                    <a:p>
                      <a:pPr algn="ctr" fontAlgn="ctr"/>
                      <a:r>
                        <a:rPr lang="en-US" sz="850" b="0" i="0" u="none" strike="noStrike" dirty="0">
                          <a:solidFill>
                            <a:srgbClr val="000000"/>
                          </a:solidFill>
                          <a:effectLst/>
                          <a:latin typeface="Arial" panose="020B0604020202020204" pitchFamily="34" charset="0"/>
                        </a:rPr>
                        <a:t>Sales Taxability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validate the accuracy of the taxable v. non-taxable flag in E1, mitigating the risk of inaccurate sales tax calculations.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Risk of mismanagement and inefficiencies in the collection process, potentially impacting cash flow and financial reporting accuracy</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031015667"/>
                  </a:ext>
                </a:extLst>
              </a:tr>
            </a:tbl>
          </a:graphicData>
        </a:graphic>
      </p:graphicFrame>
    </p:spTree>
    <p:extLst>
      <p:ext uri="{BB962C8B-B14F-4D97-AF65-F5344CB8AC3E}">
        <p14:creationId xmlns:p14="http://schemas.microsoft.com/office/powerpoint/2010/main" val="10907658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52388" y="211836"/>
            <a:ext cx="1841500" cy="376555"/>
          </a:xfrm>
          <a:custGeom>
            <a:avLst/>
            <a:gdLst/>
            <a:ahLst/>
            <a:cxnLst/>
            <a:rect l="l" t="t" r="r" b="b"/>
            <a:pathLst>
              <a:path w="1841500" h="376555">
                <a:moveTo>
                  <a:pt x="1652777" y="0"/>
                </a:moveTo>
                <a:lnTo>
                  <a:pt x="0" y="0"/>
                </a:lnTo>
                <a:lnTo>
                  <a:pt x="188214" y="188214"/>
                </a:lnTo>
                <a:lnTo>
                  <a:pt x="0" y="376428"/>
                </a:lnTo>
                <a:lnTo>
                  <a:pt x="1652777" y="376428"/>
                </a:lnTo>
                <a:lnTo>
                  <a:pt x="1840992" y="188214"/>
                </a:lnTo>
                <a:lnTo>
                  <a:pt x="1652777" y="0"/>
                </a:lnTo>
                <a:close/>
              </a:path>
            </a:pathLst>
          </a:custGeom>
          <a:solidFill>
            <a:srgbClr val="A6A6A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5" name="object 5"/>
          <p:cNvSpPr/>
          <p:nvPr/>
        </p:nvSpPr>
        <p:spPr>
          <a:xfrm>
            <a:off x="8486392" y="206502"/>
            <a:ext cx="329565" cy="334010"/>
          </a:xfrm>
          <a:custGeom>
            <a:avLst/>
            <a:gdLst/>
            <a:ahLst/>
            <a:cxnLst/>
            <a:rect l="l" t="t" r="r" b="b"/>
            <a:pathLst>
              <a:path w="329565" h="334009">
                <a:moveTo>
                  <a:pt x="0" y="166877"/>
                </a:moveTo>
                <a:lnTo>
                  <a:pt x="5879" y="122515"/>
                </a:lnTo>
                <a:lnTo>
                  <a:pt x="22470" y="82651"/>
                </a:lnTo>
                <a:lnTo>
                  <a:pt x="48206" y="48877"/>
                </a:lnTo>
                <a:lnTo>
                  <a:pt x="81517" y="22783"/>
                </a:lnTo>
                <a:lnTo>
                  <a:pt x="120835" y="5961"/>
                </a:lnTo>
                <a:lnTo>
                  <a:pt x="164592" y="0"/>
                </a:lnTo>
                <a:lnTo>
                  <a:pt x="208348" y="5961"/>
                </a:lnTo>
                <a:lnTo>
                  <a:pt x="247666" y="22783"/>
                </a:lnTo>
                <a:lnTo>
                  <a:pt x="280977" y="48877"/>
                </a:lnTo>
                <a:lnTo>
                  <a:pt x="306713" y="82651"/>
                </a:lnTo>
                <a:lnTo>
                  <a:pt x="323304" y="122515"/>
                </a:lnTo>
                <a:lnTo>
                  <a:pt x="329184" y="166877"/>
                </a:lnTo>
                <a:lnTo>
                  <a:pt x="323304" y="211240"/>
                </a:lnTo>
                <a:lnTo>
                  <a:pt x="306713" y="251104"/>
                </a:lnTo>
                <a:lnTo>
                  <a:pt x="280977" y="284878"/>
                </a:lnTo>
                <a:lnTo>
                  <a:pt x="247666" y="310972"/>
                </a:lnTo>
                <a:lnTo>
                  <a:pt x="208348" y="327794"/>
                </a:lnTo>
                <a:lnTo>
                  <a:pt x="164592" y="333755"/>
                </a:lnTo>
                <a:lnTo>
                  <a:pt x="120835" y="327794"/>
                </a:lnTo>
                <a:lnTo>
                  <a:pt x="81517" y="310972"/>
                </a:lnTo>
                <a:lnTo>
                  <a:pt x="48206" y="284878"/>
                </a:lnTo>
                <a:lnTo>
                  <a:pt x="22470" y="251104"/>
                </a:lnTo>
                <a:lnTo>
                  <a:pt x="5879" y="211240"/>
                </a:lnTo>
                <a:lnTo>
                  <a:pt x="0" y="166877"/>
                </a:lnTo>
                <a:close/>
              </a:path>
            </a:pathLst>
          </a:custGeom>
          <a:ln w="25400">
            <a:solidFill>
              <a:srgbClr val="0071C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8573506" y="217271"/>
            <a:ext cx="1530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US" b="1" kern="0" dirty="0">
                <a:solidFill>
                  <a:sysClr val="windowText" lastClr="000000"/>
                </a:solidFill>
                <a:latin typeface="Arial"/>
                <a:cs typeface="Arial"/>
              </a:rPr>
              <a:t>3</a:t>
            </a:r>
            <a:endParaRPr kumimoji="0" sz="1800" b="1" i="0"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8444483" y="170687"/>
            <a:ext cx="410209" cy="416559"/>
          </a:xfrm>
          <a:custGeom>
            <a:avLst/>
            <a:gdLst/>
            <a:ahLst/>
            <a:cxnLst/>
            <a:rect l="l" t="t" r="r" b="b"/>
            <a:pathLst>
              <a:path w="410209" h="416559">
                <a:moveTo>
                  <a:pt x="204978" y="0"/>
                </a:moveTo>
                <a:lnTo>
                  <a:pt x="157977" y="5494"/>
                </a:lnTo>
                <a:lnTo>
                  <a:pt x="114833" y="21144"/>
                </a:lnTo>
                <a:lnTo>
                  <a:pt x="76774" y="45702"/>
                </a:lnTo>
                <a:lnTo>
                  <a:pt x="45030" y="77918"/>
                </a:lnTo>
                <a:lnTo>
                  <a:pt x="20833" y="116543"/>
                </a:lnTo>
                <a:lnTo>
                  <a:pt x="5413" y="160329"/>
                </a:lnTo>
                <a:lnTo>
                  <a:pt x="0" y="208026"/>
                </a:lnTo>
                <a:lnTo>
                  <a:pt x="5413" y="255722"/>
                </a:lnTo>
                <a:lnTo>
                  <a:pt x="20833" y="299508"/>
                </a:lnTo>
                <a:lnTo>
                  <a:pt x="45030" y="338133"/>
                </a:lnTo>
                <a:lnTo>
                  <a:pt x="76774" y="370349"/>
                </a:lnTo>
                <a:lnTo>
                  <a:pt x="114833" y="394907"/>
                </a:lnTo>
                <a:lnTo>
                  <a:pt x="157977" y="410557"/>
                </a:lnTo>
                <a:lnTo>
                  <a:pt x="204978" y="416052"/>
                </a:lnTo>
                <a:lnTo>
                  <a:pt x="251978" y="410557"/>
                </a:lnTo>
                <a:lnTo>
                  <a:pt x="295122" y="394907"/>
                </a:lnTo>
                <a:lnTo>
                  <a:pt x="333181" y="370349"/>
                </a:lnTo>
                <a:lnTo>
                  <a:pt x="333899" y="369620"/>
                </a:lnTo>
                <a:lnTo>
                  <a:pt x="204978" y="369620"/>
                </a:lnTo>
                <a:lnTo>
                  <a:pt x="154863" y="361382"/>
                </a:lnTo>
                <a:lnTo>
                  <a:pt x="111340" y="338441"/>
                </a:lnTo>
                <a:lnTo>
                  <a:pt x="77020" y="303460"/>
                </a:lnTo>
                <a:lnTo>
                  <a:pt x="54513" y="259101"/>
                </a:lnTo>
                <a:lnTo>
                  <a:pt x="46431" y="208026"/>
                </a:lnTo>
                <a:lnTo>
                  <a:pt x="54513" y="156950"/>
                </a:lnTo>
                <a:lnTo>
                  <a:pt x="77020" y="112591"/>
                </a:lnTo>
                <a:lnTo>
                  <a:pt x="111340" y="77610"/>
                </a:lnTo>
                <a:lnTo>
                  <a:pt x="154863" y="54669"/>
                </a:lnTo>
                <a:lnTo>
                  <a:pt x="204978" y="46431"/>
                </a:lnTo>
                <a:lnTo>
                  <a:pt x="333899" y="46431"/>
                </a:lnTo>
                <a:lnTo>
                  <a:pt x="333181" y="45702"/>
                </a:lnTo>
                <a:lnTo>
                  <a:pt x="295122" y="21144"/>
                </a:lnTo>
                <a:lnTo>
                  <a:pt x="251978" y="5494"/>
                </a:lnTo>
                <a:lnTo>
                  <a:pt x="204978" y="0"/>
                </a:lnTo>
                <a:close/>
              </a:path>
              <a:path w="410209" h="416559">
                <a:moveTo>
                  <a:pt x="333899" y="46431"/>
                </a:moveTo>
                <a:lnTo>
                  <a:pt x="204978" y="46431"/>
                </a:lnTo>
                <a:lnTo>
                  <a:pt x="255092" y="54669"/>
                </a:lnTo>
                <a:lnTo>
                  <a:pt x="298615" y="77610"/>
                </a:lnTo>
                <a:lnTo>
                  <a:pt x="332935" y="112591"/>
                </a:lnTo>
                <a:lnTo>
                  <a:pt x="355442" y="156950"/>
                </a:lnTo>
                <a:lnTo>
                  <a:pt x="363524" y="208026"/>
                </a:lnTo>
                <a:lnTo>
                  <a:pt x="355442" y="259101"/>
                </a:lnTo>
                <a:lnTo>
                  <a:pt x="332935" y="303460"/>
                </a:lnTo>
                <a:lnTo>
                  <a:pt x="298615" y="338441"/>
                </a:lnTo>
                <a:lnTo>
                  <a:pt x="255092" y="361382"/>
                </a:lnTo>
                <a:lnTo>
                  <a:pt x="204978" y="369620"/>
                </a:lnTo>
                <a:lnTo>
                  <a:pt x="333899" y="369620"/>
                </a:lnTo>
                <a:lnTo>
                  <a:pt x="364925" y="338133"/>
                </a:lnTo>
                <a:lnTo>
                  <a:pt x="389122" y="299508"/>
                </a:lnTo>
                <a:lnTo>
                  <a:pt x="404542" y="255722"/>
                </a:lnTo>
                <a:lnTo>
                  <a:pt x="409956" y="208026"/>
                </a:lnTo>
                <a:lnTo>
                  <a:pt x="404542" y="160329"/>
                </a:lnTo>
                <a:lnTo>
                  <a:pt x="389122" y="116543"/>
                </a:lnTo>
                <a:lnTo>
                  <a:pt x="364925" y="77918"/>
                </a:lnTo>
                <a:lnTo>
                  <a:pt x="333899" y="46431"/>
                </a:lnTo>
                <a:close/>
              </a:path>
            </a:pathLst>
          </a:custGeom>
          <a:solidFill>
            <a:srgbClr val="0071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graphicFrame>
        <p:nvGraphicFramePr>
          <p:cNvPr id="12" name="Table 11">
            <a:extLst>
              <a:ext uri="{FF2B5EF4-FFF2-40B4-BE49-F238E27FC236}">
                <a16:creationId xmlns:a16="http://schemas.microsoft.com/office/drawing/2014/main" id="{050F21EF-9978-7FFE-B925-56B322A0C2C0}"/>
              </a:ext>
            </a:extLst>
          </p:cNvPr>
          <p:cNvGraphicFramePr>
            <a:graphicFrameLocks noGrp="1"/>
          </p:cNvGraphicFramePr>
          <p:nvPr>
            <p:extLst>
              <p:ext uri="{D42A27DB-BD31-4B8C-83A1-F6EECF244321}">
                <p14:modId xmlns:p14="http://schemas.microsoft.com/office/powerpoint/2010/main" val="2392450529"/>
              </p:ext>
            </p:extLst>
          </p:nvPr>
        </p:nvGraphicFramePr>
        <p:xfrm>
          <a:off x="317633" y="671509"/>
          <a:ext cx="2420878" cy="44196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850" dirty="0">
                          <a:latin typeface="Arial" panose="020B0604020202020204" pitchFamily="34" charset="0"/>
                          <a:cs typeface="Arial" panose="020B0604020202020204" pitchFamily="34" charset="0"/>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b="1" kern="1200" dirty="0">
                          <a:solidFill>
                            <a:schemeClr val="lt1"/>
                          </a:solidFill>
                          <a:latin typeface="Arial" panose="020B0604020202020204" pitchFamily="34" charset="0"/>
                          <a:ea typeface="+mn-ea"/>
                          <a:cs typeface="Arial" panose="020B0604020202020204" pitchFamily="34" charset="0"/>
                        </a:rPr>
                        <a:t># Audit Tests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850" b="1" dirty="0">
                          <a:latin typeface="Arial" panose="020B0604020202020204" pitchFamily="34" charset="0"/>
                          <a:cs typeface="Arial" panose="020B0604020202020204" pitchFamily="34" charset="0"/>
                        </a:rPr>
                        <a:t>Operational</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latin typeface="Arial" panose="020B0604020202020204" pitchFamily="34" charset="0"/>
                          <a:cs typeface="Arial" panose="020B0604020202020204" pitchFamily="34" charset="0"/>
                        </a:rPr>
                        <a:t>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sp>
        <p:nvSpPr>
          <p:cNvPr id="8" name="object 4">
            <a:extLst>
              <a:ext uri="{FF2B5EF4-FFF2-40B4-BE49-F238E27FC236}">
                <a16:creationId xmlns:a16="http://schemas.microsoft.com/office/drawing/2014/main" id="{D8CA5514-52D8-8C51-B28A-EC36E94B8D95}"/>
              </a:ext>
            </a:extLst>
          </p:cNvPr>
          <p:cNvSpPr txBox="1"/>
          <p:nvPr/>
        </p:nvSpPr>
        <p:spPr>
          <a:xfrm>
            <a:off x="6433526" y="204486"/>
            <a:ext cx="1382006" cy="366767"/>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Arial"/>
                <a:cs typeface="Arial"/>
              </a:rPr>
              <a:t>Audit Program Summary</a:t>
            </a:r>
            <a:endParaRPr kumimoji="0" sz="1150" b="0" i="0" u="none" strike="noStrike" kern="0" cap="none" spc="0" normalizeH="0" baseline="0" noProof="0" dirty="0">
              <a:ln>
                <a:noFill/>
              </a:ln>
              <a:solidFill>
                <a:sysClr val="windowText" lastClr="000000"/>
              </a:solidFill>
              <a:effectLst/>
              <a:uLnTx/>
              <a:uFillTx/>
              <a:latin typeface="Arial"/>
              <a:cs typeface="Arial"/>
            </a:endParaRPr>
          </a:p>
        </p:txBody>
      </p:sp>
      <p:sp>
        <p:nvSpPr>
          <p:cNvPr id="4" name="object 6">
            <a:extLst>
              <a:ext uri="{FF2B5EF4-FFF2-40B4-BE49-F238E27FC236}">
                <a16:creationId xmlns:a16="http://schemas.microsoft.com/office/drawing/2014/main" id="{D4944ED0-D21A-A438-8585-0CD79377B44A}"/>
              </a:ext>
            </a:extLst>
          </p:cNvPr>
          <p:cNvSpPr txBox="1"/>
          <p:nvPr/>
        </p:nvSpPr>
        <p:spPr>
          <a:xfrm>
            <a:off x="434873" y="277180"/>
            <a:ext cx="5865507" cy="197490"/>
          </a:xfrm>
          <a:prstGeom prst="rect">
            <a:avLst/>
          </a:prstGeom>
        </p:spPr>
        <p:txBody>
          <a:bodyPr vert="horz" wrap="square" lIns="0" tIns="12700" rIns="0" bIns="0" rtlCol="0">
            <a:spAutoFit/>
          </a:bodyPr>
          <a:lstStyle/>
          <a:p>
            <a:pPr lvl="0">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lang="en-US" sz="1200" b="1" dirty="0">
                <a:solidFill>
                  <a:prstClr val="white"/>
                </a:solidFill>
                <a:latin typeface="Arial" panose="020B0604020202020204" pitchFamily="34" charset="0"/>
                <a:cs typeface="Arial" panose="020B0604020202020204" pitchFamily="34" charset="0"/>
              </a:rPr>
              <a:t>Branch Audit – Report – February 2026</a:t>
            </a:r>
          </a:p>
        </p:txBody>
      </p:sp>
      <p:graphicFrame>
        <p:nvGraphicFramePr>
          <p:cNvPr id="2" name="Table 1">
            <a:extLst>
              <a:ext uri="{FF2B5EF4-FFF2-40B4-BE49-F238E27FC236}">
                <a16:creationId xmlns:a16="http://schemas.microsoft.com/office/drawing/2014/main" id="{0AD48A99-15B5-B4FC-0EB4-B3473DC01823}"/>
              </a:ext>
            </a:extLst>
          </p:cNvPr>
          <p:cNvGraphicFramePr>
            <a:graphicFrameLocks noGrp="1"/>
          </p:cNvGraphicFramePr>
          <p:nvPr>
            <p:extLst>
              <p:ext uri="{D42A27DB-BD31-4B8C-83A1-F6EECF244321}">
                <p14:modId xmlns:p14="http://schemas.microsoft.com/office/powerpoint/2010/main" val="1285473095"/>
              </p:ext>
            </p:extLst>
          </p:nvPr>
        </p:nvGraphicFramePr>
        <p:xfrm>
          <a:off x="317633" y="1201469"/>
          <a:ext cx="8210419" cy="3524267"/>
        </p:xfrm>
        <a:graphic>
          <a:graphicData uri="http://schemas.openxmlformats.org/drawingml/2006/table">
            <a:tbl>
              <a:tblPr firstRow="1" bandRow="1">
                <a:tableStyleId>{5C22544A-7EE6-4342-B048-85BDC9FD1C3A}</a:tableStyleId>
              </a:tblPr>
              <a:tblGrid>
                <a:gridCol w="1161600">
                  <a:extLst>
                    <a:ext uri="{9D8B030D-6E8A-4147-A177-3AD203B41FA5}">
                      <a16:colId xmlns:a16="http://schemas.microsoft.com/office/drawing/2014/main" val="3953338379"/>
                    </a:ext>
                  </a:extLst>
                </a:gridCol>
                <a:gridCol w="3971170">
                  <a:extLst>
                    <a:ext uri="{9D8B030D-6E8A-4147-A177-3AD203B41FA5}">
                      <a16:colId xmlns:a16="http://schemas.microsoft.com/office/drawing/2014/main" val="1714688802"/>
                    </a:ext>
                  </a:extLst>
                </a:gridCol>
                <a:gridCol w="3077649">
                  <a:extLst>
                    <a:ext uri="{9D8B030D-6E8A-4147-A177-3AD203B41FA5}">
                      <a16:colId xmlns:a16="http://schemas.microsoft.com/office/drawing/2014/main" val="815900729"/>
                    </a:ext>
                  </a:extLst>
                </a:gridCol>
              </a:tblGrid>
              <a:tr h="324903">
                <a:tc>
                  <a:txBody>
                    <a:bodyPr/>
                    <a:lstStyle/>
                    <a:p>
                      <a:pPr algn="ctr"/>
                      <a:r>
                        <a:rPr lang="en-US" sz="850" dirty="0">
                          <a:solidFill>
                            <a:schemeClr val="bg1"/>
                          </a:solidFill>
                          <a:latin typeface="Arial" panose="020B0604020202020204" pitchFamily="34" charset="0"/>
                          <a:cs typeface="Arial" panose="020B0604020202020204" pitchFamily="34" charset="0"/>
                        </a:rPr>
                        <a:t>Audit Test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83570329"/>
                  </a:ext>
                </a:extLst>
              </a:tr>
              <a:tr h="615056">
                <a:tc>
                  <a:txBody>
                    <a:bodyPr/>
                    <a:lstStyle/>
                    <a:p>
                      <a:pPr algn="ctr" fontAlgn="ctr"/>
                      <a:r>
                        <a:rPr lang="en-US" sz="850" b="0" i="0" u="none" strike="noStrike" dirty="0">
                          <a:solidFill>
                            <a:srgbClr val="000000"/>
                          </a:solidFill>
                          <a:effectLst/>
                          <a:latin typeface="Arial" panose="020B0604020202020204" pitchFamily="34" charset="0"/>
                        </a:rPr>
                        <a:t>Time &amp; Pay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a formal review was performed over the completeness and accuracy of hours worked for branch employees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Inaccurate recording or incomplete reporting of hours worked for branch employees may result in financial errors, compliance issues, and create challenges in budgeting, forecasting, and managing operations.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25183887"/>
                  </a:ext>
                </a:extLst>
              </a:tr>
              <a:tr h="615056">
                <a:tc>
                  <a:txBody>
                    <a:bodyPr/>
                    <a:lstStyle/>
                    <a:p>
                      <a:pPr algn="ctr" fontAlgn="ctr"/>
                      <a:r>
                        <a:rPr lang="en-US" sz="850" b="0" i="0" u="none" strike="noStrike" dirty="0">
                          <a:solidFill>
                            <a:srgbClr val="000000"/>
                          </a:solidFill>
                          <a:effectLst/>
                          <a:latin typeface="Arial" panose="020B0604020202020204" pitchFamily="34" charset="0"/>
                        </a:rPr>
                        <a:t>"Custom Activity Detail"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verify a formal review was performed over the completeness and accuracy of hours and appropriateness of the job those are recorded to for each employee.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a:solidFill>
                            <a:srgbClr val="000000"/>
                          </a:solidFill>
                          <a:effectLst/>
                          <a:latin typeface="Arial" panose="020B0604020202020204" pitchFamily="34" charset="0"/>
                        </a:rPr>
                        <a:t>Failure to ensure timely approval and accuracy of adjustments, coupled with improper allocation of costs to respective jobs, may result in inaccurate financial reporting and ineffective job management.</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22800014"/>
                  </a:ext>
                </a:extLst>
              </a:tr>
              <a:tr h="615056">
                <a:tc>
                  <a:txBody>
                    <a:bodyPr/>
                    <a:lstStyle/>
                    <a:p>
                      <a:pPr algn="ctr" fontAlgn="ctr"/>
                      <a:r>
                        <a:rPr lang="en-US" sz="850" b="0" i="0" u="none" strike="noStrike">
                          <a:solidFill>
                            <a:srgbClr val="000000"/>
                          </a:solidFill>
                          <a:effectLst/>
                          <a:latin typeface="Arial" panose="020B0604020202020204" pitchFamily="34" charset="0"/>
                        </a:rPr>
                        <a:t>QSA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assess the implementation of key Management actions aimed to mitigate the operational risk associated with not achieving target contract renewal rates, client relationships, and overall organic growth.</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a:solidFill>
                            <a:srgbClr val="000000"/>
                          </a:solidFill>
                          <a:effectLst/>
                          <a:latin typeface="Arial" panose="020B0604020202020204" pitchFamily="34" charset="0"/>
                        </a:rPr>
                        <a:t>Failure to achieve target contract renewal rates poses a risk, potentially impacting revenue stability, client relationships, and overall organic growth.</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94609516"/>
                  </a:ext>
                </a:extLst>
              </a:tr>
              <a:tr h="615056">
                <a:tc>
                  <a:txBody>
                    <a:bodyPr/>
                    <a:lstStyle/>
                    <a:p>
                      <a:pPr algn="ctr" fontAlgn="ctr"/>
                      <a:r>
                        <a:rPr lang="en-US" sz="850" b="0" i="0" u="none" strike="noStrike">
                          <a:solidFill>
                            <a:srgbClr val="000000"/>
                          </a:solidFill>
                          <a:effectLst/>
                          <a:latin typeface="Arial" panose="020B0604020202020204" pitchFamily="34" charset="0"/>
                        </a:rPr>
                        <a:t>ETC Usage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validate compliance with the Electronic Time Card (ETC) process.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br>
                        <a:rPr lang="en-US" sz="850" b="0" i="0" u="none" strike="noStrike" dirty="0">
                          <a:solidFill>
                            <a:srgbClr val="000000"/>
                          </a:solidFill>
                          <a:effectLst/>
                          <a:latin typeface="Arial" panose="020B0604020202020204" pitchFamily="34" charset="0"/>
                        </a:rPr>
                      </a:br>
                      <a:r>
                        <a:rPr lang="en-US" sz="850" b="0" i="0" u="none" strike="noStrike" dirty="0">
                          <a:solidFill>
                            <a:srgbClr val="000000"/>
                          </a:solidFill>
                          <a:effectLst/>
                          <a:latin typeface="Arial" panose="020B0604020202020204" pitchFamily="34" charset="0"/>
                        </a:rPr>
                        <a:t>Resistance to technology adoption may lead to inefficiencies, reduced visibility, and potential mismanagement of timesheets, misallocation of time to jobs, or incomplete/inaccurate payroll expenses.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896402514"/>
                  </a:ext>
                </a:extLst>
              </a:tr>
              <a:tr h="615056">
                <a:tc>
                  <a:txBody>
                    <a:bodyPr/>
                    <a:lstStyle/>
                    <a:p>
                      <a:pPr algn="ctr" fontAlgn="ctr"/>
                      <a:r>
                        <a:rPr lang="en-US" sz="850" b="0" i="0" u="none" strike="noStrike" dirty="0">
                          <a:solidFill>
                            <a:srgbClr val="000000"/>
                          </a:solidFill>
                          <a:effectLst/>
                          <a:latin typeface="Arial" panose="020B0604020202020204" pitchFamily="34" charset="0"/>
                        </a:rPr>
                        <a:t>Timely Estimate Renewal</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determine the % of estimates that are outdated</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Outdated costs can lead to lower profit margins, inaccurate budget and forecasting, and a competitive disadvantage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54957917"/>
                  </a:ext>
                </a:extLst>
              </a:tr>
            </a:tbl>
          </a:graphicData>
        </a:graphic>
      </p:graphicFrame>
    </p:spTree>
    <p:extLst>
      <p:ext uri="{BB962C8B-B14F-4D97-AF65-F5344CB8AC3E}">
        <p14:creationId xmlns:p14="http://schemas.microsoft.com/office/powerpoint/2010/main" val="3594727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52388" y="211836"/>
            <a:ext cx="1841500" cy="376555"/>
          </a:xfrm>
          <a:custGeom>
            <a:avLst/>
            <a:gdLst/>
            <a:ahLst/>
            <a:cxnLst/>
            <a:rect l="l" t="t" r="r" b="b"/>
            <a:pathLst>
              <a:path w="1841500" h="376555">
                <a:moveTo>
                  <a:pt x="1652777" y="0"/>
                </a:moveTo>
                <a:lnTo>
                  <a:pt x="0" y="0"/>
                </a:lnTo>
                <a:lnTo>
                  <a:pt x="188214" y="188214"/>
                </a:lnTo>
                <a:lnTo>
                  <a:pt x="0" y="376428"/>
                </a:lnTo>
                <a:lnTo>
                  <a:pt x="1652777" y="376428"/>
                </a:lnTo>
                <a:lnTo>
                  <a:pt x="1840992" y="188214"/>
                </a:lnTo>
                <a:lnTo>
                  <a:pt x="1652777" y="0"/>
                </a:lnTo>
                <a:close/>
              </a:path>
            </a:pathLst>
          </a:custGeom>
          <a:solidFill>
            <a:srgbClr val="A6A6A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5" name="object 5"/>
          <p:cNvSpPr/>
          <p:nvPr/>
        </p:nvSpPr>
        <p:spPr>
          <a:xfrm>
            <a:off x="8486392" y="206502"/>
            <a:ext cx="329565" cy="334010"/>
          </a:xfrm>
          <a:custGeom>
            <a:avLst/>
            <a:gdLst/>
            <a:ahLst/>
            <a:cxnLst/>
            <a:rect l="l" t="t" r="r" b="b"/>
            <a:pathLst>
              <a:path w="329565" h="334009">
                <a:moveTo>
                  <a:pt x="0" y="166877"/>
                </a:moveTo>
                <a:lnTo>
                  <a:pt x="5879" y="122515"/>
                </a:lnTo>
                <a:lnTo>
                  <a:pt x="22470" y="82651"/>
                </a:lnTo>
                <a:lnTo>
                  <a:pt x="48206" y="48877"/>
                </a:lnTo>
                <a:lnTo>
                  <a:pt x="81517" y="22783"/>
                </a:lnTo>
                <a:lnTo>
                  <a:pt x="120835" y="5961"/>
                </a:lnTo>
                <a:lnTo>
                  <a:pt x="164592" y="0"/>
                </a:lnTo>
                <a:lnTo>
                  <a:pt x="208348" y="5961"/>
                </a:lnTo>
                <a:lnTo>
                  <a:pt x="247666" y="22783"/>
                </a:lnTo>
                <a:lnTo>
                  <a:pt x="280977" y="48877"/>
                </a:lnTo>
                <a:lnTo>
                  <a:pt x="306713" y="82651"/>
                </a:lnTo>
                <a:lnTo>
                  <a:pt x="323304" y="122515"/>
                </a:lnTo>
                <a:lnTo>
                  <a:pt x="329184" y="166877"/>
                </a:lnTo>
                <a:lnTo>
                  <a:pt x="323304" y="211240"/>
                </a:lnTo>
                <a:lnTo>
                  <a:pt x="306713" y="251104"/>
                </a:lnTo>
                <a:lnTo>
                  <a:pt x="280977" y="284878"/>
                </a:lnTo>
                <a:lnTo>
                  <a:pt x="247666" y="310972"/>
                </a:lnTo>
                <a:lnTo>
                  <a:pt x="208348" y="327794"/>
                </a:lnTo>
                <a:lnTo>
                  <a:pt x="164592" y="333755"/>
                </a:lnTo>
                <a:lnTo>
                  <a:pt x="120835" y="327794"/>
                </a:lnTo>
                <a:lnTo>
                  <a:pt x="81517" y="310972"/>
                </a:lnTo>
                <a:lnTo>
                  <a:pt x="48206" y="284878"/>
                </a:lnTo>
                <a:lnTo>
                  <a:pt x="22470" y="251104"/>
                </a:lnTo>
                <a:lnTo>
                  <a:pt x="5879" y="211240"/>
                </a:lnTo>
                <a:lnTo>
                  <a:pt x="0" y="166877"/>
                </a:lnTo>
                <a:close/>
              </a:path>
            </a:pathLst>
          </a:custGeom>
          <a:ln w="25400">
            <a:solidFill>
              <a:srgbClr val="0071C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8573506" y="217271"/>
            <a:ext cx="1530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1" i="0" strike="noStrike" kern="0" cap="none" spc="0" normalizeH="0" baseline="0" noProof="0" dirty="0">
                <a:ln>
                  <a:noFill/>
                </a:ln>
                <a:solidFill>
                  <a:sysClr val="windowText" lastClr="000000"/>
                </a:solidFill>
                <a:effectLst/>
                <a:uLnTx/>
                <a:uFillTx/>
                <a:latin typeface="Arial"/>
                <a:cs typeface="Arial"/>
              </a:rPr>
              <a:t>3</a:t>
            </a:r>
            <a:endParaRPr kumimoji="0" sz="1800" b="1" i="0"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8444483" y="170687"/>
            <a:ext cx="410209" cy="416559"/>
          </a:xfrm>
          <a:custGeom>
            <a:avLst/>
            <a:gdLst/>
            <a:ahLst/>
            <a:cxnLst/>
            <a:rect l="l" t="t" r="r" b="b"/>
            <a:pathLst>
              <a:path w="410209" h="416559">
                <a:moveTo>
                  <a:pt x="204978" y="0"/>
                </a:moveTo>
                <a:lnTo>
                  <a:pt x="157977" y="5494"/>
                </a:lnTo>
                <a:lnTo>
                  <a:pt x="114833" y="21144"/>
                </a:lnTo>
                <a:lnTo>
                  <a:pt x="76774" y="45702"/>
                </a:lnTo>
                <a:lnTo>
                  <a:pt x="45030" y="77918"/>
                </a:lnTo>
                <a:lnTo>
                  <a:pt x="20833" y="116543"/>
                </a:lnTo>
                <a:lnTo>
                  <a:pt x="5413" y="160329"/>
                </a:lnTo>
                <a:lnTo>
                  <a:pt x="0" y="208026"/>
                </a:lnTo>
                <a:lnTo>
                  <a:pt x="5413" y="255722"/>
                </a:lnTo>
                <a:lnTo>
                  <a:pt x="20833" y="299508"/>
                </a:lnTo>
                <a:lnTo>
                  <a:pt x="45030" y="338133"/>
                </a:lnTo>
                <a:lnTo>
                  <a:pt x="76774" y="370349"/>
                </a:lnTo>
                <a:lnTo>
                  <a:pt x="114833" y="394907"/>
                </a:lnTo>
                <a:lnTo>
                  <a:pt x="157977" y="410557"/>
                </a:lnTo>
                <a:lnTo>
                  <a:pt x="204978" y="416052"/>
                </a:lnTo>
                <a:lnTo>
                  <a:pt x="251978" y="410557"/>
                </a:lnTo>
                <a:lnTo>
                  <a:pt x="295122" y="394907"/>
                </a:lnTo>
                <a:lnTo>
                  <a:pt x="333181" y="370349"/>
                </a:lnTo>
                <a:lnTo>
                  <a:pt x="333899" y="369620"/>
                </a:lnTo>
                <a:lnTo>
                  <a:pt x="204978" y="369620"/>
                </a:lnTo>
                <a:lnTo>
                  <a:pt x="154863" y="361382"/>
                </a:lnTo>
                <a:lnTo>
                  <a:pt x="111340" y="338441"/>
                </a:lnTo>
                <a:lnTo>
                  <a:pt x="77020" y="303460"/>
                </a:lnTo>
                <a:lnTo>
                  <a:pt x="54513" y="259101"/>
                </a:lnTo>
                <a:lnTo>
                  <a:pt x="46431" y="208026"/>
                </a:lnTo>
                <a:lnTo>
                  <a:pt x="54513" y="156950"/>
                </a:lnTo>
                <a:lnTo>
                  <a:pt x="77020" y="112591"/>
                </a:lnTo>
                <a:lnTo>
                  <a:pt x="111340" y="77610"/>
                </a:lnTo>
                <a:lnTo>
                  <a:pt x="154863" y="54669"/>
                </a:lnTo>
                <a:lnTo>
                  <a:pt x="204978" y="46431"/>
                </a:lnTo>
                <a:lnTo>
                  <a:pt x="333899" y="46431"/>
                </a:lnTo>
                <a:lnTo>
                  <a:pt x="333181" y="45702"/>
                </a:lnTo>
                <a:lnTo>
                  <a:pt x="295122" y="21144"/>
                </a:lnTo>
                <a:lnTo>
                  <a:pt x="251978" y="5494"/>
                </a:lnTo>
                <a:lnTo>
                  <a:pt x="204978" y="0"/>
                </a:lnTo>
                <a:close/>
              </a:path>
              <a:path w="410209" h="416559">
                <a:moveTo>
                  <a:pt x="333899" y="46431"/>
                </a:moveTo>
                <a:lnTo>
                  <a:pt x="204978" y="46431"/>
                </a:lnTo>
                <a:lnTo>
                  <a:pt x="255092" y="54669"/>
                </a:lnTo>
                <a:lnTo>
                  <a:pt x="298615" y="77610"/>
                </a:lnTo>
                <a:lnTo>
                  <a:pt x="332935" y="112591"/>
                </a:lnTo>
                <a:lnTo>
                  <a:pt x="355442" y="156950"/>
                </a:lnTo>
                <a:lnTo>
                  <a:pt x="363524" y="208026"/>
                </a:lnTo>
                <a:lnTo>
                  <a:pt x="355442" y="259101"/>
                </a:lnTo>
                <a:lnTo>
                  <a:pt x="332935" y="303460"/>
                </a:lnTo>
                <a:lnTo>
                  <a:pt x="298615" y="338441"/>
                </a:lnTo>
                <a:lnTo>
                  <a:pt x="255092" y="361382"/>
                </a:lnTo>
                <a:lnTo>
                  <a:pt x="204978" y="369620"/>
                </a:lnTo>
                <a:lnTo>
                  <a:pt x="333899" y="369620"/>
                </a:lnTo>
                <a:lnTo>
                  <a:pt x="364925" y="338133"/>
                </a:lnTo>
                <a:lnTo>
                  <a:pt x="389122" y="299508"/>
                </a:lnTo>
                <a:lnTo>
                  <a:pt x="404542" y="255722"/>
                </a:lnTo>
                <a:lnTo>
                  <a:pt x="409956" y="208026"/>
                </a:lnTo>
                <a:lnTo>
                  <a:pt x="404542" y="160329"/>
                </a:lnTo>
                <a:lnTo>
                  <a:pt x="389122" y="116543"/>
                </a:lnTo>
                <a:lnTo>
                  <a:pt x="364925" y="77918"/>
                </a:lnTo>
                <a:lnTo>
                  <a:pt x="333899" y="46431"/>
                </a:lnTo>
                <a:close/>
              </a:path>
            </a:pathLst>
          </a:custGeom>
          <a:solidFill>
            <a:srgbClr val="0071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graphicFrame>
        <p:nvGraphicFramePr>
          <p:cNvPr id="12" name="Table 11">
            <a:extLst>
              <a:ext uri="{FF2B5EF4-FFF2-40B4-BE49-F238E27FC236}">
                <a16:creationId xmlns:a16="http://schemas.microsoft.com/office/drawing/2014/main" id="{050F21EF-9978-7FFE-B925-56B322A0C2C0}"/>
              </a:ext>
            </a:extLst>
          </p:cNvPr>
          <p:cNvGraphicFramePr>
            <a:graphicFrameLocks noGrp="1"/>
          </p:cNvGraphicFramePr>
          <p:nvPr>
            <p:extLst>
              <p:ext uri="{D42A27DB-BD31-4B8C-83A1-F6EECF244321}">
                <p14:modId xmlns:p14="http://schemas.microsoft.com/office/powerpoint/2010/main" val="2527073927"/>
              </p:ext>
            </p:extLst>
          </p:nvPr>
        </p:nvGraphicFramePr>
        <p:xfrm>
          <a:off x="317633" y="671509"/>
          <a:ext cx="2420878" cy="44196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850" dirty="0">
                          <a:latin typeface="Arial" panose="020B0604020202020204" pitchFamily="34" charset="0"/>
                          <a:cs typeface="Arial" panose="020B0604020202020204" pitchFamily="34" charset="0"/>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b="1" kern="1200" dirty="0">
                          <a:solidFill>
                            <a:schemeClr val="lt1"/>
                          </a:solidFill>
                          <a:latin typeface="Arial" panose="020B0604020202020204" pitchFamily="34" charset="0"/>
                          <a:ea typeface="+mn-ea"/>
                          <a:cs typeface="Arial" panose="020B0604020202020204" pitchFamily="34" charset="0"/>
                        </a:rPr>
                        <a:t># Audit Tests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850" b="1" dirty="0">
                          <a:latin typeface="Arial" panose="020B0604020202020204" pitchFamily="34" charset="0"/>
                          <a:cs typeface="Arial" panose="020B0604020202020204" pitchFamily="34" charset="0"/>
                        </a:rPr>
                        <a:t>Compliance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latin typeface="Arial" panose="020B0604020202020204" pitchFamily="34" charset="0"/>
                          <a:cs typeface="Arial" panose="020B0604020202020204" pitchFamily="34" charset="0"/>
                        </a:rPr>
                        <a:t>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sp>
        <p:nvSpPr>
          <p:cNvPr id="8" name="object 4">
            <a:extLst>
              <a:ext uri="{FF2B5EF4-FFF2-40B4-BE49-F238E27FC236}">
                <a16:creationId xmlns:a16="http://schemas.microsoft.com/office/drawing/2014/main" id="{F898CBF0-81C4-871D-C06F-BB35479F06A0}"/>
              </a:ext>
            </a:extLst>
          </p:cNvPr>
          <p:cNvSpPr txBox="1"/>
          <p:nvPr/>
        </p:nvSpPr>
        <p:spPr>
          <a:xfrm>
            <a:off x="6433526" y="204486"/>
            <a:ext cx="1382006" cy="366767"/>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Arial"/>
                <a:cs typeface="Arial"/>
              </a:rPr>
              <a:t>Audit Program Summary</a:t>
            </a:r>
            <a:endParaRPr kumimoji="0" sz="1150" b="0" i="0" u="none" strike="noStrike" kern="0" cap="none" spc="0" normalizeH="0" baseline="0" noProof="0" dirty="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DF56EA12-56FF-4A44-ED6D-9DC175F06503}"/>
              </a:ext>
            </a:extLst>
          </p:cNvPr>
          <p:cNvGraphicFramePr>
            <a:graphicFrameLocks noGrp="1"/>
          </p:cNvGraphicFramePr>
          <p:nvPr>
            <p:extLst>
              <p:ext uri="{D42A27DB-BD31-4B8C-83A1-F6EECF244321}">
                <p14:modId xmlns:p14="http://schemas.microsoft.com/office/powerpoint/2010/main" val="206445685"/>
              </p:ext>
            </p:extLst>
          </p:nvPr>
        </p:nvGraphicFramePr>
        <p:xfrm>
          <a:off x="317633" y="1201469"/>
          <a:ext cx="8210419" cy="4128620"/>
        </p:xfrm>
        <a:graphic>
          <a:graphicData uri="http://schemas.openxmlformats.org/drawingml/2006/table">
            <a:tbl>
              <a:tblPr firstRow="1" bandRow="1">
                <a:tableStyleId>{5C22544A-7EE6-4342-B048-85BDC9FD1C3A}</a:tableStyleId>
              </a:tblPr>
              <a:tblGrid>
                <a:gridCol w="1161600">
                  <a:extLst>
                    <a:ext uri="{9D8B030D-6E8A-4147-A177-3AD203B41FA5}">
                      <a16:colId xmlns:a16="http://schemas.microsoft.com/office/drawing/2014/main" val="3953338379"/>
                    </a:ext>
                  </a:extLst>
                </a:gridCol>
                <a:gridCol w="3971170">
                  <a:extLst>
                    <a:ext uri="{9D8B030D-6E8A-4147-A177-3AD203B41FA5}">
                      <a16:colId xmlns:a16="http://schemas.microsoft.com/office/drawing/2014/main" val="1714688802"/>
                    </a:ext>
                  </a:extLst>
                </a:gridCol>
                <a:gridCol w="3077649">
                  <a:extLst>
                    <a:ext uri="{9D8B030D-6E8A-4147-A177-3AD203B41FA5}">
                      <a16:colId xmlns:a16="http://schemas.microsoft.com/office/drawing/2014/main" val="815900729"/>
                    </a:ext>
                  </a:extLst>
                </a:gridCol>
              </a:tblGrid>
              <a:tr h="324903">
                <a:tc>
                  <a:txBody>
                    <a:bodyPr/>
                    <a:lstStyle/>
                    <a:p>
                      <a:pPr algn="ctr"/>
                      <a:r>
                        <a:rPr lang="en-US" sz="850" dirty="0">
                          <a:solidFill>
                            <a:schemeClr val="bg1"/>
                          </a:solidFill>
                          <a:latin typeface="Arial" panose="020B0604020202020204" pitchFamily="34" charset="0"/>
                          <a:cs typeface="Arial" panose="020B0604020202020204" pitchFamily="34" charset="0"/>
                        </a:rPr>
                        <a:t>Audit Test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83570329"/>
                  </a:ext>
                </a:extLst>
              </a:tr>
              <a:tr h="604353">
                <a:tc>
                  <a:txBody>
                    <a:bodyPr/>
                    <a:lstStyle/>
                    <a:p>
                      <a:pPr algn="ctr" fontAlgn="ctr"/>
                      <a:r>
                        <a:rPr lang="en-US" sz="850" b="0" i="0" u="none" strike="noStrike" dirty="0">
                          <a:solidFill>
                            <a:srgbClr val="000000"/>
                          </a:solidFill>
                          <a:effectLst/>
                          <a:latin typeface="Arial" panose="020B0604020202020204" pitchFamily="34" charset="0"/>
                        </a:rPr>
                        <a:t>Fixed Assets Existence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validate the existence of fixed assets.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PP&amp;E does not exist or has been incorrectly capitalized</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25183887"/>
                  </a:ext>
                </a:extLst>
              </a:tr>
              <a:tr h="615056">
                <a:tc>
                  <a:txBody>
                    <a:bodyPr/>
                    <a:lstStyle/>
                    <a:p>
                      <a:pPr algn="ctr" fontAlgn="ctr"/>
                      <a:r>
                        <a:rPr lang="en-US" sz="850" b="0" i="0" u="none" strike="noStrike">
                          <a:solidFill>
                            <a:srgbClr val="000000"/>
                          </a:solidFill>
                          <a:effectLst/>
                          <a:latin typeface="Arial" panose="020B0604020202020204" pitchFamily="34" charset="0"/>
                        </a:rPr>
                        <a:t>Fixed Assets Barcode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validate the correct barcode is properly adhered to the asset. </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a:solidFill>
                            <a:srgbClr val="000000"/>
                          </a:solidFill>
                          <a:effectLst/>
                          <a:latin typeface="Arial" panose="020B0604020202020204" pitchFamily="34" charset="0"/>
                        </a:rPr>
                        <a:t>Creates inefficiencies in the Fixed Asset Inventory, resulting in manual processes to match asset to the fixed asset register.</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22800014"/>
                  </a:ext>
                </a:extLst>
              </a:tr>
              <a:tr h="615056">
                <a:tc>
                  <a:txBody>
                    <a:bodyPr/>
                    <a:lstStyle/>
                    <a:p>
                      <a:pPr algn="ctr" fontAlgn="ctr"/>
                      <a:r>
                        <a:rPr lang="en-US" sz="850" b="0" i="0" u="none" strike="noStrike">
                          <a:solidFill>
                            <a:srgbClr val="000000"/>
                          </a:solidFill>
                          <a:effectLst/>
                          <a:latin typeface="Arial" panose="020B0604020202020204" pitchFamily="34" charset="0"/>
                        </a:rPr>
                        <a:t>Fixed Assets Completeness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validate fixed assets are appropriately capitalized.</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a:solidFill>
                            <a:srgbClr val="000000"/>
                          </a:solidFill>
                          <a:effectLst/>
                          <a:latin typeface="Arial" panose="020B0604020202020204" pitchFamily="34" charset="0"/>
                        </a:rPr>
                        <a:t>PP&amp;E exists but either not appropriately capitalized or improperly disposed of.</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94609516"/>
                  </a:ext>
                </a:extLst>
              </a:tr>
              <a:tr h="615056">
                <a:tc>
                  <a:txBody>
                    <a:bodyPr/>
                    <a:lstStyle/>
                    <a:p>
                      <a:pPr algn="ctr" fontAlgn="ctr"/>
                      <a:r>
                        <a:rPr lang="en-US" sz="850" b="0" i="0" u="none" strike="noStrike">
                          <a:solidFill>
                            <a:srgbClr val="000000"/>
                          </a:solidFill>
                          <a:effectLst/>
                          <a:latin typeface="Arial" panose="020B0604020202020204" pitchFamily="34" charset="0"/>
                        </a:rPr>
                        <a:t>IT Access Removal</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identify untimely removal of terminated employees from the IT system, enhancing overall data security and access control measures within the organization</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Failure to promptly remove system access for terminated employees, as indicated by the IT Termination Report, may pose a security risk and lead to unauthorized access, potentially resulting in legal, financial, or reputational consequences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097833005"/>
                  </a:ext>
                </a:extLst>
              </a:tr>
              <a:tr h="615056">
                <a:tc>
                  <a:txBody>
                    <a:bodyPr/>
                    <a:lstStyle/>
                    <a:p>
                      <a:pPr algn="ctr" fontAlgn="ctr"/>
                      <a:r>
                        <a:rPr lang="en-US" sz="850" b="0" i="0" u="none" strike="noStrike">
                          <a:solidFill>
                            <a:srgbClr val="000000"/>
                          </a:solidFill>
                          <a:effectLst/>
                          <a:latin typeface="Arial" panose="020B0604020202020204" pitchFamily="34" charset="0"/>
                        </a:rPr>
                        <a:t>Personnel File Review</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Ensure comprehensive compliance with personnel file documentation, focusing on the retention and completeness of records and exclusion of sensitive data(e.g., affirmative action reports).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Incomplete employee files or inclusion of sensitive data may lead to regulatory issues, especially regarding protections around voluntary disclosure, arbitration, non-competes, and non-solicits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831324740"/>
                  </a:ext>
                </a:extLst>
              </a:tr>
              <a:tr h="615056">
                <a:tc>
                  <a:txBody>
                    <a:bodyPr/>
                    <a:lstStyle/>
                    <a:p>
                      <a:pPr algn="ctr" fontAlgn="ctr"/>
                      <a:r>
                        <a:rPr lang="en-US" sz="850" b="0" i="0" u="none" strike="noStrike" dirty="0">
                          <a:solidFill>
                            <a:srgbClr val="000000"/>
                          </a:solidFill>
                          <a:effectLst/>
                          <a:latin typeface="Arial" panose="020B0604020202020204" pitchFamily="34" charset="0"/>
                        </a:rPr>
                        <a:t>Vehicle Registration</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rgbClr val="000000"/>
                          </a:solidFill>
                          <a:effectLst/>
                          <a:latin typeface="Arial" panose="020B0604020202020204" pitchFamily="34" charset="0"/>
                        </a:rPr>
                        <a:t>To identify vehicles with expired registrations.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algn="ctr" fontAlgn="ctr"/>
                      <a:r>
                        <a:rPr lang="en-US" sz="850" b="0" i="0" u="none" strike="noStrike" dirty="0">
                          <a:solidFill>
                            <a:srgbClr val="000000"/>
                          </a:solidFill>
                          <a:effectLst/>
                          <a:latin typeface="Arial" panose="020B0604020202020204" pitchFamily="34" charset="0"/>
                        </a:rPr>
                        <a:t>Failure to maintain up-to-date vehicle registration can lead to legal penalties, insurance issues, operational disruptions, reputation damage, and increased liability.</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70592458"/>
                  </a:ext>
                </a:extLst>
              </a:tr>
            </a:tbl>
          </a:graphicData>
        </a:graphic>
      </p:graphicFrame>
      <p:sp>
        <p:nvSpPr>
          <p:cNvPr id="9" name="object 6">
            <a:extLst>
              <a:ext uri="{FF2B5EF4-FFF2-40B4-BE49-F238E27FC236}">
                <a16:creationId xmlns:a16="http://schemas.microsoft.com/office/drawing/2014/main" id="{46BCB926-2135-883D-6D99-20FE7BC135E7}"/>
              </a:ext>
            </a:extLst>
          </p:cNvPr>
          <p:cNvSpPr txBox="1"/>
          <p:nvPr/>
        </p:nvSpPr>
        <p:spPr>
          <a:xfrm>
            <a:off x="434873" y="277180"/>
            <a:ext cx="5865507" cy="197490"/>
          </a:xfrm>
          <a:prstGeom prst="rect">
            <a:avLst/>
          </a:prstGeom>
        </p:spPr>
        <p:txBody>
          <a:bodyPr vert="horz" wrap="square" lIns="0" tIns="12700" rIns="0" bIns="0" rtlCol="0">
            <a:spAutoFit/>
          </a:bodyPr>
          <a:lstStyle/>
          <a:p>
            <a:pPr lvl="0">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lang="en-US" sz="12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34891789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52388" y="211836"/>
            <a:ext cx="1841500" cy="376555"/>
          </a:xfrm>
          <a:custGeom>
            <a:avLst/>
            <a:gdLst/>
            <a:ahLst/>
            <a:cxnLst/>
            <a:rect l="l" t="t" r="r" b="b"/>
            <a:pathLst>
              <a:path w="1841500" h="376555">
                <a:moveTo>
                  <a:pt x="1652777" y="0"/>
                </a:moveTo>
                <a:lnTo>
                  <a:pt x="0" y="0"/>
                </a:lnTo>
                <a:lnTo>
                  <a:pt x="188214" y="188214"/>
                </a:lnTo>
                <a:lnTo>
                  <a:pt x="0" y="376428"/>
                </a:lnTo>
                <a:lnTo>
                  <a:pt x="1652777" y="376428"/>
                </a:lnTo>
                <a:lnTo>
                  <a:pt x="1840992" y="188214"/>
                </a:lnTo>
                <a:lnTo>
                  <a:pt x="1652777" y="0"/>
                </a:lnTo>
                <a:close/>
              </a:path>
            </a:pathLst>
          </a:custGeom>
          <a:solidFill>
            <a:srgbClr val="A6A6A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5" name="object 5"/>
          <p:cNvSpPr/>
          <p:nvPr/>
        </p:nvSpPr>
        <p:spPr>
          <a:xfrm>
            <a:off x="8486392" y="206502"/>
            <a:ext cx="329565" cy="334010"/>
          </a:xfrm>
          <a:custGeom>
            <a:avLst/>
            <a:gdLst/>
            <a:ahLst/>
            <a:cxnLst/>
            <a:rect l="l" t="t" r="r" b="b"/>
            <a:pathLst>
              <a:path w="329565" h="334009">
                <a:moveTo>
                  <a:pt x="0" y="166877"/>
                </a:moveTo>
                <a:lnTo>
                  <a:pt x="5879" y="122515"/>
                </a:lnTo>
                <a:lnTo>
                  <a:pt x="22470" y="82651"/>
                </a:lnTo>
                <a:lnTo>
                  <a:pt x="48206" y="48877"/>
                </a:lnTo>
                <a:lnTo>
                  <a:pt x="81517" y="22783"/>
                </a:lnTo>
                <a:lnTo>
                  <a:pt x="120835" y="5961"/>
                </a:lnTo>
                <a:lnTo>
                  <a:pt x="164592" y="0"/>
                </a:lnTo>
                <a:lnTo>
                  <a:pt x="208348" y="5961"/>
                </a:lnTo>
                <a:lnTo>
                  <a:pt x="247666" y="22783"/>
                </a:lnTo>
                <a:lnTo>
                  <a:pt x="280977" y="48877"/>
                </a:lnTo>
                <a:lnTo>
                  <a:pt x="306713" y="82651"/>
                </a:lnTo>
                <a:lnTo>
                  <a:pt x="323304" y="122515"/>
                </a:lnTo>
                <a:lnTo>
                  <a:pt x="329184" y="166877"/>
                </a:lnTo>
                <a:lnTo>
                  <a:pt x="323304" y="211240"/>
                </a:lnTo>
                <a:lnTo>
                  <a:pt x="306713" y="251104"/>
                </a:lnTo>
                <a:lnTo>
                  <a:pt x="280977" y="284878"/>
                </a:lnTo>
                <a:lnTo>
                  <a:pt x="247666" y="310972"/>
                </a:lnTo>
                <a:lnTo>
                  <a:pt x="208348" y="327794"/>
                </a:lnTo>
                <a:lnTo>
                  <a:pt x="164592" y="333755"/>
                </a:lnTo>
                <a:lnTo>
                  <a:pt x="120835" y="327794"/>
                </a:lnTo>
                <a:lnTo>
                  <a:pt x="81517" y="310972"/>
                </a:lnTo>
                <a:lnTo>
                  <a:pt x="48206" y="284878"/>
                </a:lnTo>
                <a:lnTo>
                  <a:pt x="22470" y="251104"/>
                </a:lnTo>
                <a:lnTo>
                  <a:pt x="5879" y="211240"/>
                </a:lnTo>
                <a:lnTo>
                  <a:pt x="0" y="166877"/>
                </a:lnTo>
                <a:close/>
              </a:path>
            </a:pathLst>
          </a:custGeom>
          <a:ln w="25400">
            <a:solidFill>
              <a:srgbClr val="0071C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8573506" y="217271"/>
            <a:ext cx="1530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en-US" sz="1800" b="1" i="0" strike="noStrike" kern="0" cap="none" spc="0" normalizeH="0" baseline="0" noProof="0" dirty="0">
                <a:ln>
                  <a:noFill/>
                </a:ln>
                <a:solidFill>
                  <a:sysClr val="windowText" lastClr="000000"/>
                </a:solidFill>
                <a:effectLst/>
                <a:uLnTx/>
                <a:uFillTx/>
                <a:latin typeface="Arial"/>
                <a:cs typeface="Arial"/>
              </a:rPr>
              <a:t>3</a:t>
            </a:r>
            <a:endParaRPr kumimoji="0" sz="1800" b="1" i="0"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8444483" y="170687"/>
            <a:ext cx="410209" cy="416559"/>
          </a:xfrm>
          <a:custGeom>
            <a:avLst/>
            <a:gdLst/>
            <a:ahLst/>
            <a:cxnLst/>
            <a:rect l="l" t="t" r="r" b="b"/>
            <a:pathLst>
              <a:path w="410209" h="416559">
                <a:moveTo>
                  <a:pt x="204978" y="0"/>
                </a:moveTo>
                <a:lnTo>
                  <a:pt x="157977" y="5494"/>
                </a:lnTo>
                <a:lnTo>
                  <a:pt x="114833" y="21144"/>
                </a:lnTo>
                <a:lnTo>
                  <a:pt x="76774" y="45702"/>
                </a:lnTo>
                <a:lnTo>
                  <a:pt x="45030" y="77918"/>
                </a:lnTo>
                <a:lnTo>
                  <a:pt x="20833" y="116543"/>
                </a:lnTo>
                <a:lnTo>
                  <a:pt x="5413" y="160329"/>
                </a:lnTo>
                <a:lnTo>
                  <a:pt x="0" y="208026"/>
                </a:lnTo>
                <a:lnTo>
                  <a:pt x="5413" y="255722"/>
                </a:lnTo>
                <a:lnTo>
                  <a:pt x="20833" y="299508"/>
                </a:lnTo>
                <a:lnTo>
                  <a:pt x="45030" y="338133"/>
                </a:lnTo>
                <a:lnTo>
                  <a:pt x="76774" y="370349"/>
                </a:lnTo>
                <a:lnTo>
                  <a:pt x="114833" y="394907"/>
                </a:lnTo>
                <a:lnTo>
                  <a:pt x="157977" y="410557"/>
                </a:lnTo>
                <a:lnTo>
                  <a:pt x="204978" y="416052"/>
                </a:lnTo>
                <a:lnTo>
                  <a:pt x="251978" y="410557"/>
                </a:lnTo>
                <a:lnTo>
                  <a:pt x="295122" y="394907"/>
                </a:lnTo>
                <a:lnTo>
                  <a:pt x="333181" y="370349"/>
                </a:lnTo>
                <a:lnTo>
                  <a:pt x="333899" y="369620"/>
                </a:lnTo>
                <a:lnTo>
                  <a:pt x="204978" y="369620"/>
                </a:lnTo>
                <a:lnTo>
                  <a:pt x="154863" y="361382"/>
                </a:lnTo>
                <a:lnTo>
                  <a:pt x="111340" y="338441"/>
                </a:lnTo>
                <a:lnTo>
                  <a:pt x="77020" y="303460"/>
                </a:lnTo>
                <a:lnTo>
                  <a:pt x="54513" y="259101"/>
                </a:lnTo>
                <a:lnTo>
                  <a:pt x="46431" y="208026"/>
                </a:lnTo>
                <a:lnTo>
                  <a:pt x="54513" y="156950"/>
                </a:lnTo>
                <a:lnTo>
                  <a:pt x="77020" y="112591"/>
                </a:lnTo>
                <a:lnTo>
                  <a:pt x="111340" y="77610"/>
                </a:lnTo>
                <a:lnTo>
                  <a:pt x="154863" y="54669"/>
                </a:lnTo>
                <a:lnTo>
                  <a:pt x="204978" y="46431"/>
                </a:lnTo>
                <a:lnTo>
                  <a:pt x="333899" y="46431"/>
                </a:lnTo>
                <a:lnTo>
                  <a:pt x="333181" y="45702"/>
                </a:lnTo>
                <a:lnTo>
                  <a:pt x="295122" y="21144"/>
                </a:lnTo>
                <a:lnTo>
                  <a:pt x="251978" y="5494"/>
                </a:lnTo>
                <a:lnTo>
                  <a:pt x="204978" y="0"/>
                </a:lnTo>
                <a:close/>
              </a:path>
              <a:path w="410209" h="416559">
                <a:moveTo>
                  <a:pt x="333899" y="46431"/>
                </a:moveTo>
                <a:lnTo>
                  <a:pt x="204978" y="46431"/>
                </a:lnTo>
                <a:lnTo>
                  <a:pt x="255092" y="54669"/>
                </a:lnTo>
                <a:lnTo>
                  <a:pt x="298615" y="77610"/>
                </a:lnTo>
                <a:lnTo>
                  <a:pt x="332935" y="112591"/>
                </a:lnTo>
                <a:lnTo>
                  <a:pt x="355442" y="156950"/>
                </a:lnTo>
                <a:lnTo>
                  <a:pt x="363524" y="208026"/>
                </a:lnTo>
                <a:lnTo>
                  <a:pt x="355442" y="259101"/>
                </a:lnTo>
                <a:lnTo>
                  <a:pt x="332935" y="303460"/>
                </a:lnTo>
                <a:lnTo>
                  <a:pt x="298615" y="338441"/>
                </a:lnTo>
                <a:lnTo>
                  <a:pt x="255092" y="361382"/>
                </a:lnTo>
                <a:lnTo>
                  <a:pt x="204978" y="369620"/>
                </a:lnTo>
                <a:lnTo>
                  <a:pt x="333899" y="369620"/>
                </a:lnTo>
                <a:lnTo>
                  <a:pt x="364925" y="338133"/>
                </a:lnTo>
                <a:lnTo>
                  <a:pt x="389122" y="299508"/>
                </a:lnTo>
                <a:lnTo>
                  <a:pt x="404542" y="255722"/>
                </a:lnTo>
                <a:lnTo>
                  <a:pt x="409956" y="208026"/>
                </a:lnTo>
                <a:lnTo>
                  <a:pt x="404542" y="160329"/>
                </a:lnTo>
                <a:lnTo>
                  <a:pt x="389122" y="116543"/>
                </a:lnTo>
                <a:lnTo>
                  <a:pt x="364925" y="77918"/>
                </a:lnTo>
                <a:lnTo>
                  <a:pt x="333899" y="46431"/>
                </a:lnTo>
                <a:close/>
              </a:path>
            </a:pathLst>
          </a:custGeom>
          <a:solidFill>
            <a:srgbClr val="0071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graphicFrame>
        <p:nvGraphicFramePr>
          <p:cNvPr id="12" name="Table 11">
            <a:extLst>
              <a:ext uri="{FF2B5EF4-FFF2-40B4-BE49-F238E27FC236}">
                <a16:creationId xmlns:a16="http://schemas.microsoft.com/office/drawing/2014/main" id="{050F21EF-9978-7FFE-B925-56B322A0C2C0}"/>
              </a:ext>
            </a:extLst>
          </p:cNvPr>
          <p:cNvGraphicFramePr>
            <a:graphicFrameLocks noGrp="1"/>
          </p:cNvGraphicFramePr>
          <p:nvPr>
            <p:extLst>
              <p:ext uri="{D42A27DB-BD31-4B8C-83A1-F6EECF244321}">
                <p14:modId xmlns:p14="http://schemas.microsoft.com/office/powerpoint/2010/main" val="435359200"/>
              </p:ext>
            </p:extLst>
          </p:nvPr>
        </p:nvGraphicFramePr>
        <p:xfrm>
          <a:off x="317633" y="671509"/>
          <a:ext cx="2420878" cy="441960"/>
        </p:xfrm>
        <a:graphic>
          <a:graphicData uri="http://schemas.openxmlformats.org/drawingml/2006/table">
            <a:tbl>
              <a:tblPr firstRow="1" bandRow="1">
                <a:tableStyleId>{5C22544A-7EE6-4342-B048-85BDC9FD1C3A}</a:tableStyleId>
              </a:tblPr>
              <a:tblGrid>
                <a:gridCol w="1008097">
                  <a:extLst>
                    <a:ext uri="{9D8B030D-6E8A-4147-A177-3AD203B41FA5}">
                      <a16:colId xmlns:a16="http://schemas.microsoft.com/office/drawing/2014/main" val="3693041479"/>
                    </a:ext>
                  </a:extLst>
                </a:gridCol>
                <a:gridCol w="1412781">
                  <a:extLst>
                    <a:ext uri="{9D8B030D-6E8A-4147-A177-3AD203B41FA5}">
                      <a16:colId xmlns:a16="http://schemas.microsoft.com/office/drawing/2014/main" val="3669288413"/>
                    </a:ext>
                  </a:extLst>
                </a:gridCol>
              </a:tblGrid>
              <a:tr h="0">
                <a:tc>
                  <a:txBody>
                    <a:bodyPr/>
                    <a:lstStyle/>
                    <a:p>
                      <a:pPr algn="ctr"/>
                      <a:r>
                        <a:rPr lang="en-US" sz="850" dirty="0">
                          <a:latin typeface="Arial" panose="020B0604020202020204" pitchFamily="34" charset="0"/>
                          <a:cs typeface="Arial" panose="020B0604020202020204" pitchFamily="34" charset="0"/>
                        </a:rPr>
                        <a:t>Risk Area</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b="1" kern="1200" dirty="0">
                          <a:solidFill>
                            <a:schemeClr val="lt1"/>
                          </a:solidFill>
                          <a:latin typeface="Arial" panose="020B0604020202020204" pitchFamily="34" charset="0"/>
                          <a:ea typeface="+mn-ea"/>
                          <a:cs typeface="Arial" panose="020B0604020202020204" pitchFamily="34" charset="0"/>
                        </a:rPr>
                        <a:t># Audit Tests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617">
                <a:tc>
                  <a:txBody>
                    <a:bodyPr/>
                    <a:lstStyle/>
                    <a:p>
                      <a:pPr algn="ctr"/>
                      <a:r>
                        <a:rPr lang="en-US" sz="850" b="1" dirty="0">
                          <a:latin typeface="Arial" panose="020B0604020202020204" pitchFamily="34" charset="0"/>
                          <a:cs typeface="Arial" panose="020B0604020202020204" pitchFamily="34" charset="0"/>
                        </a:rPr>
                        <a:t>Safety / HR</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latin typeface="Arial" panose="020B0604020202020204" pitchFamily="34" charset="0"/>
                          <a:cs typeface="Arial" panose="020B0604020202020204" pitchFamily="34" charset="0"/>
                        </a:rPr>
                        <a:t>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64985031"/>
                  </a:ext>
                </a:extLst>
              </a:tr>
            </a:tbl>
          </a:graphicData>
        </a:graphic>
      </p:graphicFrame>
      <p:sp>
        <p:nvSpPr>
          <p:cNvPr id="8" name="object 4">
            <a:extLst>
              <a:ext uri="{FF2B5EF4-FFF2-40B4-BE49-F238E27FC236}">
                <a16:creationId xmlns:a16="http://schemas.microsoft.com/office/drawing/2014/main" id="{E2D014CB-FC2C-F0A9-C2FB-1A02EDBD1DFF}"/>
              </a:ext>
            </a:extLst>
          </p:cNvPr>
          <p:cNvSpPr txBox="1"/>
          <p:nvPr/>
        </p:nvSpPr>
        <p:spPr>
          <a:xfrm>
            <a:off x="6433526" y="204486"/>
            <a:ext cx="1382006" cy="366767"/>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lang="en-US" sz="1150" b="1" i="0" u="none" strike="noStrike" kern="0" cap="none" spc="0" normalizeH="0" baseline="0" noProof="0" dirty="0">
                <a:ln>
                  <a:noFill/>
                </a:ln>
                <a:solidFill>
                  <a:sysClr val="windowText" lastClr="000000"/>
                </a:solidFill>
                <a:effectLst/>
                <a:uLnTx/>
                <a:uFillTx/>
                <a:latin typeface="Arial"/>
                <a:cs typeface="Arial"/>
              </a:rPr>
              <a:t>Audit Program Summary</a:t>
            </a:r>
            <a:endParaRPr kumimoji="0" sz="1150" b="0" i="0" u="none" strike="noStrike" kern="0" cap="none" spc="0" normalizeH="0" baseline="0" noProof="0" dirty="0">
              <a:ln>
                <a:noFill/>
              </a:ln>
              <a:solidFill>
                <a:sysClr val="windowText" lastClr="000000"/>
              </a:solidFill>
              <a:effectLst/>
              <a:uLnTx/>
              <a:uFillTx/>
              <a:latin typeface="Arial"/>
              <a:cs typeface="Arial"/>
            </a:endParaRPr>
          </a:p>
        </p:txBody>
      </p:sp>
      <p:graphicFrame>
        <p:nvGraphicFramePr>
          <p:cNvPr id="2" name="Table 1">
            <a:extLst>
              <a:ext uri="{FF2B5EF4-FFF2-40B4-BE49-F238E27FC236}">
                <a16:creationId xmlns:a16="http://schemas.microsoft.com/office/drawing/2014/main" id="{FB95DD0E-1102-0BAC-B144-02700C253D88}"/>
              </a:ext>
            </a:extLst>
          </p:cNvPr>
          <p:cNvGraphicFramePr>
            <a:graphicFrameLocks noGrp="1"/>
          </p:cNvGraphicFramePr>
          <p:nvPr>
            <p:extLst>
              <p:ext uri="{D42A27DB-BD31-4B8C-83A1-F6EECF244321}">
                <p14:modId xmlns:p14="http://schemas.microsoft.com/office/powerpoint/2010/main" val="1873032640"/>
              </p:ext>
            </p:extLst>
          </p:nvPr>
        </p:nvGraphicFramePr>
        <p:xfrm>
          <a:off x="317633" y="1201469"/>
          <a:ext cx="8210419" cy="4040263"/>
        </p:xfrm>
        <a:graphic>
          <a:graphicData uri="http://schemas.openxmlformats.org/drawingml/2006/table">
            <a:tbl>
              <a:tblPr firstRow="1" bandRow="1">
                <a:tableStyleId>{5C22544A-7EE6-4342-B048-85BDC9FD1C3A}</a:tableStyleId>
              </a:tblPr>
              <a:tblGrid>
                <a:gridCol w="1161600">
                  <a:extLst>
                    <a:ext uri="{9D8B030D-6E8A-4147-A177-3AD203B41FA5}">
                      <a16:colId xmlns:a16="http://schemas.microsoft.com/office/drawing/2014/main" val="3953338379"/>
                    </a:ext>
                  </a:extLst>
                </a:gridCol>
                <a:gridCol w="3971170">
                  <a:extLst>
                    <a:ext uri="{9D8B030D-6E8A-4147-A177-3AD203B41FA5}">
                      <a16:colId xmlns:a16="http://schemas.microsoft.com/office/drawing/2014/main" val="1714688802"/>
                    </a:ext>
                  </a:extLst>
                </a:gridCol>
                <a:gridCol w="3077649">
                  <a:extLst>
                    <a:ext uri="{9D8B030D-6E8A-4147-A177-3AD203B41FA5}">
                      <a16:colId xmlns:a16="http://schemas.microsoft.com/office/drawing/2014/main" val="815900729"/>
                    </a:ext>
                  </a:extLst>
                </a:gridCol>
              </a:tblGrid>
              <a:tr h="324903">
                <a:tc>
                  <a:txBody>
                    <a:bodyPr/>
                    <a:lstStyle/>
                    <a:p>
                      <a:pPr algn="ctr"/>
                      <a:r>
                        <a:rPr lang="en-US" sz="850" dirty="0">
                          <a:solidFill>
                            <a:schemeClr val="bg1"/>
                          </a:solidFill>
                          <a:latin typeface="Arial" panose="020B0604020202020204" pitchFamily="34" charset="0"/>
                          <a:cs typeface="Arial" panose="020B0604020202020204" pitchFamily="34" charset="0"/>
                        </a:rPr>
                        <a:t>Audit Test</a:t>
                      </a:r>
                    </a:p>
                  </a:txBody>
                  <a:tcPr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Audit Objective</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solidFill>
                            <a:schemeClr val="bg1"/>
                          </a:solidFill>
                          <a:latin typeface="Arial" panose="020B0604020202020204" pitchFamily="34" charset="0"/>
                          <a:cs typeface="Arial" panose="020B0604020202020204" pitchFamily="34" charset="0"/>
                        </a:rPr>
                        <a:t>Risk(s)</a:t>
                      </a: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3783570329"/>
                  </a:ext>
                </a:extLst>
              </a:tr>
              <a:tr h="615056">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Timely Incident Lag Reporting</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To verify that accidents, incidents, injuries are reported timely to the Crew Leader/Supervisor or Branch Management and an accident report is completed within 24 hours of the incident. </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Untimely incident reporting may impact employee safety, disrupt operations, and/or result in financial implications linked to increased costs associated with insurance claims.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225183887"/>
                  </a:ext>
                </a:extLst>
              </a:tr>
              <a:tr h="615056">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Safety Training Compliance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To verify branch compliance with required onboarding safety trainings and OSHA training requirements.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Risk relative to well-being of employees and overall stability of the organization (e.g., ability to do business, costs, and reputational risk).</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122800014"/>
                  </a:ext>
                </a:extLst>
              </a:tr>
              <a:tr h="615056">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Awareness (Poster) Compliance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To validate that the branch displays and maintains required safety, HR, and labor law posters visibly on its walls, ensuring compliance with regulations and organizational policies.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Risk relative to well-being of employees and overall stability of the organization (e.g., ability to do business, liability, and reputational risk).</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794609516"/>
                  </a:ext>
                </a:extLst>
              </a:tr>
              <a:tr h="615056">
                <a:tc>
                  <a:txBody>
                    <a:bodyPr/>
                    <a:lstStyle/>
                    <a:p>
                      <a:pPr algn="ctr" fontAlgn="ctr"/>
                      <a:r>
                        <a:rPr lang="en-US" sz="850" b="0" i="0" u="none" strike="noStrike" dirty="0">
                          <a:solidFill>
                            <a:srgbClr val="000000"/>
                          </a:solidFill>
                          <a:effectLst/>
                          <a:latin typeface="Arial" panose="020B0604020202020204" pitchFamily="34" charset="0"/>
                        </a:rPr>
                        <a:t>PPE and Safety Observation</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To assess adherence to the established safety protocol, confirming the proper utilization of safety vests as a protective measure within the designated area.</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Risk relative to well-being of employees and overall stability of the organization (e.g., ability to do business, costs, and reputational risk).</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413265285"/>
                  </a:ext>
                </a:extLst>
              </a:tr>
              <a:tr h="615056">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Electronic DVIR Compliance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To ensure completeness, accuracy, and timely submission of electronic DVIR, mitigating the risk of incomplete inspections and enhancing safety protocols.</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Incomplete electronic DVIR may lead to incomplete inspections, heightening safety and regulatory compliance risk.</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610515857"/>
                  </a:ext>
                </a:extLst>
              </a:tr>
              <a:tr h="615056">
                <a:tc>
                  <a:txBody>
                    <a:bodyPr/>
                    <a:lstStyle/>
                    <a:p>
                      <a:pPr algn="ctr" fontAlgn="ctr"/>
                      <a:r>
                        <a:rPr lang="en-US" sz="850" b="0" i="0" u="none" strike="noStrike" dirty="0">
                          <a:solidFill>
                            <a:schemeClr val="tx1"/>
                          </a:solidFill>
                          <a:effectLst/>
                          <a:latin typeface="Arial" panose="020B0604020202020204" pitchFamily="34" charset="0"/>
                          <a:cs typeface="Arial" panose="020B0604020202020204" pitchFamily="34" charset="0"/>
                        </a:rPr>
                        <a:t>Driver Compliance</a:t>
                      </a: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dirty="0">
                          <a:solidFill>
                            <a:schemeClr val="tx1"/>
                          </a:solidFill>
                        </a:rPr>
                        <a:t>To ensure completeness and accuracy of the branch’s active driver listing and to verify that all required driver documentation is properly recorded in the system.</a:t>
                      </a:r>
                      <a:endParaRPr lang="en-US" sz="850" b="0" i="0" u="none" strike="noStrike" kern="1200" dirty="0">
                        <a:solidFill>
                          <a:schemeClr val="tx1"/>
                        </a:solidFill>
                        <a:effectLst/>
                        <a:latin typeface="Arial" panose="020B0604020202020204" pitchFamily="34" charset="0"/>
                        <a:ea typeface="+mn-ea"/>
                        <a:cs typeface="Arial" panose="020B0604020202020204" pitchFamily="34" charset="0"/>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tc>
                  <a:txBody>
                    <a:bodyPr/>
                    <a:lstStyle/>
                    <a:p>
                      <a:pPr marL="0" marR="0" lvl="0" indent="0" algn="ctr" defTabSz="457200" rtl="0" eaLnBrk="1" fontAlgn="ctr" latinLnBrk="0" hangingPunct="1">
                        <a:lnSpc>
                          <a:spcPct val="100000"/>
                        </a:lnSpc>
                        <a:spcBef>
                          <a:spcPts val="0"/>
                        </a:spcBef>
                        <a:spcAft>
                          <a:spcPts val="0"/>
                        </a:spcAft>
                        <a:buClrTx/>
                        <a:buSzTx/>
                        <a:buFontTx/>
                        <a:buNone/>
                        <a:tabLst/>
                        <a:defRPr/>
                      </a:pPr>
                      <a:r>
                        <a:rPr lang="en-US" sz="900" i="0" dirty="0">
                          <a:solidFill>
                            <a:schemeClr val="tx1"/>
                          </a:solidFill>
                        </a:rPr>
                        <a:t>Incomplete or inaccurate active driver listings and missing required documentation in </a:t>
                      </a:r>
                      <a:r>
                        <a:rPr lang="en-US" sz="900" i="0" dirty="0" err="1">
                          <a:solidFill>
                            <a:schemeClr val="tx1"/>
                          </a:solidFill>
                        </a:rPr>
                        <a:t>FirstAdvantage</a:t>
                      </a:r>
                      <a:r>
                        <a:rPr lang="en-US" sz="900" i="0" dirty="0">
                          <a:solidFill>
                            <a:schemeClr val="tx1"/>
                          </a:solidFill>
                        </a:rPr>
                        <a:t> may result in regulatory non-compliance, increased safety risk, and operational or financial impacts.</a:t>
                      </a:r>
                      <a:endParaRPr lang="en-US" sz="850" b="0" i="0" u="none" strike="noStrike" kern="1200" dirty="0">
                        <a:solidFill>
                          <a:schemeClr val="tx1"/>
                        </a:solidFill>
                        <a:effectLst/>
                        <a:latin typeface="Arial" panose="020B0604020202020204" pitchFamily="34" charset="0"/>
                        <a:ea typeface="+mn-ea"/>
                        <a:cs typeface="Arial" panose="020B0604020202020204" pitchFamily="34" charset="0"/>
                      </a:endParaRPr>
                    </a:p>
                  </a:txBody>
                  <a:tcPr marL="45720" marR="45720" anchor="ctr">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926225993"/>
                  </a:ext>
                </a:extLst>
              </a:tr>
            </a:tbl>
          </a:graphicData>
        </a:graphic>
      </p:graphicFrame>
      <p:sp>
        <p:nvSpPr>
          <p:cNvPr id="9" name="object 6">
            <a:extLst>
              <a:ext uri="{FF2B5EF4-FFF2-40B4-BE49-F238E27FC236}">
                <a16:creationId xmlns:a16="http://schemas.microsoft.com/office/drawing/2014/main" id="{D03BB86A-EE95-9EDC-F439-0DC74E80872F}"/>
              </a:ext>
            </a:extLst>
          </p:cNvPr>
          <p:cNvSpPr txBox="1"/>
          <p:nvPr/>
        </p:nvSpPr>
        <p:spPr>
          <a:xfrm>
            <a:off x="434873" y="277180"/>
            <a:ext cx="5865507" cy="197490"/>
          </a:xfrm>
          <a:prstGeom prst="rect">
            <a:avLst/>
          </a:prstGeom>
        </p:spPr>
        <p:txBody>
          <a:bodyPr vert="horz" wrap="square" lIns="0" tIns="12700" rIns="0" bIns="0" rtlCol="0">
            <a:spAutoFit/>
          </a:bodyPr>
          <a:lstStyle/>
          <a:p>
            <a:pPr lvl="0">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lang="en-US" sz="1200" b="1" dirty="0">
                <a:solidFill>
                  <a:prstClr val="white"/>
                </a:solidFill>
                <a:latin typeface="Arial" panose="020B0604020202020204" pitchFamily="34" charset="0"/>
                <a:cs typeface="Arial" panose="020B0604020202020204" pitchFamily="34" charset="0"/>
              </a:rPr>
              <a:t>Branch Audit – Report – February 2026</a:t>
            </a:r>
          </a:p>
        </p:txBody>
      </p:sp>
    </p:spTree>
    <p:extLst>
      <p:ext uri="{BB962C8B-B14F-4D97-AF65-F5344CB8AC3E}">
        <p14:creationId xmlns:p14="http://schemas.microsoft.com/office/powerpoint/2010/main" val="37444664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152388" y="211836"/>
            <a:ext cx="1841500" cy="376555"/>
          </a:xfrm>
          <a:custGeom>
            <a:avLst/>
            <a:gdLst/>
            <a:ahLst/>
            <a:cxnLst/>
            <a:rect l="l" t="t" r="r" b="b"/>
            <a:pathLst>
              <a:path w="1841500" h="376555">
                <a:moveTo>
                  <a:pt x="1652777" y="0"/>
                </a:moveTo>
                <a:lnTo>
                  <a:pt x="0" y="0"/>
                </a:lnTo>
                <a:lnTo>
                  <a:pt x="188214" y="188214"/>
                </a:lnTo>
                <a:lnTo>
                  <a:pt x="0" y="376428"/>
                </a:lnTo>
                <a:lnTo>
                  <a:pt x="1652777" y="376428"/>
                </a:lnTo>
                <a:lnTo>
                  <a:pt x="1840992" y="188214"/>
                </a:lnTo>
                <a:lnTo>
                  <a:pt x="1652777" y="0"/>
                </a:lnTo>
                <a:close/>
              </a:path>
            </a:pathLst>
          </a:custGeom>
          <a:solidFill>
            <a:srgbClr val="A6A6A6"/>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4" name="object 4"/>
          <p:cNvSpPr txBox="1"/>
          <p:nvPr/>
        </p:nvSpPr>
        <p:spPr>
          <a:xfrm>
            <a:off x="6433526" y="204486"/>
            <a:ext cx="991235" cy="376555"/>
          </a:xfrm>
          <a:prstGeom prst="rect">
            <a:avLst/>
          </a:prstGeom>
        </p:spPr>
        <p:txBody>
          <a:bodyPr vert="horz" wrap="square" lIns="0" tIns="12700" rIns="0" bIns="0" rtlCol="0">
            <a:spAutoFit/>
          </a:bodyPr>
          <a:lstStyle/>
          <a:p>
            <a:pPr marL="12700" marR="5080" lvl="0" indent="0" defTabSz="914400" eaLnBrk="1" fontAlgn="auto" latinLnBrk="0" hangingPunct="1">
              <a:lnSpc>
                <a:spcPct val="100000"/>
              </a:lnSpc>
              <a:spcBef>
                <a:spcPts val="100"/>
              </a:spcBef>
              <a:spcAft>
                <a:spcPts val="0"/>
              </a:spcAft>
              <a:buClrTx/>
              <a:buSzTx/>
              <a:buFontTx/>
              <a:buNone/>
              <a:tabLst/>
              <a:defRPr/>
            </a:pPr>
            <a:r>
              <a:rPr kumimoji="0" sz="1150" b="1" i="0" u="none" strike="noStrike" kern="0" cap="none" spc="0" normalizeH="0" baseline="0" noProof="0" dirty="0">
                <a:ln>
                  <a:noFill/>
                </a:ln>
                <a:solidFill>
                  <a:sysClr val="windowText" lastClr="000000"/>
                </a:solidFill>
                <a:effectLst/>
                <a:uLnTx/>
                <a:uFillTx/>
                <a:latin typeface="Arial"/>
                <a:cs typeface="Arial"/>
              </a:rPr>
              <a:t>Report</a:t>
            </a:r>
            <a:r>
              <a:rPr kumimoji="0" sz="1150" b="1" i="0" u="none" strike="noStrike" kern="0" cap="none" spc="-25" normalizeH="0" baseline="0" noProof="0" dirty="0">
                <a:ln>
                  <a:noFill/>
                </a:ln>
                <a:solidFill>
                  <a:sysClr val="windowText" lastClr="000000"/>
                </a:solidFill>
                <a:effectLst/>
                <a:uLnTx/>
                <a:uFillTx/>
                <a:latin typeface="Arial"/>
                <a:cs typeface="Arial"/>
              </a:rPr>
              <a:t> </a:t>
            </a:r>
            <a:r>
              <a:rPr kumimoji="0" sz="1150" b="1" i="0" u="none" strike="noStrike" kern="0" cap="none" spc="-10" normalizeH="0" baseline="0" noProof="0" dirty="0">
                <a:ln>
                  <a:noFill/>
                </a:ln>
                <a:solidFill>
                  <a:sysClr val="windowText" lastClr="000000"/>
                </a:solidFill>
                <a:effectLst/>
                <a:uLnTx/>
                <a:uFillTx/>
                <a:latin typeface="Arial"/>
                <a:cs typeface="Arial"/>
              </a:rPr>
              <a:t>Rating Definitions</a:t>
            </a:r>
            <a:endParaRPr kumimoji="0" sz="1150" b="0" i="0" u="none" strike="noStrike" kern="0" cap="none" spc="0" normalizeH="0" baseline="0" noProof="0" dirty="0">
              <a:ln>
                <a:noFill/>
              </a:ln>
              <a:solidFill>
                <a:sysClr val="windowText" lastClr="000000"/>
              </a:solidFill>
              <a:effectLst/>
              <a:uLnTx/>
              <a:uFillTx/>
              <a:latin typeface="Arial"/>
              <a:cs typeface="Arial"/>
            </a:endParaRPr>
          </a:p>
        </p:txBody>
      </p:sp>
      <p:sp>
        <p:nvSpPr>
          <p:cNvPr id="5" name="object 5"/>
          <p:cNvSpPr/>
          <p:nvPr/>
        </p:nvSpPr>
        <p:spPr>
          <a:xfrm>
            <a:off x="8486392" y="206502"/>
            <a:ext cx="329565" cy="334010"/>
          </a:xfrm>
          <a:custGeom>
            <a:avLst/>
            <a:gdLst/>
            <a:ahLst/>
            <a:cxnLst/>
            <a:rect l="l" t="t" r="r" b="b"/>
            <a:pathLst>
              <a:path w="329565" h="334009">
                <a:moveTo>
                  <a:pt x="0" y="166877"/>
                </a:moveTo>
                <a:lnTo>
                  <a:pt x="5879" y="122515"/>
                </a:lnTo>
                <a:lnTo>
                  <a:pt x="22470" y="82651"/>
                </a:lnTo>
                <a:lnTo>
                  <a:pt x="48206" y="48877"/>
                </a:lnTo>
                <a:lnTo>
                  <a:pt x="81517" y="22783"/>
                </a:lnTo>
                <a:lnTo>
                  <a:pt x="120835" y="5961"/>
                </a:lnTo>
                <a:lnTo>
                  <a:pt x="164592" y="0"/>
                </a:lnTo>
                <a:lnTo>
                  <a:pt x="208348" y="5961"/>
                </a:lnTo>
                <a:lnTo>
                  <a:pt x="247666" y="22783"/>
                </a:lnTo>
                <a:lnTo>
                  <a:pt x="280977" y="48877"/>
                </a:lnTo>
                <a:lnTo>
                  <a:pt x="306713" y="82651"/>
                </a:lnTo>
                <a:lnTo>
                  <a:pt x="323304" y="122515"/>
                </a:lnTo>
                <a:lnTo>
                  <a:pt x="329184" y="166877"/>
                </a:lnTo>
                <a:lnTo>
                  <a:pt x="323304" y="211240"/>
                </a:lnTo>
                <a:lnTo>
                  <a:pt x="306713" y="251104"/>
                </a:lnTo>
                <a:lnTo>
                  <a:pt x="280977" y="284878"/>
                </a:lnTo>
                <a:lnTo>
                  <a:pt x="247666" y="310972"/>
                </a:lnTo>
                <a:lnTo>
                  <a:pt x="208348" y="327794"/>
                </a:lnTo>
                <a:lnTo>
                  <a:pt x="164592" y="333755"/>
                </a:lnTo>
                <a:lnTo>
                  <a:pt x="120835" y="327794"/>
                </a:lnTo>
                <a:lnTo>
                  <a:pt x="81517" y="310972"/>
                </a:lnTo>
                <a:lnTo>
                  <a:pt x="48206" y="284878"/>
                </a:lnTo>
                <a:lnTo>
                  <a:pt x="22470" y="251104"/>
                </a:lnTo>
                <a:lnTo>
                  <a:pt x="5879" y="211240"/>
                </a:lnTo>
                <a:lnTo>
                  <a:pt x="0" y="166877"/>
                </a:lnTo>
                <a:close/>
              </a:path>
            </a:pathLst>
          </a:custGeom>
          <a:ln w="25400">
            <a:solidFill>
              <a:srgbClr val="0071CE"/>
            </a:solidFill>
          </a:ln>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sp>
        <p:nvSpPr>
          <p:cNvPr id="6" name="object 6"/>
          <p:cNvSpPr txBox="1"/>
          <p:nvPr/>
        </p:nvSpPr>
        <p:spPr>
          <a:xfrm>
            <a:off x="8573506" y="217271"/>
            <a:ext cx="153035" cy="299720"/>
          </a:xfrm>
          <a:prstGeom prst="rect">
            <a:avLst/>
          </a:prstGeom>
        </p:spPr>
        <p:txBody>
          <a:bodyPr vert="horz" wrap="square" lIns="0" tIns="12700" rIns="0" bIns="0" rtlCol="0">
            <a:sp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lang="en-US" b="1" kern="0" dirty="0">
                <a:solidFill>
                  <a:sysClr val="windowText" lastClr="000000"/>
                </a:solidFill>
                <a:latin typeface="Arial"/>
                <a:cs typeface="Arial"/>
              </a:rPr>
              <a:t>4</a:t>
            </a:r>
            <a:endParaRPr kumimoji="0" sz="1800" b="0" i="0" strike="noStrike" kern="0" cap="none" spc="0" normalizeH="0" baseline="0" noProof="0" dirty="0">
              <a:ln>
                <a:noFill/>
              </a:ln>
              <a:solidFill>
                <a:sysClr val="windowText" lastClr="000000"/>
              </a:solidFill>
              <a:effectLst/>
              <a:uLnTx/>
              <a:uFillTx/>
              <a:latin typeface="Arial"/>
              <a:cs typeface="Arial"/>
            </a:endParaRPr>
          </a:p>
        </p:txBody>
      </p:sp>
      <p:sp>
        <p:nvSpPr>
          <p:cNvPr id="7" name="object 7"/>
          <p:cNvSpPr/>
          <p:nvPr/>
        </p:nvSpPr>
        <p:spPr>
          <a:xfrm>
            <a:off x="8444483" y="170687"/>
            <a:ext cx="410209" cy="416559"/>
          </a:xfrm>
          <a:custGeom>
            <a:avLst/>
            <a:gdLst/>
            <a:ahLst/>
            <a:cxnLst/>
            <a:rect l="l" t="t" r="r" b="b"/>
            <a:pathLst>
              <a:path w="410209" h="416559">
                <a:moveTo>
                  <a:pt x="204978" y="0"/>
                </a:moveTo>
                <a:lnTo>
                  <a:pt x="157977" y="5494"/>
                </a:lnTo>
                <a:lnTo>
                  <a:pt x="114833" y="21144"/>
                </a:lnTo>
                <a:lnTo>
                  <a:pt x="76774" y="45702"/>
                </a:lnTo>
                <a:lnTo>
                  <a:pt x="45030" y="77918"/>
                </a:lnTo>
                <a:lnTo>
                  <a:pt x="20833" y="116543"/>
                </a:lnTo>
                <a:lnTo>
                  <a:pt x="5413" y="160329"/>
                </a:lnTo>
                <a:lnTo>
                  <a:pt x="0" y="208026"/>
                </a:lnTo>
                <a:lnTo>
                  <a:pt x="5413" y="255722"/>
                </a:lnTo>
                <a:lnTo>
                  <a:pt x="20833" y="299508"/>
                </a:lnTo>
                <a:lnTo>
                  <a:pt x="45030" y="338133"/>
                </a:lnTo>
                <a:lnTo>
                  <a:pt x="76774" y="370349"/>
                </a:lnTo>
                <a:lnTo>
                  <a:pt x="114833" y="394907"/>
                </a:lnTo>
                <a:lnTo>
                  <a:pt x="157977" y="410557"/>
                </a:lnTo>
                <a:lnTo>
                  <a:pt x="204978" y="416052"/>
                </a:lnTo>
                <a:lnTo>
                  <a:pt x="251978" y="410557"/>
                </a:lnTo>
                <a:lnTo>
                  <a:pt x="295122" y="394907"/>
                </a:lnTo>
                <a:lnTo>
                  <a:pt x="333181" y="370349"/>
                </a:lnTo>
                <a:lnTo>
                  <a:pt x="333899" y="369620"/>
                </a:lnTo>
                <a:lnTo>
                  <a:pt x="204978" y="369620"/>
                </a:lnTo>
                <a:lnTo>
                  <a:pt x="154863" y="361382"/>
                </a:lnTo>
                <a:lnTo>
                  <a:pt x="111340" y="338441"/>
                </a:lnTo>
                <a:lnTo>
                  <a:pt x="77020" y="303460"/>
                </a:lnTo>
                <a:lnTo>
                  <a:pt x="54513" y="259101"/>
                </a:lnTo>
                <a:lnTo>
                  <a:pt x="46431" y="208026"/>
                </a:lnTo>
                <a:lnTo>
                  <a:pt x="54513" y="156950"/>
                </a:lnTo>
                <a:lnTo>
                  <a:pt x="77020" y="112591"/>
                </a:lnTo>
                <a:lnTo>
                  <a:pt x="111340" y="77610"/>
                </a:lnTo>
                <a:lnTo>
                  <a:pt x="154863" y="54669"/>
                </a:lnTo>
                <a:lnTo>
                  <a:pt x="204978" y="46431"/>
                </a:lnTo>
                <a:lnTo>
                  <a:pt x="333899" y="46431"/>
                </a:lnTo>
                <a:lnTo>
                  <a:pt x="333181" y="45702"/>
                </a:lnTo>
                <a:lnTo>
                  <a:pt x="295122" y="21144"/>
                </a:lnTo>
                <a:lnTo>
                  <a:pt x="251978" y="5494"/>
                </a:lnTo>
                <a:lnTo>
                  <a:pt x="204978" y="0"/>
                </a:lnTo>
                <a:close/>
              </a:path>
              <a:path w="410209" h="416559">
                <a:moveTo>
                  <a:pt x="333899" y="46431"/>
                </a:moveTo>
                <a:lnTo>
                  <a:pt x="204978" y="46431"/>
                </a:lnTo>
                <a:lnTo>
                  <a:pt x="255092" y="54669"/>
                </a:lnTo>
                <a:lnTo>
                  <a:pt x="298615" y="77610"/>
                </a:lnTo>
                <a:lnTo>
                  <a:pt x="332935" y="112591"/>
                </a:lnTo>
                <a:lnTo>
                  <a:pt x="355442" y="156950"/>
                </a:lnTo>
                <a:lnTo>
                  <a:pt x="363524" y="208026"/>
                </a:lnTo>
                <a:lnTo>
                  <a:pt x="355442" y="259101"/>
                </a:lnTo>
                <a:lnTo>
                  <a:pt x="332935" y="303460"/>
                </a:lnTo>
                <a:lnTo>
                  <a:pt x="298615" y="338441"/>
                </a:lnTo>
                <a:lnTo>
                  <a:pt x="255092" y="361382"/>
                </a:lnTo>
                <a:lnTo>
                  <a:pt x="204978" y="369620"/>
                </a:lnTo>
                <a:lnTo>
                  <a:pt x="333899" y="369620"/>
                </a:lnTo>
                <a:lnTo>
                  <a:pt x="364925" y="338133"/>
                </a:lnTo>
                <a:lnTo>
                  <a:pt x="389122" y="299508"/>
                </a:lnTo>
                <a:lnTo>
                  <a:pt x="404542" y="255722"/>
                </a:lnTo>
                <a:lnTo>
                  <a:pt x="409956" y="208026"/>
                </a:lnTo>
                <a:lnTo>
                  <a:pt x="404542" y="160329"/>
                </a:lnTo>
                <a:lnTo>
                  <a:pt x="389122" y="116543"/>
                </a:lnTo>
                <a:lnTo>
                  <a:pt x="364925" y="77918"/>
                </a:lnTo>
                <a:lnTo>
                  <a:pt x="333899" y="46431"/>
                </a:lnTo>
                <a:close/>
              </a:path>
            </a:pathLst>
          </a:custGeom>
          <a:solidFill>
            <a:srgbClr val="0071CE"/>
          </a:solidFill>
        </p:spPr>
        <p:txBody>
          <a:bodyPr wrap="square" lIns="0" tIns="0" rIns="0" bIns="0" rtlCol="0"/>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ysClr val="windowText" lastClr="000000"/>
              </a:solidFill>
              <a:effectLst/>
              <a:uLnTx/>
              <a:uFillTx/>
            </a:endParaRPr>
          </a:p>
        </p:txBody>
      </p:sp>
      <p:graphicFrame>
        <p:nvGraphicFramePr>
          <p:cNvPr id="8" name="object 8"/>
          <p:cNvGraphicFramePr>
            <a:graphicFrameLocks noGrp="1"/>
          </p:cNvGraphicFramePr>
          <p:nvPr>
            <p:extLst>
              <p:ext uri="{D42A27DB-BD31-4B8C-83A1-F6EECF244321}">
                <p14:modId xmlns:p14="http://schemas.microsoft.com/office/powerpoint/2010/main" val="2482209106"/>
              </p:ext>
            </p:extLst>
          </p:nvPr>
        </p:nvGraphicFramePr>
        <p:xfrm>
          <a:off x="350735" y="1289776"/>
          <a:ext cx="4506728" cy="2139224"/>
        </p:xfrm>
        <a:graphic>
          <a:graphicData uri="http://schemas.openxmlformats.org/drawingml/2006/table">
            <a:tbl>
              <a:tblPr firstRow="1" bandRow="1">
                <a:tableStyleId>{2D5ABB26-0587-4C30-8999-92F81FD0307C}</a:tableStyleId>
              </a:tblPr>
              <a:tblGrid>
                <a:gridCol w="788821">
                  <a:extLst>
                    <a:ext uri="{9D8B030D-6E8A-4147-A177-3AD203B41FA5}">
                      <a16:colId xmlns:a16="http://schemas.microsoft.com/office/drawing/2014/main" val="20000"/>
                    </a:ext>
                  </a:extLst>
                </a:gridCol>
                <a:gridCol w="788821">
                  <a:extLst>
                    <a:ext uri="{9D8B030D-6E8A-4147-A177-3AD203B41FA5}">
                      <a16:colId xmlns:a16="http://schemas.microsoft.com/office/drawing/2014/main" val="3594251338"/>
                    </a:ext>
                  </a:extLst>
                </a:gridCol>
                <a:gridCol w="1146164">
                  <a:extLst>
                    <a:ext uri="{9D8B030D-6E8A-4147-A177-3AD203B41FA5}">
                      <a16:colId xmlns:a16="http://schemas.microsoft.com/office/drawing/2014/main" val="1535049905"/>
                    </a:ext>
                  </a:extLst>
                </a:gridCol>
                <a:gridCol w="1782922">
                  <a:extLst>
                    <a:ext uri="{9D8B030D-6E8A-4147-A177-3AD203B41FA5}">
                      <a16:colId xmlns:a16="http://schemas.microsoft.com/office/drawing/2014/main" val="20002"/>
                    </a:ext>
                  </a:extLst>
                </a:gridCol>
              </a:tblGrid>
              <a:tr h="387638">
                <a:tc>
                  <a:txBody>
                    <a:bodyPr/>
                    <a:lstStyle/>
                    <a:p>
                      <a:pPr algn="ctr">
                        <a:lnSpc>
                          <a:spcPct val="100000"/>
                        </a:lnSpc>
                        <a:spcBef>
                          <a:spcPts val="320"/>
                        </a:spcBef>
                      </a:pPr>
                      <a:endParaRPr sz="1200" dirty="0">
                        <a:latin typeface="Arial"/>
                        <a:cs typeface="Arial"/>
                      </a:endParaRPr>
                    </a:p>
                  </a:txBody>
                  <a:tcPr marL="0" marR="0" marT="406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320"/>
                        </a:spcBef>
                        <a:spcAft>
                          <a:spcPts val="0"/>
                        </a:spcAft>
                        <a:buClrTx/>
                        <a:buSzTx/>
                        <a:buFontTx/>
                        <a:buNone/>
                        <a:tabLst/>
                        <a:defRPr/>
                      </a:pPr>
                      <a:r>
                        <a:rPr lang="en-US" sz="1200" b="1" spc="-10" dirty="0">
                          <a:latin typeface="Arial"/>
                          <a:cs typeface="Arial"/>
                        </a:rPr>
                        <a:t>Rating</a:t>
                      </a:r>
                      <a:endParaRPr lang="en-US" sz="1200" dirty="0">
                        <a:latin typeface="Arial"/>
                        <a:cs typeface="Arial"/>
                      </a:endParaRPr>
                    </a:p>
                  </a:txBody>
                  <a:tcPr marL="0" marR="0" marT="406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320"/>
                        </a:spcBef>
                      </a:pPr>
                      <a:r>
                        <a:rPr lang="en-US" sz="1200" b="1" dirty="0">
                          <a:latin typeface="Arial"/>
                          <a:cs typeface="Arial"/>
                        </a:rPr>
                        <a:t>Score Range</a:t>
                      </a:r>
                      <a:endParaRPr sz="1200" b="1" dirty="0">
                        <a:latin typeface="Arial"/>
                        <a:cs typeface="Arial"/>
                      </a:endParaRPr>
                    </a:p>
                  </a:txBody>
                  <a:tcPr marL="0" marR="0" marT="406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lnSpc>
                          <a:spcPct val="100000"/>
                        </a:lnSpc>
                        <a:spcBef>
                          <a:spcPts val="320"/>
                        </a:spcBef>
                      </a:pPr>
                      <a:r>
                        <a:rPr sz="1200" b="1" dirty="0">
                          <a:latin typeface="Arial"/>
                          <a:cs typeface="Arial"/>
                        </a:rPr>
                        <a:t>Subject</a:t>
                      </a:r>
                      <a:r>
                        <a:rPr sz="1200" b="1" spc="5" dirty="0">
                          <a:latin typeface="Arial"/>
                          <a:cs typeface="Arial"/>
                        </a:rPr>
                        <a:t> </a:t>
                      </a:r>
                      <a:r>
                        <a:rPr sz="1200" b="1" dirty="0">
                          <a:latin typeface="Arial"/>
                          <a:cs typeface="Arial"/>
                        </a:rPr>
                        <a:t>to </a:t>
                      </a:r>
                      <a:r>
                        <a:rPr sz="1200" b="1" spc="-10" dirty="0">
                          <a:latin typeface="Arial"/>
                          <a:cs typeface="Arial"/>
                        </a:rPr>
                        <a:t>Re-Audit?</a:t>
                      </a:r>
                      <a:endParaRPr sz="1200" dirty="0">
                        <a:latin typeface="Arial"/>
                        <a:cs typeface="Arial"/>
                      </a:endParaRPr>
                    </a:p>
                  </a:txBody>
                  <a:tcPr marL="0" marR="0" marT="4064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10254">
                <a:tc>
                  <a:txBody>
                    <a:bodyPr/>
                    <a:lstStyle/>
                    <a:p>
                      <a:pPr algn="ctr">
                        <a:lnSpc>
                          <a:spcPct val="100000"/>
                        </a:lnSpc>
                      </a:pPr>
                      <a:endParaRPr sz="900" b="0"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Arial"/>
                          <a:cs typeface="Arial"/>
                        </a:rPr>
                        <a:t>Exceeds Expectations</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2720" marR="165100" indent="0" algn="ctr">
                        <a:lnSpc>
                          <a:spcPct val="100000"/>
                        </a:lnSpc>
                        <a:buNone/>
                        <a:tabLst>
                          <a:tab pos="345440" algn="l"/>
                        </a:tabLst>
                      </a:pPr>
                      <a:r>
                        <a:rPr lang="en-US" sz="900" b="1" dirty="0">
                          <a:solidFill>
                            <a:schemeClr val="tx1"/>
                          </a:solidFill>
                          <a:latin typeface="Arial"/>
                          <a:ea typeface="+mn-ea"/>
                          <a:cs typeface="Arial"/>
                        </a:rPr>
                        <a:t>90%-100%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sz="900" b="1" spc="-25" dirty="0">
                          <a:latin typeface="Arial"/>
                          <a:cs typeface="Arial"/>
                        </a:rPr>
                        <a:t>No</a:t>
                      </a:r>
                      <a:endParaRPr sz="900" dirty="0">
                        <a:latin typeface="Arial"/>
                        <a:cs typeface="Arial"/>
                      </a:endParaRPr>
                    </a:p>
                  </a:txBody>
                  <a:tcPr marL="0" marR="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12700" cap="flat" cmpd="sng" algn="ctr">
                      <a:solidFill>
                        <a:srgbClr val="002060"/>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434968">
                <a:tc>
                  <a:txBody>
                    <a:bodyPr/>
                    <a:lstStyle/>
                    <a:p>
                      <a:pPr marL="3810" algn="ctr">
                        <a:lnSpc>
                          <a:spcPct val="100000"/>
                        </a:lnSpc>
                      </a:pPr>
                      <a:endParaRPr sz="900" b="0"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3810" marR="0" lvl="0" indent="0" algn="ctr" defTabSz="914400" eaLnBrk="1" fontAlgn="auto" latinLnBrk="0" hangingPunct="1">
                        <a:lnSpc>
                          <a:spcPct val="100000"/>
                        </a:lnSpc>
                        <a:spcBef>
                          <a:spcPts val="0"/>
                        </a:spcBef>
                        <a:spcAft>
                          <a:spcPts val="0"/>
                        </a:spcAft>
                        <a:buClrTx/>
                        <a:buSzTx/>
                        <a:buFontTx/>
                        <a:buNone/>
                        <a:tabLst/>
                        <a:defRPr/>
                      </a:pPr>
                      <a:r>
                        <a:rPr lang="en-US" sz="900" b="1" spc="-10" dirty="0">
                          <a:solidFill>
                            <a:schemeClr val="tx1"/>
                          </a:solidFill>
                          <a:latin typeface="Arial"/>
                          <a:cs typeface="Arial"/>
                        </a:rPr>
                        <a:t>Satisfactory</a:t>
                      </a:r>
                      <a:endParaRPr lang="en-US" sz="900" b="1"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2720" marR="165100" indent="0" algn="ctr">
                        <a:lnSpc>
                          <a:spcPct val="100000"/>
                        </a:lnSpc>
                        <a:buNone/>
                        <a:tabLst>
                          <a:tab pos="345440" algn="l"/>
                        </a:tabLst>
                      </a:pPr>
                      <a:r>
                        <a:rPr lang="en-US" sz="900" b="1" dirty="0">
                          <a:solidFill>
                            <a:schemeClr val="tx1"/>
                          </a:solidFill>
                          <a:latin typeface="Arial"/>
                          <a:ea typeface="+mn-ea"/>
                          <a:cs typeface="Arial"/>
                        </a:rPr>
                        <a:t>80% - 89%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900" b="1" spc="-25" dirty="0">
                          <a:latin typeface="Arial"/>
                          <a:cs typeface="Arial"/>
                        </a:rPr>
                        <a:t>No</a:t>
                      </a:r>
                      <a:endParaRPr sz="900" dirty="0">
                        <a:latin typeface="Arial"/>
                        <a:cs typeface="Arial"/>
                      </a:endParaRPr>
                    </a:p>
                  </a:txBody>
                  <a:tcPr marL="0" marR="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44666671"/>
                  </a:ext>
                </a:extLst>
              </a:tr>
              <a:tr h="453387">
                <a:tc>
                  <a:txBody>
                    <a:bodyPr/>
                    <a:lstStyle/>
                    <a:p>
                      <a:pPr algn="ctr">
                        <a:lnSpc>
                          <a:spcPct val="100000"/>
                        </a:lnSpc>
                      </a:pPr>
                      <a:endParaRPr sz="900" b="0"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900" b="1" dirty="0">
                          <a:solidFill>
                            <a:schemeClr val="tx1"/>
                          </a:solidFill>
                          <a:latin typeface="Arial"/>
                          <a:cs typeface="Arial"/>
                        </a:rPr>
                        <a:t>Needs</a:t>
                      </a:r>
                      <a:r>
                        <a:rPr lang="en-US" sz="900" b="1" spc="-55" dirty="0">
                          <a:solidFill>
                            <a:schemeClr val="tx1"/>
                          </a:solidFill>
                          <a:latin typeface="Arial"/>
                          <a:cs typeface="Arial"/>
                        </a:rPr>
                        <a:t> </a:t>
                      </a:r>
                      <a:r>
                        <a:rPr lang="en-US" sz="900" b="1" spc="-10" dirty="0">
                          <a:solidFill>
                            <a:schemeClr val="tx1"/>
                          </a:solidFill>
                          <a:latin typeface="Arial"/>
                          <a:cs typeface="Arial"/>
                        </a:rPr>
                        <a:t>Improvement</a:t>
                      </a:r>
                      <a:endParaRPr lang="en-US" sz="900" b="1"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2720" marR="165100" indent="0" algn="ctr">
                        <a:lnSpc>
                          <a:spcPct val="100000"/>
                        </a:lnSpc>
                        <a:buNone/>
                        <a:tabLst>
                          <a:tab pos="345440" algn="l"/>
                        </a:tabLst>
                      </a:pPr>
                      <a:r>
                        <a:rPr lang="en-US" sz="900" b="1" dirty="0">
                          <a:solidFill>
                            <a:schemeClr val="tx1"/>
                          </a:solidFill>
                          <a:latin typeface="Arial"/>
                          <a:ea typeface="+mn-ea"/>
                          <a:cs typeface="Arial"/>
                        </a:rPr>
                        <a:t>61%-79%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pPr>
                      <a:r>
                        <a:rPr lang="en-US" sz="900" b="1" spc="-25" dirty="0">
                          <a:latin typeface="Arial"/>
                          <a:cs typeface="Arial"/>
                        </a:rPr>
                        <a:t>No</a:t>
                      </a:r>
                      <a:endParaRPr sz="900" dirty="0">
                        <a:latin typeface="Arial"/>
                        <a:cs typeface="Arial"/>
                      </a:endParaRPr>
                    </a:p>
                  </a:txBody>
                  <a:tcPr marL="0" marR="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37469046"/>
                  </a:ext>
                </a:extLst>
              </a:tr>
              <a:tr h="452977">
                <a:tc>
                  <a:txBody>
                    <a:bodyPr/>
                    <a:lstStyle/>
                    <a:p>
                      <a:pPr marL="2540" algn="ctr">
                        <a:lnSpc>
                          <a:spcPct val="100000"/>
                        </a:lnSpc>
                        <a:spcBef>
                          <a:spcPts val="740"/>
                        </a:spcBef>
                      </a:pPr>
                      <a:endParaRPr sz="900" b="0"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540" algn="ctr">
                        <a:lnSpc>
                          <a:spcPct val="100000"/>
                        </a:lnSpc>
                        <a:spcBef>
                          <a:spcPts val="740"/>
                        </a:spcBef>
                      </a:pPr>
                      <a:r>
                        <a:rPr lang="en-US" sz="900" b="1" spc="-10" dirty="0">
                          <a:solidFill>
                            <a:schemeClr val="tx1"/>
                          </a:solidFill>
                          <a:latin typeface="Arial"/>
                          <a:cs typeface="Arial"/>
                        </a:rPr>
                        <a:t>Unsatisfactory</a:t>
                      </a:r>
                      <a:endParaRPr sz="900" b="1" dirty="0">
                        <a:solidFill>
                          <a:schemeClr val="tx1"/>
                        </a:solidFill>
                        <a:latin typeface="Arial"/>
                        <a:cs typeface="Aria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2720" marR="165100" indent="0" algn="ctr">
                        <a:lnSpc>
                          <a:spcPct val="100000"/>
                        </a:lnSpc>
                        <a:buNone/>
                        <a:tabLst>
                          <a:tab pos="345440" algn="l"/>
                        </a:tabLst>
                      </a:pPr>
                      <a:r>
                        <a:rPr lang="en-US" sz="900" b="1" dirty="0">
                          <a:solidFill>
                            <a:schemeClr val="tx1"/>
                          </a:solidFill>
                          <a:latin typeface="Arial"/>
                          <a:ea typeface="+mn-ea"/>
                          <a:cs typeface="Arial"/>
                        </a:rPr>
                        <a:t>0% - 60%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lnSpc>
                          <a:spcPct val="100000"/>
                        </a:lnSpc>
                        <a:spcBef>
                          <a:spcPts val="740"/>
                        </a:spcBef>
                      </a:pPr>
                      <a:r>
                        <a:rPr lang="en-US" sz="900" b="1" spc="-25" dirty="0">
                          <a:solidFill>
                            <a:srgbClr val="FF0000"/>
                          </a:solidFill>
                          <a:latin typeface="Arial"/>
                          <a:cs typeface="Arial"/>
                        </a:rPr>
                        <a:t>Yes</a:t>
                      </a:r>
                      <a:endParaRPr sz="900" dirty="0">
                        <a:solidFill>
                          <a:srgbClr val="FF0000"/>
                        </a:solidFill>
                        <a:latin typeface="Arial"/>
                        <a:cs typeface="Arial"/>
                      </a:endParaRPr>
                    </a:p>
                  </a:txBody>
                  <a:tcPr marL="0" marR="0" marT="0" marB="0" anchor="ctr">
                    <a:lnL w="12700"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12700" cap="flat" cmpd="sng" algn="ctr">
                      <a:solidFill>
                        <a:srgbClr val="00206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0631518"/>
                  </a:ext>
                </a:extLst>
              </a:tr>
            </a:tbl>
          </a:graphicData>
        </a:graphic>
      </p:graphicFrame>
      <p:sp>
        <p:nvSpPr>
          <p:cNvPr id="10" name="object 10"/>
          <p:cNvSpPr txBox="1">
            <a:spLocks noGrp="1"/>
          </p:cNvSpPr>
          <p:nvPr>
            <p:ph type="sldNum" sz="quarter" idx="7"/>
          </p:nvPr>
        </p:nvSpPr>
        <p:spPr>
          <a:prstGeom prst="rect">
            <a:avLst/>
          </a:prstGeom>
        </p:spPr>
        <p:txBody>
          <a:bodyPr vert="horz" wrap="square" lIns="0" tIns="3175" rIns="0" bIns="0" rtlCol="0">
            <a:spAutoFit/>
          </a:bodyPr>
          <a:lstStyle/>
          <a:p>
            <a:pPr marL="38100" marR="0" lvl="0" indent="0" defTabSz="91440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0" cap="none" spc="-25" normalizeH="0" baseline="0" noProof="0" dirty="0">
                <a:ln>
                  <a:noFill/>
                </a:ln>
                <a:solidFill>
                  <a:prstClr val="black"/>
                </a:solidFill>
                <a:effectLst/>
                <a:uLnTx/>
                <a:uFillTx/>
                <a:latin typeface="Arial"/>
                <a:cs typeface="Arial"/>
              </a:rPr>
              <a:pPr marL="38100" marR="0" lvl="0" indent="0" defTabSz="914400" eaLnBrk="1" fontAlgn="auto" latinLnBrk="0" hangingPunct="1">
                <a:lnSpc>
                  <a:spcPct val="100000"/>
                </a:lnSpc>
                <a:spcBef>
                  <a:spcPts val="25"/>
                </a:spcBef>
                <a:spcAft>
                  <a:spcPts val="0"/>
                </a:spcAft>
                <a:buClrTx/>
                <a:buSzTx/>
                <a:buFontTx/>
                <a:buNone/>
                <a:tabLst/>
                <a:defRPr/>
              </a:pPr>
              <a:t>14</a:t>
            </a:fld>
            <a:endParaRPr kumimoji="0" sz="800" b="0" i="0" u="none" strike="noStrike" kern="0" cap="none" spc="0" normalizeH="0" baseline="0" noProof="0" dirty="0">
              <a:ln>
                <a:noFill/>
              </a:ln>
              <a:solidFill>
                <a:prstClr val="black"/>
              </a:solidFill>
              <a:effectLst/>
              <a:uLnTx/>
              <a:uFillTx/>
              <a:latin typeface="Arial"/>
              <a:cs typeface="Arial"/>
            </a:endParaRPr>
          </a:p>
        </p:txBody>
      </p:sp>
      <p:graphicFrame>
        <p:nvGraphicFramePr>
          <p:cNvPr id="14" name="Table 13">
            <a:extLst>
              <a:ext uri="{FF2B5EF4-FFF2-40B4-BE49-F238E27FC236}">
                <a16:creationId xmlns:a16="http://schemas.microsoft.com/office/drawing/2014/main" id="{E50D9B44-7652-093E-8A4F-213CD414632C}"/>
              </a:ext>
            </a:extLst>
          </p:cNvPr>
          <p:cNvGraphicFramePr>
            <a:graphicFrameLocks noGrp="1"/>
          </p:cNvGraphicFramePr>
          <p:nvPr>
            <p:extLst>
              <p:ext uri="{D42A27DB-BD31-4B8C-83A1-F6EECF244321}">
                <p14:modId xmlns:p14="http://schemas.microsoft.com/office/powerpoint/2010/main" val="2373638624"/>
              </p:ext>
            </p:extLst>
          </p:nvPr>
        </p:nvGraphicFramePr>
        <p:xfrm>
          <a:off x="6245352" y="654976"/>
          <a:ext cx="2668958" cy="441960"/>
        </p:xfrm>
        <a:graphic>
          <a:graphicData uri="http://schemas.openxmlformats.org/drawingml/2006/table">
            <a:tbl>
              <a:tblPr firstRow="1" bandRow="1">
                <a:tableStyleId>{5C22544A-7EE6-4342-B048-85BDC9FD1C3A}</a:tableStyleId>
              </a:tblPr>
              <a:tblGrid>
                <a:gridCol w="1334479">
                  <a:extLst>
                    <a:ext uri="{9D8B030D-6E8A-4147-A177-3AD203B41FA5}">
                      <a16:colId xmlns:a16="http://schemas.microsoft.com/office/drawing/2014/main" val="4060419991"/>
                    </a:ext>
                  </a:extLst>
                </a:gridCol>
                <a:gridCol w="1334479">
                  <a:extLst>
                    <a:ext uri="{9D8B030D-6E8A-4147-A177-3AD203B41FA5}">
                      <a16:colId xmlns:a16="http://schemas.microsoft.com/office/drawing/2014/main" val="3693041479"/>
                    </a:ext>
                  </a:extLst>
                </a:gridCol>
              </a:tblGrid>
              <a:tr h="155907">
                <a:tc>
                  <a:txBody>
                    <a:bodyPr/>
                    <a:lstStyle/>
                    <a:p>
                      <a:pPr algn="ctr"/>
                      <a:r>
                        <a:rPr lang="en-US" sz="850" dirty="0">
                          <a:latin typeface="+mj-lt"/>
                        </a:rPr>
                        <a:t>Score</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tc>
                  <a:txBody>
                    <a:bodyPr/>
                    <a:lstStyle/>
                    <a:p>
                      <a:pPr algn="ctr"/>
                      <a:r>
                        <a:rPr lang="en-US" sz="850" dirty="0">
                          <a:latin typeface="+mj-lt"/>
                        </a:rPr>
                        <a:t>Rating</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bg1">
                        <a:lumMod val="50000"/>
                      </a:schemeClr>
                    </a:solidFill>
                  </a:tcPr>
                </a:tc>
                <a:extLst>
                  <a:ext uri="{0D108BD9-81ED-4DB2-BD59-A6C34878D82A}">
                    <a16:rowId xmlns:a16="http://schemas.microsoft.com/office/drawing/2014/main" val="258664661"/>
                  </a:ext>
                </a:extLst>
              </a:tr>
              <a:tr h="159822">
                <a:tc>
                  <a:txBody>
                    <a:bodyPr/>
                    <a:lstStyle/>
                    <a:p>
                      <a:pPr algn="ctr"/>
                      <a:r>
                        <a:rPr lang="en-US" sz="850" b="1" dirty="0">
                          <a:solidFill>
                            <a:schemeClr val="tx1"/>
                          </a:solidFill>
                          <a:latin typeface="+mj-lt"/>
                        </a:rPr>
                        <a:t>60%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algn="ctr"/>
                      <a:r>
                        <a:rPr lang="en-US" sz="850" b="1" dirty="0">
                          <a:solidFill>
                            <a:schemeClr val="bg1"/>
                          </a:solidFill>
                          <a:latin typeface="+mj-lt"/>
                        </a:rPr>
                        <a:t>Unsatisfactory</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FF0000"/>
                    </a:solidFill>
                  </a:tcPr>
                </a:tc>
                <a:extLst>
                  <a:ext uri="{0D108BD9-81ED-4DB2-BD59-A6C34878D82A}">
                    <a16:rowId xmlns:a16="http://schemas.microsoft.com/office/drawing/2014/main" val="364985031"/>
                  </a:ext>
                </a:extLst>
              </a:tr>
            </a:tbl>
          </a:graphicData>
        </a:graphic>
      </p:graphicFrame>
      <p:sp>
        <p:nvSpPr>
          <p:cNvPr id="16" name="Isosceles Triangle 15">
            <a:extLst>
              <a:ext uri="{FF2B5EF4-FFF2-40B4-BE49-F238E27FC236}">
                <a16:creationId xmlns:a16="http://schemas.microsoft.com/office/drawing/2014/main" id="{D0C681DE-452A-2F00-CCD6-4E81560530E6}"/>
              </a:ext>
            </a:extLst>
          </p:cNvPr>
          <p:cNvSpPr/>
          <p:nvPr/>
        </p:nvSpPr>
        <p:spPr>
          <a:xfrm rot="5400000">
            <a:off x="4145109" y="2229992"/>
            <a:ext cx="2139224" cy="258792"/>
          </a:xfrm>
          <a:prstGeom prst="triangle">
            <a:avLst>
              <a:gd name="adj" fmla="val 49603"/>
            </a:avLst>
          </a:prstGeom>
          <a:solidFill>
            <a:srgbClr val="00206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18" name="Table 17">
            <a:extLst>
              <a:ext uri="{FF2B5EF4-FFF2-40B4-BE49-F238E27FC236}">
                <a16:creationId xmlns:a16="http://schemas.microsoft.com/office/drawing/2014/main" id="{7E95EB53-DDE6-1E1A-FB71-B10B40F9A23A}"/>
              </a:ext>
            </a:extLst>
          </p:cNvPr>
          <p:cNvGraphicFramePr>
            <a:graphicFrameLocks noGrp="1"/>
          </p:cNvGraphicFramePr>
          <p:nvPr>
            <p:extLst>
              <p:ext uri="{D42A27DB-BD31-4B8C-83A1-F6EECF244321}">
                <p14:modId xmlns:p14="http://schemas.microsoft.com/office/powerpoint/2010/main" val="3105257470"/>
              </p:ext>
            </p:extLst>
          </p:nvPr>
        </p:nvGraphicFramePr>
        <p:xfrm>
          <a:off x="5480602" y="1289776"/>
          <a:ext cx="3433708" cy="2139224"/>
        </p:xfrm>
        <a:graphic>
          <a:graphicData uri="http://schemas.openxmlformats.org/drawingml/2006/table">
            <a:tbl>
              <a:tblPr firstRow="1" bandRow="1">
                <a:tableStyleId>{9D7B26C5-4107-4FEC-AEDC-1716B250A1EF}</a:tableStyleId>
              </a:tblPr>
              <a:tblGrid>
                <a:gridCol w="3433708">
                  <a:extLst>
                    <a:ext uri="{9D8B030D-6E8A-4147-A177-3AD203B41FA5}">
                      <a16:colId xmlns:a16="http://schemas.microsoft.com/office/drawing/2014/main" val="591305866"/>
                    </a:ext>
                  </a:extLst>
                </a:gridCol>
              </a:tblGrid>
              <a:tr h="386347">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b="1" dirty="0">
                          <a:latin typeface="Arial" panose="020B0604020202020204" pitchFamily="34" charset="0"/>
                          <a:cs typeface="Arial" panose="020B0604020202020204" pitchFamily="34" charset="0"/>
                        </a:rPr>
                        <a:t>Next Steps (applicable for all ratings):</a:t>
                      </a:r>
                    </a:p>
                  </a:txBody>
                  <a:tcPr anchor="ctr">
                    <a:lnT w="12700" cap="flat" cmpd="sng" algn="ctr">
                      <a:solidFill>
                        <a:srgbClr val="002060"/>
                      </a:solidFill>
                      <a:prstDash val="solid"/>
                      <a:round/>
                      <a:headEnd type="none" w="med" len="med"/>
                      <a:tailEnd type="none" w="med" len="med"/>
                    </a:lnT>
                    <a:lnB w="12700" cap="flat" cmpd="sng" algn="ctr">
                      <a:solidFill>
                        <a:srgbClr val="002060"/>
                      </a:solidFill>
                      <a:prstDash val="solid"/>
                      <a:round/>
                      <a:headEnd type="none" w="med" len="med"/>
                      <a:tailEnd type="none" w="med" len="med"/>
                    </a:lnB>
                  </a:tcPr>
                </a:tc>
                <a:extLst>
                  <a:ext uri="{0D108BD9-81ED-4DB2-BD59-A6C34878D82A}">
                    <a16:rowId xmlns:a16="http://schemas.microsoft.com/office/drawing/2014/main" val="938878125"/>
                  </a:ext>
                </a:extLst>
              </a:tr>
              <a:tr h="708305">
                <a:tc>
                  <a:txBody>
                    <a:bodyPr/>
                    <a:lstStyle/>
                    <a:p>
                      <a:pPr marL="137160" indent="0">
                        <a:lnSpc>
                          <a:spcPct val="100000"/>
                        </a:lnSpc>
                        <a:spcBef>
                          <a:spcPts val="800"/>
                        </a:spcBef>
                        <a:buNone/>
                        <a:tabLst>
                          <a:tab pos="316230" algn="l"/>
                        </a:tabLst>
                      </a:pPr>
                      <a:r>
                        <a:rPr lang="en-US" sz="900" b="0" dirty="0">
                          <a:latin typeface="Arial" panose="020B0604020202020204" pitchFamily="34" charset="0"/>
                          <a:cs typeface="Arial" panose="020B0604020202020204" pitchFamily="34" charset="0"/>
                        </a:rPr>
                        <a:t>Management will review and verbally confirm acceptance of Action Plan(s). </a:t>
                      </a:r>
                      <a:r>
                        <a:rPr lang="en-US" sz="900" b="0" i="1" dirty="0">
                          <a:latin typeface="Arial" panose="020B0604020202020204" pitchFamily="34" charset="0"/>
                          <a:cs typeface="Arial" panose="020B0604020202020204" pitchFamily="34" charset="0"/>
                        </a:rPr>
                        <a:t>Following acceptance</a:t>
                      </a:r>
                      <a:r>
                        <a:rPr lang="en-US" sz="900" b="0" dirty="0">
                          <a:latin typeface="Arial" panose="020B0604020202020204" pitchFamily="34" charset="0"/>
                          <a:cs typeface="Arial" panose="020B0604020202020204" pitchFamily="34" charset="0"/>
                        </a:rPr>
                        <a:t>, </a:t>
                      </a:r>
                      <a:r>
                        <a:rPr lang="en-US" sz="900" b="0" i="1" dirty="0">
                          <a:latin typeface="Arial" panose="020B0604020202020204" pitchFamily="34" charset="0"/>
                          <a:cs typeface="Arial" panose="020B0604020202020204" pitchFamily="34" charset="0"/>
                        </a:rPr>
                        <a:t>Internal Audit will issue a “MAP” template to the branch to facilitate implementation tracking.</a:t>
                      </a:r>
                    </a:p>
                  </a:txBody>
                  <a:tcPr anchor="ctr">
                    <a:lnT w="12700" cap="flat" cmpd="sng" algn="ctr">
                      <a:solidFill>
                        <a:srgbClr val="002060"/>
                      </a:solidFill>
                      <a:prstDash val="solid"/>
                      <a:round/>
                      <a:headEnd type="none" w="med" len="med"/>
                      <a:tailEnd type="none" w="med" len="med"/>
                    </a:lnT>
                    <a:solidFill>
                      <a:schemeClr val="bg1"/>
                    </a:solidFill>
                  </a:tcPr>
                </a:tc>
                <a:extLst>
                  <a:ext uri="{0D108BD9-81ED-4DB2-BD59-A6C34878D82A}">
                    <a16:rowId xmlns:a16="http://schemas.microsoft.com/office/drawing/2014/main" val="1526602564"/>
                  </a:ext>
                </a:extLst>
              </a:tr>
              <a:tr h="522286">
                <a:tc>
                  <a:txBody>
                    <a:bodyPr/>
                    <a:lstStyle/>
                    <a:p>
                      <a:pPr marL="137160" indent="0">
                        <a:lnSpc>
                          <a:spcPct val="100000"/>
                        </a:lnSpc>
                        <a:spcBef>
                          <a:spcPts val="800"/>
                        </a:spcBef>
                        <a:buNone/>
                        <a:tabLst>
                          <a:tab pos="316230" algn="l"/>
                        </a:tabLst>
                      </a:pPr>
                      <a:r>
                        <a:rPr lang="en-US" sz="900" b="0" dirty="0">
                          <a:latin typeface="Arial" panose="020B0604020202020204" pitchFamily="34" charset="0"/>
                          <a:cs typeface="Arial" panose="020B0604020202020204" pitchFamily="34" charset="0"/>
                        </a:rPr>
                        <a:t>Implement action plans within 60 days.</a:t>
                      </a:r>
                    </a:p>
                  </a:txBody>
                  <a:tcPr anchor="ctr">
                    <a:solidFill>
                      <a:schemeClr val="bg1"/>
                    </a:solidFill>
                  </a:tcPr>
                </a:tc>
                <a:extLst>
                  <a:ext uri="{0D108BD9-81ED-4DB2-BD59-A6C34878D82A}">
                    <a16:rowId xmlns:a16="http://schemas.microsoft.com/office/drawing/2014/main" val="229141357"/>
                  </a:ext>
                </a:extLst>
              </a:tr>
              <a:tr h="522286">
                <a:tc>
                  <a:txBody>
                    <a:bodyPr/>
                    <a:lstStyle/>
                    <a:p>
                      <a:pPr marL="137160" marR="0" lvl="0" indent="0" defTabSz="914400" eaLnBrk="1" fontAlgn="auto" latinLnBrk="0" hangingPunct="1">
                        <a:lnSpc>
                          <a:spcPct val="100000"/>
                        </a:lnSpc>
                        <a:spcBef>
                          <a:spcPts val="800"/>
                        </a:spcBef>
                        <a:spcAft>
                          <a:spcPts val="0"/>
                        </a:spcAft>
                        <a:buClrTx/>
                        <a:buSzTx/>
                        <a:buFontTx/>
                        <a:buNone/>
                        <a:tabLst>
                          <a:tab pos="316230" algn="l"/>
                        </a:tabLst>
                        <a:defRPr/>
                      </a:pPr>
                      <a:r>
                        <a:rPr lang="en-US" sz="900" b="0" dirty="0">
                          <a:latin typeface="Arial" panose="020B0604020202020204" pitchFamily="34" charset="0"/>
                          <a:cs typeface="Arial" panose="020B0604020202020204" pitchFamily="34" charset="0"/>
                        </a:rPr>
                        <a:t>Attest to completion of implementation via sign off within</a:t>
                      </a:r>
                      <a:r>
                        <a:rPr lang="en-US" sz="900" b="0" spc="-25" dirty="0">
                          <a:latin typeface="Arial" panose="020B0604020202020204" pitchFamily="34" charset="0"/>
                          <a:cs typeface="Arial" panose="020B0604020202020204" pitchFamily="34" charset="0"/>
                        </a:rPr>
                        <a:t> the MAP </a:t>
                      </a:r>
                      <a:r>
                        <a:rPr lang="en-US" sz="900" b="0" dirty="0">
                          <a:latin typeface="Arial" panose="020B0604020202020204" pitchFamily="34" charset="0"/>
                          <a:cs typeface="Arial" panose="020B0604020202020204" pitchFamily="34" charset="0"/>
                        </a:rPr>
                        <a:t>template. Return to Internal Audit within 60 days</a:t>
                      </a:r>
                    </a:p>
                  </a:txBody>
                  <a:tcPr anchor="ctr">
                    <a:lnB w="12700" cap="flat" cmpd="sng" algn="ctr">
                      <a:solidFill>
                        <a:srgbClr val="002060"/>
                      </a:solidFill>
                      <a:prstDash val="solid"/>
                      <a:round/>
                      <a:headEnd type="none" w="med" len="med"/>
                      <a:tailEnd type="none" w="med" len="med"/>
                    </a:lnB>
                    <a:solidFill>
                      <a:schemeClr val="bg1">
                        <a:alpha val="20000"/>
                      </a:schemeClr>
                    </a:solidFill>
                  </a:tcPr>
                </a:tc>
                <a:extLst>
                  <a:ext uri="{0D108BD9-81ED-4DB2-BD59-A6C34878D82A}">
                    <a16:rowId xmlns:a16="http://schemas.microsoft.com/office/drawing/2014/main" val="4170768726"/>
                  </a:ext>
                </a:extLst>
              </a:tr>
            </a:tbl>
          </a:graphicData>
        </a:graphic>
      </p:graphicFrame>
      <p:sp>
        <p:nvSpPr>
          <p:cNvPr id="19" name="Arrow: Pentagon 18">
            <a:extLst>
              <a:ext uri="{FF2B5EF4-FFF2-40B4-BE49-F238E27FC236}">
                <a16:creationId xmlns:a16="http://schemas.microsoft.com/office/drawing/2014/main" id="{7EA78A84-DB26-A02D-9735-82ACF1BDF19C}"/>
              </a:ext>
            </a:extLst>
          </p:cNvPr>
          <p:cNvSpPr/>
          <p:nvPr/>
        </p:nvSpPr>
        <p:spPr>
          <a:xfrm>
            <a:off x="498052" y="1772305"/>
            <a:ext cx="583044" cy="293298"/>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Arrow: Pentagon 19">
            <a:extLst>
              <a:ext uri="{FF2B5EF4-FFF2-40B4-BE49-F238E27FC236}">
                <a16:creationId xmlns:a16="http://schemas.microsoft.com/office/drawing/2014/main" id="{53A178A1-9665-CE64-B4F8-DAB3C41BD602}"/>
              </a:ext>
            </a:extLst>
          </p:cNvPr>
          <p:cNvSpPr/>
          <p:nvPr/>
        </p:nvSpPr>
        <p:spPr>
          <a:xfrm>
            <a:off x="498052" y="2212739"/>
            <a:ext cx="583044" cy="293298"/>
          </a:xfrm>
          <a:prstGeom prst="homePlate">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Arrow: Pentagon 20">
            <a:extLst>
              <a:ext uri="{FF2B5EF4-FFF2-40B4-BE49-F238E27FC236}">
                <a16:creationId xmlns:a16="http://schemas.microsoft.com/office/drawing/2014/main" id="{5078F9E7-1154-BAF8-2300-A6C9ACE6C38C}"/>
              </a:ext>
            </a:extLst>
          </p:cNvPr>
          <p:cNvSpPr/>
          <p:nvPr/>
        </p:nvSpPr>
        <p:spPr>
          <a:xfrm>
            <a:off x="498052" y="2653173"/>
            <a:ext cx="583044" cy="293298"/>
          </a:xfrm>
          <a:prstGeom prst="homePlat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Arrow: Pentagon 21">
            <a:extLst>
              <a:ext uri="{FF2B5EF4-FFF2-40B4-BE49-F238E27FC236}">
                <a16:creationId xmlns:a16="http://schemas.microsoft.com/office/drawing/2014/main" id="{43794F11-3CFB-A177-0450-11E3CE0E4CEF}"/>
              </a:ext>
            </a:extLst>
          </p:cNvPr>
          <p:cNvSpPr/>
          <p:nvPr/>
        </p:nvSpPr>
        <p:spPr>
          <a:xfrm>
            <a:off x="498052" y="3041086"/>
            <a:ext cx="583044" cy="293298"/>
          </a:xfrm>
          <a:prstGeom prst="homePlate">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object 6">
            <a:extLst>
              <a:ext uri="{FF2B5EF4-FFF2-40B4-BE49-F238E27FC236}">
                <a16:creationId xmlns:a16="http://schemas.microsoft.com/office/drawing/2014/main" id="{7AF09FCE-97F1-0D46-3B36-CAC77BE3500D}"/>
              </a:ext>
            </a:extLst>
          </p:cNvPr>
          <p:cNvSpPr txBox="1"/>
          <p:nvPr/>
        </p:nvSpPr>
        <p:spPr>
          <a:xfrm>
            <a:off x="434873" y="277180"/>
            <a:ext cx="5865507" cy="197490"/>
          </a:xfrm>
          <a:prstGeom prst="rect">
            <a:avLst/>
          </a:prstGeom>
        </p:spPr>
        <p:txBody>
          <a:bodyPr vert="horz" wrap="square" lIns="0" tIns="12700" rIns="0" bIns="0" rtlCol="0">
            <a:spAutoFit/>
          </a:bodyPr>
          <a:lstStyle/>
          <a:p>
            <a:pPr lvl="0">
              <a:defRPr/>
            </a:pPr>
            <a:r>
              <a:rPr lang="en-US" sz="1200" b="1" dirty="0">
                <a:solidFill>
                  <a:schemeClr val="bg1"/>
                </a:solidFill>
                <a:latin typeface="Arial" panose="020B0604020202020204" pitchFamily="34" charset="0"/>
                <a:cs typeface="Arial" panose="020B0604020202020204" pitchFamily="34" charset="0"/>
              </a:rPr>
              <a:t>3208 BVLS Orange County Central </a:t>
            </a:r>
            <a:r>
              <a:rPr lang="en-US" sz="1200" b="1" dirty="0">
                <a:solidFill>
                  <a:prstClr val="white"/>
                </a:solidFill>
                <a:latin typeface="Arial" panose="020B0604020202020204" pitchFamily="34" charset="0"/>
                <a:cs typeface="Arial" panose="020B0604020202020204" pitchFamily="34" charset="0"/>
              </a:rPr>
              <a:t>Branch Audit – Report – February 2026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0572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2_Office Theme">
  <a:themeElements>
    <a:clrScheme name="BrightView">
      <a:dk1>
        <a:sysClr val="windowText" lastClr="000000"/>
      </a:dk1>
      <a:lt1>
        <a:sysClr val="window" lastClr="FFFFFF"/>
      </a:lt1>
      <a:dk2>
        <a:srgbClr val="0072CE"/>
      </a:dk2>
      <a:lt2>
        <a:srgbClr val="8BC400"/>
      </a:lt2>
      <a:accent1>
        <a:srgbClr val="0072CE"/>
      </a:accent1>
      <a:accent2>
        <a:srgbClr val="8BC400"/>
      </a:accent2>
      <a:accent3>
        <a:srgbClr val="046A38"/>
      </a:accent3>
      <a:accent4>
        <a:srgbClr val="E57200"/>
      </a:accent4>
      <a:accent5>
        <a:srgbClr val="4C12A1"/>
      </a:accent5>
      <a:accent6>
        <a:srgbClr val="63666A"/>
      </a:accent6>
      <a:hlink>
        <a:srgbClr val="0072CE"/>
      </a:hlink>
      <a:folHlink>
        <a:srgbClr val="0072CE"/>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tx2"/>
        </a:solidFill>
        <a:ln w="9525" algn="ctr">
          <a:noFill/>
          <a:miter lim="800000"/>
          <a:headEnd/>
          <a:tailEnd/>
        </a:ln>
        <a:effectLst/>
      </a:spPr>
      <a:bodyPr wrap="none" lIns="91440" rIns="0" anchor="b"/>
      <a:lstStyle>
        <a:defPPr algn="l" eaLnBrk="1" hangingPunct="1">
          <a:lnSpc>
            <a:spcPts val="1200"/>
          </a:lnSpc>
          <a:buClr>
            <a:schemeClr val="tx1"/>
          </a:buClr>
          <a:defRPr sz="700" dirty="0">
            <a:solidFill>
              <a:schemeClr val="bg1"/>
            </a:solidFill>
            <a:ea typeface="Arial"/>
            <a:cs typeface="Arial"/>
          </a:defRPr>
        </a:defPPr>
      </a:lstStyle>
    </a:spDef>
    <a:lnDef>
      <a:spPr>
        <a:ln w="9525" cmpd="sng">
          <a:solidFill>
            <a:schemeClr val="accent6"/>
          </a:solidFill>
          <a:prstDash val="solid"/>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otalTime>33268</TotalTime>
  <Words>5284</Words>
  <Application>Microsoft Office PowerPoint</Application>
  <PresentationFormat>On-screen Show (4:3)</PresentationFormat>
  <Paragraphs>625</Paragraphs>
  <Slides>15</Slides>
  <Notes>9</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15</vt:i4>
      </vt:variant>
    </vt:vector>
  </HeadingPairs>
  <TitlesOfParts>
    <vt:vector size="24" baseType="lpstr">
      <vt:lpstr>Arial</vt:lpstr>
      <vt:lpstr>Arial Bold</vt:lpstr>
      <vt:lpstr>Calibri</vt:lpstr>
      <vt:lpstr>Helvetica Light</vt:lpstr>
      <vt:lpstr>Museo Sans 500</vt:lpstr>
      <vt:lpstr>Wingdings</vt:lpstr>
      <vt:lpstr>22_Office Theme</vt:lpstr>
      <vt:lpstr>Office Theme</vt:lpstr>
      <vt:lpstr>think-cell Slide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Kelli Cannon</dc:creator>
  <cp:lastModifiedBy>Michael Gillen</cp:lastModifiedBy>
  <cp:revision>102</cp:revision>
  <cp:lastPrinted>2024-04-04T17:55:17Z</cp:lastPrinted>
  <dcterms:created xsi:type="dcterms:W3CDTF">2023-10-27T12:53:46Z</dcterms:created>
  <dcterms:modified xsi:type="dcterms:W3CDTF">2026-05-20T15:51:51Z</dcterms:modified>
</cp:coreProperties>
</file>